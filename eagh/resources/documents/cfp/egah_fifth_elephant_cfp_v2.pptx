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ik, Khaja {PEP}" userId="af594e6b-185c-4e25-9752-b7d60b545147" providerId="ADAL" clId="{9FF9BD8E-034D-54D7-95B7-843FED4B39B3}"/>
    <pc:docChg chg="modSld">
      <pc:chgData name="Shaik, Khaja {PEP}" userId="af594e6b-185c-4e25-9752-b7d60b545147" providerId="ADAL" clId="{9FF9BD8E-034D-54D7-95B7-843FED4B39B3}" dt="2026-08-28T16:04:25.742" v="3" actId="14100"/>
      <pc:docMkLst>
        <pc:docMk/>
      </pc:docMkLst>
      <pc:sldChg chg="addSp modSp mod">
        <pc:chgData name="Shaik, Khaja {PEP}" userId="af594e6b-185c-4e25-9752-b7d60b545147" providerId="ADAL" clId="{9FF9BD8E-034D-54D7-95B7-843FED4B39B3}" dt="2026-08-28T16:04:25.742" v="3" actId="14100"/>
        <pc:sldMkLst>
          <pc:docMk/>
          <pc:sldMk cId="1976165195" sldId="256"/>
        </pc:sldMkLst>
        <pc:picChg chg="add mod">
          <ac:chgData name="Shaik, Khaja {PEP}" userId="af594e6b-185c-4e25-9752-b7d60b545147" providerId="ADAL" clId="{9FF9BD8E-034D-54D7-95B7-843FED4B39B3}" dt="2026-08-28T16:04:25.742" v="3" actId="14100"/>
          <ac:picMkLst>
            <pc:docMk/>
            <pc:sldMk cId="1976165195" sldId="256"/>
            <ac:picMk id="10" creationId="{11CD1A53-B343-07B0-8239-C836DC1A52C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0:45–3:15. Establish the distinction; do not survey frameworks. Selection signal: one narrow production problem, not a grand framework claim.</a:t>
            </a:r>
          </a:p>
          <a:p>
            <a:endParaRPr/>
          </a:p>
          <a:p>
            <a:r>
              <a:t>[Sources]</a:t>
            </a:r>
          </a:p>
          <a:p>
            <a:r>
              <a:t>- agentic-systems/eagh/README.md — Context and Problem Statement</a:t>
            </a:r>
          </a:p>
          <a:p>
            <a:r>
              <a:t>- agentic-systems/eagh/src/egah/recovery.py — state-only vs evidence-governed recovery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3:15–5:45. Narrate the actual local PoC. Be explicit that staleness is simulated for demonstration; the preservation and recovery paths are implemented.</a:t>
            </a:r>
          </a:p>
          <a:p>
            <a:endParaRPr/>
          </a:p>
          <a:p>
            <a:r>
              <a:t>[Sources]</a:t>
            </a:r>
          </a:p>
          <a:p>
            <a:r>
              <a:t>- agentic-systems/eagh/src/egah/egah_agent.py — WORKFLOW_STEPS and CHECKPOINT_STEPS</a:t>
            </a:r>
          </a:p>
          <a:p>
            <a:r>
              <a:t>- agentic-systems/eagh/src/egah/recovery.py — egah_recovery(simulate_stale=True)</a:t>
            </a:r>
          </a:p>
          <a:p>
            <a:r>
              <a:t>- agentic-systems/eagh/tests/test_egah.py — crash-at-step-7 tests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5:45–8:15. Define the minimum evidence envelope. Avoid claiming that every tool result deserves one; emphasize consequential boundaries.</a:t>
            </a:r>
          </a:p>
          <a:p>
            <a:endParaRPr/>
          </a:p>
          <a:p>
            <a:r>
              <a:t>[Sources]</a:t>
            </a:r>
          </a:p>
          <a:p>
            <a:r>
              <a:t>- agentic-systems/eagh/src/egah/models.py — EvidenceEnvelope and VerificationRecord</a:t>
            </a:r>
          </a:p>
          <a:p>
            <a:r>
              <a:t>- agentic-systems/eagh/src/egah/evidence_store.py — durable envelope, verification, and resource records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8:15–11:15. Walk the two loops. The useful abstraction is the policy gate and durable evidence record; the rest should be judged by measured reliability benefit.</a:t>
            </a:r>
          </a:p>
          <a:p>
            <a:endParaRPr/>
          </a:p>
          <a:p>
            <a:r>
              <a:t>[Sources]</a:t>
            </a:r>
          </a:p>
          <a:p>
            <a:r>
              <a:t>- agentic-systems/eagh/src/egah/egah_agent.py — checkpoint and verification flow</a:t>
            </a:r>
          </a:p>
          <a:p>
            <a:r>
              <a:t>- agentic-systems/eagh/src/egah/models.py — PolicyDecision</a:t>
            </a:r>
          </a:p>
          <a:p>
            <a:r>
              <a:t>- agentic-systems/eagh/src/egah/recovery.py — recovery plan generation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15:15–18:15. Make the decision contrast explicit: both approaches restore execution; only one evaluates whether prior evidence supports continuation.</a:t>
            </a:r>
          </a:p>
          <a:p>
            <a:endParaRPr/>
          </a:p>
          <a:p>
            <a:r>
              <a:t>[Sources]</a:t>
            </a:r>
          </a:p>
          <a:p>
            <a:r>
              <a:t>- agentic-systems/eagh/src/egah/recovery.py — traditional_recovery and egah_recovery</a:t>
            </a:r>
          </a:p>
          <a:p>
            <a:r>
              <a:t>- agentic-systems/eagh/tests/test_egah.py — TestRecovery and TestCrashAtStep7Scenario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20:00–25:00. Rehearse a deterministic path: reset → crash at 7 → Evidence Inspector → Recovery comparison → EGAH plan → resume. Keep screenshots ready as fallback.</a:t>
            </a:r>
          </a:p>
          <a:p>
            <a:endParaRPr/>
          </a:p>
          <a:p>
            <a:r>
              <a:t>[Sources]</a:t>
            </a:r>
          </a:p>
          <a:p>
            <a:r>
              <a:t>- agentic-systems/eagh/src/egah/app.py — Streamlit demo tabs and controls</a:t>
            </a:r>
          </a:p>
          <a:p>
            <a:r>
              <a:t>- agentic-systems/eagh/README.md — simulated mode and demo behavior</a:t>
            </a:r>
          </a:p>
          <a:p>
            <a:r>
              <a:t>- Local command on 2026-08-28: python3 -m pytest -q — 35 passed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18:15–20:00, then return here after the demo if needed. Close with the audience question and reserve 25:00–30:00 for Q&amp;A.</a:t>
            </a:r>
          </a:p>
          <a:p>
            <a:endParaRPr/>
          </a:p>
          <a:p>
            <a:r>
              <a:t>[Sources]</a:t>
            </a:r>
          </a:p>
          <a:p>
            <a:r>
              <a:t>- agentic-systems/eagh/README.md — central result and key takeaways</a:t>
            </a:r>
          </a:p>
          <a:p>
            <a:r>
              <a:t>- agentic-systems/eagh/src/egah/models.py — evidence and policy boundaries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65F65-17B5-405D-93D4-0ED9173EB2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AF29F6-159D-4DD9-90B8-BF257376E9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A232E-AB8F-4B85-944E-C7CD79F048E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5B672D-AD3A-4B95-9443-5121994E5AC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63B53B-85A9-4F59-87D2-8FE61CAF4A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18E1B-C629-4712-A6E3-4936DA666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F8355-CDF6-4CFC-8846-102EE0B53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9842AB-6FEB-48E5-A460-66C8A43B312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BBA6F-FBB9-4EFB-B0F2-8C61C897B20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9189F-1E4A-4D9F-A11F-2786262779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E993A-C29E-4F83-90BD-A1A3D535D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8AB84-0CFC-4070-9606-A7FC65C611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DE99D-8979-4C90-8AF5-137BEFED4C7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8CEE6-DE87-4331-B295-84ED679B31B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45465-7C56-4AFD-A447-F47BBD1290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9D91A-798F-42F3-A579-A34C617A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65BBE-B3A8-4C80-A632-86A47E23C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56F83-6659-4EF8-BB20-0A271728A61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64480-F197-4FD0-AE6D-1EFF9185265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D4059-3B28-464A-AE38-05C188B05D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26E317-1433-4453-A270-FB66F6E703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91CB3-8889-4483-933D-1FF521071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47CC93-CFE2-4E7B-A920-1D20827BA3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34C8D8-7924-4BB6-88DA-970BDF8AF443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70554-8FB2-4304-9B64-E733327DA43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45BFDB-5877-4ADB-90D1-BB3E6F6DDA90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535186-5A9B-4A59-8CB1-DD7D5B49FC8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D0B345-53CB-4CC4-9AE0-8ACD0FC7F5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792B08-CCCD-4D3A-82EC-3B57F1B1B6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A1293-8C35-41B9-B931-E1D35C2B3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EB2A3-47DD-46A0-9413-29035400E7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F1FDE-A824-4F1D-BCE2-663E759A33B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C06BF4-282D-418A-864C-73B013B9A1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4BB840-1A0A-4FB6-A2FC-45208AC096B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A3E2E-24F9-4DB9-83A9-E9AFA4ADBB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9ADF3-8A86-43BB-93E6-8E2E5B5B61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5ED0F-9137-4680-8B1E-BEA5A76CF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B507-3089-450B-A20A-FA6851E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4F7D1D-7CCD-4B43-B21A-A7C3A270C8B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5122E-9210-4B28-BDD5-0B57F2991A0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54B6DA-4B35-4565-921A-54700C6DA79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172684-9438-4124-AE95-8E2BEB0F5D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90DEA-B04D-4AB8-918F-120C0D4AC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E15EC6-97C6-4F77-A547-2E6978E21F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BA7909-38C4-427E-8948-2734F1EC57B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2082A9-1B74-446D-83E5-6D423EBAD09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0760C-0B50-4DC6-B6D1-7732AF1814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D19F57-9469-4A93-8E06-474AEC4771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6F084-9957-44F2-A1B5-74B699EDE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A87CF1-389F-4870-9636-3B5B7FEEEC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A079-CA3E-4FA1-9C84-443FCC29DCF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7B4D2-B526-4E48-8CFB-0D2E0EA24EC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0F3D08-55FF-4E6F-8557-B8399C421D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EC19C7-F580-4430-9ECB-ADA2EA4A6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AB9404-E724-4DD2-9AB6-3012ADF18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616762-DED2-4F1E-B227-A5EE7C237D1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056852-97A7-4D79-9BD6-23AAA41759F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2A05B-E1A9-4B0F-B26B-460CE24485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350C2A-7A3A-4A53-9650-ABCFAB73D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B4D7A-1633-4236-8BD4-46DCBE6E0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CD11E-25CB-4BEE-A1E7-B2C492AA34A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6F6AC-E3BF-4586-AC4E-FC7B70B0232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51C55-EEBA-4802-9AFD-53376C4F8C0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294BEB-B51A-4807-B67A-63120A6C6974}"/>
              </a:ext>
            </a:extLst>
          </p:cNvPr>
          <p:cNvSpPr>
            <a:spLocks noGrp="1"/>
          </p:cNvSpPr>
          <p:nvPr/>
        </p:nvSpPr>
        <p:spPr>
          <a:xfrm>
            <a:off x="731520" y="1188720"/>
            <a:ext cx="10972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4EEAF-82C3-4FDF-AFAF-1756071ECA49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982661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3800" b="1">
                <a:solidFill>
                  <a:srgbClr val="FFFFFF"/>
                </a:solidFill>
              </a:defRPr>
            </a:pPr>
            <a:r>
              <a:t>Evidence-Governed Agent Harnesses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690F4D-5F84-450E-8B39-66854ADFDD4E}"/>
              </a:ext>
            </a:extLst>
          </p:cNvPr>
          <p:cNvSpPr>
            <a:spLocks noGrp="1"/>
          </p:cNvSpPr>
          <p:nvPr/>
        </p:nvSpPr>
        <p:spPr>
          <a:xfrm>
            <a:off x="1280160" y="2102048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800" b="0">
                <a:solidFill>
                  <a:srgbClr val="2E86C1"/>
                </a:solidFill>
              </a:defRPr>
            </a:pPr>
            <a:r>
              <a:t>Making Evidence Survive Long-Running Agent Execution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6CF9C5-11CB-43B5-B2C8-D0D527CD47AC}"/>
              </a:ext>
            </a:extLst>
          </p:cNvPr>
          <p:cNvSpPr>
            <a:spLocks noGrp="1"/>
          </p:cNvSpPr>
          <p:nvPr/>
        </p:nvSpPr>
        <p:spPr>
          <a:xfrm>
            <a:off x="731519" y="3840480"/>
            <a:ext cx="9465103" cy="625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buNone/>
              <a:defRPr sz="1400" b="0">
                <a:solidFill>
                  <a:srgbClr val="BDC3C7"/>
                </a:solidFill>
              </a:defRPr>
            </a:pPr>
            <a:r>
              <a:t>What should an agent remember after a crash at step 40 of 60?</a:t>
            </a:r>
          </a:p>
          <a:p>
            <a:pPr>
              <a:spcAft>
                <a:spcPts val="840"/>
              </a:spcAft>
              <a:buNone/>
              <a:defRPr sz="1400" b="0">
                <a:solidFill>
                  <a:srgbClr val="BDC3C7"/>
                </a:solidFill>
              </a:defRPr>
            </a:pPr>
            <a:r>
              <a:t>Not just its state — but what it verified, what it accomplished and what it is still allowed to do.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079041-7B5A-4FFC-B8B4-3126947AEF8D}"/>
              </a:ext>
            </a:extLst>
          </p:cNvPr>
          <p:cNvSpPr>
            <a:spLocks noGrp="1"/>
          </p:cNvSpPr>
          <p:nvPr/>
        </p:nvSpPr>
        <p:spPr>
          <a:xfrm>
            <a:off x="731520" y="5303520"/>
            <a:ext cx="76809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t>Khaja Shaik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0042F1-61D4-4F75-92CD-DEE6A141B3F3}"/>
              </a:ext>
            </a:extLst>
          </p:cNvPr>
          <p:cNvSpPr>
            <a:spLocks noGrp="1"/>
          </p:cNvSpPr>
          <p:nvPr/>
        </p:nvSpPr>
        <p:spPr>
          <a:xfrm>
            <a:off x="731520" y="57607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200" b="0">
                <a:solidFill>
                  <a:srgbClr val="7F8C8D"/>
                </a:solidFill>
              </a:defRPr>
            </a:pPr>
            <a:r>
              <a:t>Fifth Elephant Hyderabad  |  2026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4D0FFF-FBEB-4CD5-987E-D0EB633E378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118848" cy="6711696"/>
          </a:xfrm>
          <a:prstGeom prst="rect">
            <a:avLst/>
          </a:prstGeom>
          <a:noFill/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CD1A53-B343-07B0-8239-C836DC1A52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6" y="0"/>
            <a:ext cx="12179284" cy="6865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165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B5615B-89BD-4130-8E82-03B25C8F6E86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56C832-2B2D-46FF-B57C-6F27594083CF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55966C-D533-447B-AE24-D5CA3934B9B2}"/>
              </a:ext>
            </a:extLst>
          </p:cNvPr>
          <p:cNvSpPr>
            <a:spLocks noGrp="1"/>
          </p:cNvSpPr>
          <p:nvPr/>
        </p:nvSpPr>
        <p:spPr>
          <a:xfrm>
            <a:off x="548640" y="27889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The production gap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4E0AC-716E-4B79-9FE6-3216FCDE540B}"/>
              </a:ext>
            </a:extLst>
          </p:cNvPr>
          <p:cNvSpPr>
            <a:spLocks noGrp="1"/>
          </p:cNvSpPr>
          <p:nvPr/>
        </p:nvSpPr>
        <p:spPr>
          <a:xfrm>
            <a:off x="548640" y="10972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Modern harnesses restore execution state. They do not necessarily restore decision-worthy evidence.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285D20-AF73-42A6-B51C-9DEF3E21AF19}"/>
              </a:ext>
            </a:extLst>
          </p:cNvPr>
          <p:cNvSpPr>
            <a:spLocks noGrp="1"/>
          </p:cNvSpPr>
          <p:nvPr/>
        </p:nvSpPr>
        <p:spPr>
          <a:xfrm>
            <a:off x="548640" y="1920240"/>
            <a:ext cx="54864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95B0D41-C2AB-4211-880D-F253F5FA186C}"/>
              </a:ext>
            </a:extLst>
          </p:cNvPr>
          <p:cNvSpPr>
            <a:spLocks noGrp="1"/>
          </p:cNvSpPr>
          <p:nvPr/>
        </p:nvSpPr>
        <p:spPr>
          <a:xfrm>
            <a:off x="603504" y="1920240"/>
            <a:ext cx="7991856" cy="914400"/>
          </a:xfrm>
          <a:prstGeom prst="roundRect">
            <a:avLst>
              <a:gd name="adj" fmla="val 5000"/>
            </a:avLst>
          </a:prstGeom>
          <a:solidFill>
            <a:srgbClr val="D6EAF8"/>
          </a:solidFill>
          <a:ln w="10160">
            <a:solidFill>
              <a:srgbClr val="D6E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400" b="0">
                <a:solidFill>
                  <a:srgbClr val="1B2A4A"/>
                </a:solidFill>
              </a:defRPr>
            </a:pPr>
            <a:r>
              <a:t>A checkpoint answers WHERE to resume. Safe continuation also needs WHAT was known, verified, still fresh, and authorized.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0AC082-EAA9-4176-B0EF-F812B6AAF979}"/>
              </a:ext>
            </a:extLst>
          </p:cNvPr>
          <p:cNvSpPr>
            <a:spLocks noGrp="1"/>
          </p:cNvSpPr>
          <p:nvPr/>
        </p:nvSpPr>
        <p:spPr>
          <a:xfrm>
            <a:off x="548640" y="31089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400" b="1">
                <a:solidFill>
                  <a:srgbClr val="1B2A4A"/>
                </a:solidFill>
              </a:defRPr>
            </a:pPr>
            <a:r>
              <a:t>The distinction matters most in: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9BC6CA4-DD08-4A28-8752-BFEC53457482}"/>
              </a:ext>
            </a:extLst>
          </p:cNvPr>
          <p:cNvSpPr>
            <a:spLocks noGrp="1"/>
          </p:cNvSpPr>
          <p:nvPr/>
        </p:nvSpPr>
        <p:spPr>
          <a:xfrm>
            <a:off x="548640" y="3566160"/>
            <a:ext cx="2560320" cy="201168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LONG-RUNNING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Evidence can expire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before later actions.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5F4184A-B458-4EDC-B98F-96A938AB54FC}"/>
              </a:ext>
            </a:extLst>
          </p:cNvPr>
          <p:cNvSpPr>
            <a:spLocks noGrp="1"/>
          </p:cNvSpPr>
          <p:nvPr/>
        </p:nvSpPr>
        <p:spPr>
          <a:xfrm>
            <a:off x="3291840" y="3566160"/>
            <a:ext cx="2560320" cy="201168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CRASH + RESUME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Execution returns;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evidence context may not.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E0AEDC0-A987-46AC-ABD9-01586469BC69}"/>
              </a:ext>
            </a:extLst>
          </p:cNvPr>
          <p:cNvSpPr>
            <a:spLocks noGrp="1"/>
          </p:cNvSpPr>
          <p:nvPr/>
        </p:nvSpPr>
        <p:spPr>
          <a:xfrm>
            <a:off x="6035040" y="3566160"/>
            <a:ext cx="2560320" cy="201168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CONSEQUENTIAL ACTIONS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Stale inputs can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change the outcome.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8CFAF7-6523-4C21-BFEB-50A977DBB5FB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97BD8A-9A21-4DE7-B2F5-8ADE3151172B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1170972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EDBE89-891C-4F28-9C9E-9C69D38CB079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8A15BB-9243-41DE-B702-A44DEAEB997B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58B220-012C-4EA2-B6C2-93260D54562A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A crash preserves state—not evidence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7F8DE5-FE5D-4B90-A6E5-CB153D062FE6}"/>
              </a:ext>
            </a:extLst>
          </p:cNvPr>
          <p:cNvSpPr>
            <a:spLocks noGrp="1"/>
          </p:cNvSpPr>
          <p:nvPr/>
        </p:nvSpPr>
        <p:spPr>
          <a:xfrm>
            <a:off x="548640" y="5669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Implemented PoC · 10-step document analysis · evidence at steps 3, 6, 9 · crash at step 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3BC719-6E69-4B3D-9EBB-5A3959C255EF}"/>
              </a:ext>
            </a:extLst>
          </p:cNvPr>
          <p:cNvSpPr>
            <a:spLocks noGrp="1"/>
          </p:cNvSpPr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200" b="1">
                <a:solidFill>
                  <a:srgbClr val="1B2A4A"/>
                </a:solidFill>
              </a:defRPr>
            </a:pPr>
            <a:r>
              <a:t>Steps 1–6 complete  →  step 7 crashes  →  recovery must decide what remains usable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D3F1CC-9CB8-4B0D-BBE6-0C31527BE6E5}"/>
              </a:ext>
            </a:extLst>
          </p:cNvPr>
          <p:cNvSpPr>
            <a:spLocks noGrp="1"/>
          </p:cNvSpPr>
          <p:nvPr/>
        </p:nvSpPr>
        <p:spPr>
          <a:xfrm>
            <a:off x="365760" y="1463040"/>
            <a:ext cx="4114800" cy="411480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1677B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1">
                <a:solidFill>
                  <a:srgbClr val="1677B8"/>
                </a:solidFill>
              </a:defRPr>
            </a:pPr>
            <a:r>
              <a:rPr sz="1100" b="1">
                <a:solidFill>
                  <a:srgbClr val="1677B8"/>
                </a:solidFill>
              </a:rPr>
              <a:t>What the trace can restore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46B471-3093-4DDD-8959-3DF253CF281F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Steps completed: 1–6</a:t>
            </a:r>
          </a:p>
          <a:p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Outputs and resource records</a:t>
            </a:r>
          </a:p>
          <a:p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Two evidence envelopes</a:t>
            </a:r>
          </a:p>
          <a:p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Crash location: step 7</a:t>
            </a:r>
          </a:p>
          <a:p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Execution can restart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2DB2853-2E2E-4177-A7F7-142EE427BD93}"/>
              </a:ext>
            </a:extLst>
          </p:cNvPr>
          <p:cNvSpPr>
            <a:spLocks noGrp="1"/>
          </p:cNvSpPr>
          <p:nvPr/>
        </p:nvSpPr>
        <p:spPr>
          <a:xfrm>
            <a:off x="4663440" y="1463040"/>
            <a:ext cx="4114800" cy="411480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1677B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1">
                <a:solidFill>
                  <a:srgbClr val="1677B8"/>
                </a:solidFill>
              </a:defRPr>
            </a:pPr>
            <a:r>
              <a:rPr sz="1100" b="1">
                <a:solidFill>
                  <a:srgbClr val="1677B8"/>
                </a:solidFill>
              </a:rPr>
              <a:t>What recovery must decide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1FE0E-F570-40AD-81C0-347FE4B17C26}"/>
              </a:ext>
            </a:extLst>
          </p:cNvPr>
          <p:cNvSpPr>
            <a:spLocks noGrp="1"/>
          </p:cNvSpPr>
          <p:nvPr/>
        </p:nvSpPr>
        <p:spPr>
          <a:xfrm>
            <a:off x="4846320" y="196596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Is step 3 evidence fresh?</a:t>
            </a:r>
          </a:p>
          <a:p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Is step 6 evidence valid?</a:t>
            </a:r>
          </a:p>
          <a:p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Was each envelope verified?</a:t>
            </a:r>
          </a:p>
          <a:p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Must evidence be refreshed?</a:t>
            </a:r>
          </a:p>
          <a:p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Is continuation authorized?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8005AD3-389C-4DAB-9F25-FB4CAEE38AA0}"/>
              </a:ext>
            </a:extLst>
          </p:cNvPr>
          <p:cNvSpPr>
            <a:spLocks noGrp="1"/>
          </p:cNvSpPr>
          <p:nvPr/>
        </p:nvSpPr>
        <p:spPr>
          <a:xfrm>
            <a:off x="365760" y="3749039"/>
            <a:ext cx="8412480" cy="411480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1677B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1677B8"/>
                </a:solidFill>
              </a:defRPr>
            </a:pPr>
            <a:r>
              <a:rPr sz="1200" b="1">
                <a:solidFill>
                  <a:srgbClr val="1677B8"/>
                </a:solidFill>
              </a:rPr>
              <a:t>Evidence-governed recovery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5E6969A-F802-48EA-AE67-C8FB09A29064}"/>
              </a:ext>
            </a:extLst>
          </p:cNvPr>
          <p:cNvSpPr>
            <a:spLocks noGrp="1"/>
          </p:cNvSpPr>
          <p:nvPr/>
        </p:nvSpPr>
        <p:spPr>
          <a:xfrm>
            <a:off x="548640" y="4251960"/>
            <a:ext cx="2560320" cy="3657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Step 3 — Extract Entities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0716B2E-AC54-41FF-8EBA-EE7F0EAE7078}"/>
              </a:ext>
            </a:extLst>
          </p:cNvPr>
          <p:cNvSpPr>
            <a:spLocks noGrp="1"/>
          </p:cNvSpPr>
          <p:nvPr/>
        </p:nvSpPr>
        <p:spPr>
          <a:xfrm>
            <a:off x="3154680" y="4251960"/>
            <a:ext cx="1188720" cy="365760"/>
          </a:xfrm>
          <a:prstGeom prst="roundRect">
            <a:avLst>
              <a:gd name="adj" fmla="val 5000"/>
            </a:avLst>
          </a:prstGeom>
          <a:solidFill>
            <a:srgbClr val="EEF4FA"/>
          </a:solidFill>
          <a:ln w="9525">
            <a:solidFill>
              <a:srgbClr val="7FAED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677B8"/>
                </a:solidFill>
              </a:defRPr>
            </a:pPr>
            <a:r>
              <a:rPr sz="1000" b="1">
                <a:solidFill>
                  <a:srgbClr val="1677B8"/>
                </a:solidFill>
              </a:rPr>
              <a:t>REFRESH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056716A-2154-40DC-A72D-AB78F1E30A8F}"/>
              </a:ext>
            </a:extLst>
          </p:cNvPr>
          <p:cNvSpPr>
            <a:spLocks noGrp="1"/>
          </p:cNvSpPr>
          <p:nvPr/>
        </p:nvSpPr>
        <p:spPr>
          <a:xfrm>
            <a:off x="4389120" y="4251960"/>
            <a:ext cx="4389120" cy="3657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900" b="0">
                <a:solidFill>
                  <a:srgbClr val="7F8C8D"/>
                </a:solidFill>
              </a:defRPr>
            </a:pPr>
            <a:r>
              <a:t>simulated stale evidence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BC372C1-0140-433C-8A95-A9AD81624884}"/>
              </a:ext>
            </a:extLst>
          </p:cNvPr>
          <p:cNvSpPr>
            <a:spLocks noGrp="1"/>
          </p:cNvSpPr>
          <p:nvPr/>
        </p:nvSpPr>
        <p:spPr>
          <a:xfrm>
            <a:off x="548640" y="4654296"/>
            <a:ext cx="2560320" cy="3657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Step 6 — Assess Risk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6D09DCE-9FBE-4050-8792-68CC5E7FA44D}"/>
              </a:ext>
            </a:extLst>
          </p:cNvPr>
          <p:cNvSpPr>
            <a:spLocks noGrp="1"/>
          </p:cNvSpPr>
          <p:nvPr/>
        </p:nvSpPr>
        <p:spPr>
          <a:xfrm>
            <a:off x="3154680" y="4654296"/>
            <a:ext cx="1188720" cy="365760"/>
          </a:xfrm>
          <a:prstGeom prst="roundRect">
            <a:avLst>
              <a:gd name="adj" fmla="val 5000"/>
            </a:avLst>
          </a:prstGeom>
          <a:solidFill>
            <a:srgbClr val="EEF4FA"/>
          </a:solidFill>
          <a:ln w="9525">
            <a:solidFill>
              <a:srgbClr val="7FAED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677B8"/>
                </a:solidFill>
              </a:defRPr>
            </a:pPr>
            <a:r>
              <a:rPr sz="1000" b="1">
                <a:solidFill>
                  <a:srgbClr val="1677B8"/>
                </a:solidFill>
              </a:rPr>
              <a:t>ACT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24938D3-0DB3-4470-85C0-000300C66031}"/>
              </a:ext>
            </a:extLst>
          </p:cNvPr>
          <p:cNvSpPr>
            <a:spLocks noGrp="1"/>
          </p:cNvSpPr>
          <p:nvPr/>
        </p:nvSpPr>
        <p:spPr>
          <a:xfrm>
            <a:off x="4389120" y="4654296"/>
            <a:ext cx="4389120" cy="3657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900" b="0">
                <a:solidFill>
                  <a:srgbClr val="7F8C8D"/>
                </a:solidFill>
              </a:defRPr>
            </a:pPr>
            <a:r>
              <a:t>fresh and verified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11489FF-323E-42C2-932A-0132A511F618}"/>
              </a:ext>
            </a:extLst>
          </p:cNvPr>
          <p:cNvSpPr>
            <a:spLocks noGrp="1"/>
          </p:cNvSpPr>
          <p:nvPr/>
        </p:nvSpPr>
        <p:spPr>
          <a:xfrm>
            <a:off x="548640" y="5056632"/>
            <a:ext cx="2560320" cy="3657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Step 7 — Generate Findings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AEF5C52-7798-468E-B957-23DB2B69B2AE}"/>
              </a:ext>
            </a:extLst>
          </p:cNvPr>
          <p:cNvSpPr>
            <a:spLocks noGrp="1"/>
          </p:cNvSpPr>
          <p:nvPr/>
        </p:nvSpPr>
        <p:spPr>
          <a:xfrm>
            <a:off x="3154680" y="5056632"/>
            <a:ext cx="1188720" cy="365760"/>
          </a:xfrm>
          <a:prstGeom prst="roundRect">
            <a:avLst>
              <a:gd name="adj" fmla="val 5000"/>
            </a:avLst>
          </a:prstGeom>
          <a:solidFill>
            <a:srgbClr val="EEF4FA"/>
          </a:solidFill>
          <a:ln w="9525">
            <a:solidFill>
              <a:srgbClr val="7FAED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677B8"/>
                </a:solidFill>
              </a:defRPr>
            </a:pPr>
            <a:r>
              <a:rPr sz="1000" b="1">
                <a:solidFill>
                  <a:srgbClr val="1677B8"/>
                </a:solidFill>
              </a:rPr>
              <a:t>WAIT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C084608-6CE2-4BA6-BF24-A37C9158ABAD}"/>
              </a:ext>
            </a:extLst>
          </p:cNvPr>
          <p:cNvSpPr>
            <a:spLocks noGrp="1"/>
          </p:cNvSpPr>
          <p:nvPr/>
        </p:nvSpPr>
        <p:spPr>
          <a:xfrm>
            <a:off x="4389120" y="5056632"/>
            <a:ext cx="4389120" cy="3657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900" b="0">
                <a:solidFill>
                  <a:srgbClr val="7F8C8D"/>
                </a:solidFill>
              </a:defRPr>
            </a:pPr>
            <a:r>
              <a:t>resume only after required refresh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A3F804A-54E9-4646-BCA9-1EE6659E0BFE}"/>
              </a:ext>
            </a:extLst>
          </p:cNvPr>
          <p:cNvSpPr>
            <a:spLocks noGrp="1"/>
          </p:cNvSpPr>
          <p:nvPr/>
        </p:nvSpPr>
        <p:spPr>
          <a:xfrm>
            <a:off x="548640" y="5550408"/>
            <a:ext cx="8046720" cy="365760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t>Decision: refresh stale evidence, then resume from step 7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232EA49-9447-43F0-BD06-66B7CC0AB462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BAE2B8-B763-4174-8EA4-A4B012CBB70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1885124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2EEDC2-4563-4137-AEA8-BECD75FEA5E9}"/>
              </a:ext>
            </a:extLst>
          </p:cNvPr>
          <p:cNvSpPr>
            <a:spLocks noGrp="1"/>
          </p:cNvSpPr>
          <p:nvPr/>
        </p:nvSpPr>
        <p:spPr>
          <a:xfrm>
            <a:off x="73151" y="73152"/>
            <a:ext cx="12045695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698831-B365-4B7A-A24A-7DCE0B42DD5D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CD1E93-264B-4AFB-899C-36278D72E090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Evidence is first-class runtime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1AFBCD-19D8-4C9C-A609-13DF18A3DA00}"/>
              </a:ext>
            </a:extLst>
          </p:cNvPr>
          <p:cNvSpPr>
            <a:spLocks noGrp="1"/>
          </p:cNvSpPr>
          <p:nvPr/>
        </p:nvSpPr>
        <p:spPr>
          <a:xfrm>
            <a:off x="548640" y="5669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An envelope carries the decision context—not just the value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BC9C41-1897-4148-A16E-0460FF66508D}"/>
              </a:ext>
            </a:extLst>
          </p:cNvPr>
          <p:cNvSpPr>
            <a:spLocks noGrp="1"/>
          </p:cNvSpPr>
          <p:nvPr/>
        </p:nvSpPr>
        <p:spPr>
          <a:xfrm>
            <a:off x="548640" y="1097280"/>
            <a:ext cx="292608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Source / Provenance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9B7836F-9C4D-4DDD-B89F-3639E483716C}"/>
              </a:ext>
            </a:extLst>
          </p:cNvPr>
          <p:cNvSpPr>
            <a:spLocks noGrp="1"/>
          </p:cNvSpPr>
          <p:nvPr/>
        </p:nvSpPr>
        <p:spPr>
          <a:xfrm>
            <a:off x="3520440" y="1097280"/>
            <a:ext cx="521208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Where did it originate?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545AF4C-CAD0-4BA1-AB5B-0A0E0F7F2ED9}"/>
              </a:ext>
            </a:extLst>
          </p:cNvPr>
          <p:cNvSpPr>
            <a:spLocks noGrp="1"/>
          </p:cNvSpPr>
          <p:nvPr/>
        </p:nvSpPr>
        <p:spPr>
          <a:xfrm>
            <a:off x="548640" y="1609344"/>
            <a:ext cx="292608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Observed at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72A0C82-A9E0-4CE4-924F-77E85A8D6E54}"/>
              </a:ext>
            </a:extLst>
          </p:cNvPr>
          <p:cNvSpPr>
            <a:spLocks noGrp="1"/>
          </p:cNvSpPr>
          <p:nvPr/>
        </p:nvSpPr>
        <p:spPr>
          <a:xfrm>
            <a:off x="3520440" y="1609344"/>
            <a:ext cx="521208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When was it captured?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E27B25-D286-41B1-8D71-29CBCCEA2D1D}"/>
              </a:ext>
            </a:extLst>
          </p:cNvPr>
          <p:cNvSpPr>
            <a:spLocks noGrp="1"/>
          </p:cNvSpPr>
          <p:nvPr/>
        </p:nvSpPr>
        <p:spPr>
          <a:xfrm>
            <a:off x="548640" y="2121408"/>
            <a:ext cx="292608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Freshness / Validity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F549B60-876F-4129-83A9-007F78A14D87}"/>
              </a:ext>
            </a:extLst>
          </p:cNvPr>
          <p:cNvSpPr>
            <a:spLocks noGrp="1"/>
          </p:cNvSpPr>
          <p:nvPr/>
        </p:nvSpPr>
        <p:spPr>
          <a:xfrm>
            <a:off x="3520440" y="2121408"/>
            <a:ext cx="521208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Is it still applicable?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5C0E510-C5DA-4EF7-A4A5-02B02D89483F}"/>
              </a:ext>
            </a:extLst>
          </p:cNvPr>
          <p:cNvSpPr>
            <a:spLocks noGrp="1"/>
          </p:cNvSpPr>
          <p:nvPr/>
        </p:nvSpPr>
        <p:spPr>
          <a:xfrm>
            <a:off x="548640" y="2633472"/>
            <a:ext cx="292608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Verification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A922898-DEDE-4B67-AF6B-BBA4EA38D5F4}"/>
              </a:ext>
            </a:extLst>
          </p:cNvPr>
          <p:cNvSpPr>
            <a:spLocks noGrp="1"/>
          </p:cNvSpPr>
          <p:nvPr/>
        </p:nvSpPr>
        <p:spPr>
          <a:xfrm>
            <a:off x="3520440" y="2633472"/>
            <a:ext cx="521208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Was it checked, and by whom?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CE44ED2-2083-4B68-93CA-14FE9EEBF7C6}"/>
              </a:ext>
            </a:extLst>
          </p:cNvPr>
          <p:cNvSpPr>
            <a:spLocks noGrp="1"/>
          </p:cNvSpPr>
          <p:nvPr/>
        </p:nvSpPr>
        <p:spPr>
          <a:xfrm>
            <a:off x="548640" y="3145536"/>
            <a:ext cx="292608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Content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7AA80C3-2330-4B04-AFF6-7878C4C8B3D4}"/>
              </a:ext>
            </a:extLst>
          </p:cNvPr>
          <p:cNvSpPr>
            <a:spLocks noGrp="1"/>
          </p:cNvSpPr>
          <p:nvPr/>
        </p:nvSpPr>
        <p:spPr>
          <a:xfrm>
            <a:off x="3520440" y="3145536"/>
            <a:ext cx="521208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What was observed?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C150238-A2DB-4D7F-BAB1-866F28EFD7CC}"/>
              </a:ext>
            </a:extLst>
          </p:cNvPr>
          <p:cNvSpPr>
            <a:spLocks noGrp="1"/>
          </p:cNvSpPr>
          <p:nvPr/>
        </p:nvSpPr>
        <p:spPr>
          <a:xfrm>
            <a:off x="548640" y="3657600"/>
            <a:ext cx="292608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Resource record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3E760A0-1F8E-4142-8629-B7C168DD646A}"/>
              </a:ext>
            </a:extLst>
          </p:cNvPr>
          <p:cNvSpPr>
            <a:spLocks noGrp="1"/>
          </p:cNvSpPr>
          <p:nvPr/>
        </p:nvSpPr>
        <p:spPr>
          <a:xfrm>
            <a:off x="3520440" y="3657600"/>
            <a:ext cx="521208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What did this step cost?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5145591-A8E1-4C31-B667-27A8AA1E5424}"/>
              </a:ext>
            </a:extLst>
          </p:cNvPr>
          <p:cNvSpPr>
            <a:spLocks noGrp="1"/>
          </p:cNvSpPr>
          <p:nvPr/>
        </p:nvSpPr>
        <p:spPr>
          <a:xfrm>
            <a:off x="548640" y="4169664"/>
            <a:ext cx="292608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Outcome link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E2EB09A-21D0-4940-AC4C-2823E2592574}"/>
              </a:ext>
            </a:extLst>
          </p:cNvPr>
          <p:cNvSpPr>
            <a:spLocks noGrp="1"/>
          </p:cNvSpPr>
          <p:nvPr/>
        </p:nvSpPr>
        <p:spPr>
          <a:xfrm>
            <a:off x="3520440" y="4169664"/>
            <a:ext cx="521208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Which decision did it support?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F68CBE-EBB2-4778-A6F1-36E2DDA48BB8}"/>
              </a:ext>
            </a:extLst>
          </p:cNvPr>
          <p:cNvSpPr>
            <a:spLocks noGrp="1"/>
          </p:cNvSpPr>
          <p:nvPr/>
        </p:nvSpPr>
        <p:spPr>
          <a:xfrm>
            <a:off x="548640" y="4846320"/>
            <a:ext cx="54864" cy="5029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11C1FB9-2066-4AD9-A068-3499600A9A29}"/>
              </a:ext>
            </a:extLst>
          </p:cNvPr>
          <p:cNvSpPr>
            <a:spLocks noGrp="1"/>
          </p:cNvSpPr>
          <p:nvPr/>
        </p:nvSpPr>
        <p:spPr>
          <a:xfrm>
            <a:off x="603504" y="4846320"/>
            <a:ext cx="7991856" cy="502920"/>
          </a:xfrm>
          <a:prstGeom prst="roundRect">
            <a:avLst>
              <a:gd name="adj" fmla="val 5000"/>
            </a:avLst>
          </a:prstGeom>
          <a:solidFill>
            <a:srgbClr val="D6EAF8"/>
          </a:solidFill>
          <a:ln w="10160">
            <a:solidFill>
              <a:srgbClr val="D6E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400" b="0">
                <a:solidFill>
                  <a:srgbClr val="1B2A4A"/>
                </a:solidFill>
              </a:defRPr>
            </a:pPr>
            <a:r>
              <a:t>A checkpoint stores position. An evidence envelope stores the basis for safe continuation.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364F65-C1C1-4B72-A25C-76A713A8C272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08C161-3687-4BCE-BADA-6272DC21A4A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226844-11C2-4749-8280-18B7CBBB74DF}"/>
              </a:ext>
            </a:extLst>
          </p:cNvPr>
          <p:cNvSpPr>
            <a:spLocks noGrp="1"/>
          </p:cNvSpPr>
          <p:nvPr/>
        </p:nvSpPr>
        <p:spPr>
          <a:xfrm>
            <a:off x="804672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  <a:defRPr sz="900" b="1">
                <a:solidFill>
                  <a:srgbClr val="2E86C1"/>
                </a:solidFill>
              </a:defRPr>
            </a:pPr>
            <a:r>
              <a:t>4 / 9</a:t>
            </a:r>
          </a:p>
        </p:txBody>
      </p:sp>
    </p:spTree>
    <p:extLst>
      <p:ext uri="{BB962C8B-B14F-4D97-AF65-F5344CB8AC3E}">
        <p14:creationId xmlns:p14="http://schemas.microsoft.com/office/powerpoint/2010/main" val="1737113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A4C140-4D2C-40F1-8997-F35CF9961124}"/>
              </a:ext>
            </a:extLst>
          </p:cNvPr>
          <p:cNvSpPr>
            <a:spLocks noGrp="1"/>
          </p:cNvSpPr>
          <p:nvPr/>
        </p:nvSpPr>
        <p:spPr>
          <a:xfrm>
            <a:off x="73152" y="285803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9DC287-DEEE-4365-BE77-4194362910DB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7519A-0904-4537-9EAF-88CEF432EB68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The harness adds a policy gate to the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B89794-903A-467E-93E9-B66160F3E720}"/>
              </a:ext>
            </a:extLst>
          </p:cNvPr>
          <p:cNvSpPr>
            <a:spLocks noGrp="1"/>
          </p:cNvSpPr>
          <p:nvPr/>
        </p:nvSpPr>
        <p:spPr>
          <a:xfrm>
            <a:off x="548640" y="5669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Checkpoint only where the next action depends on durable evidence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54D7AE7-3169-4F02-86F4-554CC1AAF7AA}"/>
              </a:ext>
            </a:extLst>
          </p:cNvPr>
          <p:cNvSpPr>
            <a:spLocks noGrp="1"/>
          </p:cNvSpPr>
          <p:nvPr/>
        </p:nvSpPr>
        <p:spPr>
          <a:xfrm>
            <a:off x="548640" y="1097280"/>
            <a:ext cx="8046720" cy="41148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7F8C8D"/>
                </a:solidFill>
              </a:defRPr>
            </a:pPr>
            <a:r>
              <a:t>Traditional:  Plan  →  Tool  →  Result  →  Next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990C802-3D7A-4B06-BD83-1503CB00D102}"/>
              </a:ext>
            </a:extLst>
          </p:cNvPr>
          <p:cNvSpPr>
            <a:spLocks noGrp="1"/>
          </p:cNvSpPr>
          <p:nvPr/>
        </p:nvSpPr>
        <p:spPr>
          <a:xfrm>
            <a:off x="548640" y="1600200"/>
            <a:ext cx="8046720" cy="411480"/>
          </a:xfrm>
          <a:prstGeom prst="roundRect">
            <a:avLst>
              <a:gd name="adj" fmla="val 5000"/>
            </a:avLst>
          </a:prstGeom>
          <a:solidFill>
            <a:srgbClr val="D6EAF8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2E86C1"/>
                </a:solidFill>
              </a:defRPr>
            </a:pPr>
            <a:r>
              <a:t>EGAH:  Plan  →  Checkpoint  →  Tool  →  Verify  →  Update evidence  →  Decide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F6A624-BC53-47A8-B348-C0B88BA76512}"/>
              </a:ext>
            </a:extLst>
          </p:cNvPr>
          <p:cNvSpPr>
            <a:spLocks noGrp="1"/>
          </p:cNvSpPr>
          <p:nvPr/>
        </p:nvSpPr>
        <p:spPr>
          <a:xfrm>
            <a:off x="548640" y="22860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300" b="1">
                <a:solidFill>
                  <a:srgbClr val="1B2A4A"/>
                </a:solidFill>
              </a:defRPr>
            </a:pPr>
            <a:r>
              <a:t>At a consequential boundary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3A9B7C-E9BC-404F-8CDB-CAC528078DFD}"/>
              </a:ext>
            </a:extLst>
          </p:cNvPr>
          <p:cNvSpPr>
            <a:spLocks noGrp="1"/>
          </p:cNvSpPr>
          <p:nvPr/>
        </p:nvSpPr>
        <p:spPr>
          <a:xfrm>
            <a:off x="731520" y="2651760"/>
            <a:ext cx="3840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1.  Capture execution + evidence state</a:t>
            </a:r>
          </a:p>
          <a:p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2.  Persist provenance, time and content</a:t>
            </a:r>
          </a:p>
          <a:p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3.  Verify against policy</a:t>
            </a:r>
          </a:p>
          <a:p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4.  ACT / REFRESH / ASK / ABSTAIN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9B52E8-C05F-4ADD-94DB-7B22F21DB55F}"/>
              </a:ext>
            </a:extLst>
          </p:cNvPr>
          <p:cNvSpPr>
            <a:spLocks noGrp="1"/>
          </p:cNvSpPr>
          <p:nvPr/>
        </p:nvSpPr>
        <p:spPr>
          <a:xfrm>
            <a:off x="4617720" y="2286000"/>
            <a:ext cx="12700" cy="3200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8E8916-FA23-476C-9CD2-3A3AC8E6D38B}"/>
              </a:ext>
            </a:extLst>
          </p:cNvPr>
          <p:cNvSpPr>
            <a:spLocks noGrp="1"/>
          </p:cNvSpPr>
          <p:nvPr/>
        </p:nvSpPr>
        <p:spPr>
          <a:xfrm>
            <a:off x="4846320" y="2286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300" b="1">
                <a:solidFill>
                  <a:srgbClr val="1B2A4A"/>
                </a:solidFill>
              </a:defRPr>
            </a:pPr>
            <a:r>
              <a:t>After a crash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2B2556-2045-4955-8BFB-44E10DA11A30}"/>
              </a:ext>
            </a:extLst>
          </p:cNvPr>
          <p:cNvSpPr>
            <a:spLocks noGrp="1"/>
          </p:cNvSpPr>
          <p:nvPr/>
        </p:nvSpPr>
        <p:spPr>
          <a:xfrm>
            <a:off x="5029200" y="2651760"/>
            <a:ext cx="3840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1.  Restore state, envelopes and history</a:t>
            </a:r>
          </a:p>
          <a:p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2.  Recheck freshness and validity</a:t>
            </a:r>
          </a:p>
          <a:p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3.  Build a recovery plan</a:t>
            </a:r>
          </a:p>
          <a:p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4.  Resume, refresh, escalate—or stop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1B9BAB-1129-46A0-82C1-CE98A94CC478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DE1698-FFEE-4AEE-BCC6-93D90F3EA7FE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2064711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E97DB0-CEF5-476C-954D-3BB28A4A544E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0D8485-7A74-4693-89E4-6DA12DE49F7A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2C46DE-FCE6-40DF-9251-690B12A32737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FC6458-DCC4-410B-9525-2093CBA28AA5}"/>
              </a:ext>
            </a:extLst>
          </p:cNvPr>
          <p:cNvSpPr>
            <a:spLocks noGrp="1"/>
          </p:cNvSpPr>
          <p:nvPr/>
        </p:nvSpPr>
        <p:spPr>
          <a:xfrm>
            <a:off x="548640" y="5669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End-to-end evidence-governed workflow</a:t>
            </a:r>
          </a:p>
        </p:txBody>
      </p:sp>
      <p:pic>
        <p:nvPicPr>
          <p:cNvPr id="1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51560"/>
            <a:ext cx="8046720" cy="42062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81BC4A-7E3B-47FA-9228-57A41FB5109D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000" b="0">
                <a:solidFill>
                  <a:srgbClr val="1B2A4A"/>
                </a:solidFill>
              </a:defRPr>
            </a:pPr>
            <a:r>
              <a:t>Three core subsystems:  State (graph, checkpoints, memory)  ·  Evidence (provenance, validity, verification)  ·  Telemetry (tokens, cost, latency)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AD3620-EA98-484C-9CB7-61EFE4C6E8CC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100" b="1">
                <a:solidFill>
                  <a:srgbClr val="2E86C1"/>
                </a:solidFill>
              </a:defRPr>
            </a:pPr>
            <a:r>
              <a:t>Flow:  Plan → Checkpoint → Policy Gate → Sufficient?  →  ACT  /  REFRESH  /  ASK  /  ABSTAIN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7D191C-9F4C-4F30-90CD-F58B24D5D192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4585D6-FAF1-4AE4-A342-EF388A20E46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2133374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noGrp="1"/>
          </p:cNvSpPr>
          <p:nvPr/>
        </p:nvSpPr>
        <p:spPr>
          <a:xfrm>
            <a:off x="73151" y="73152"/>
            <a:ext cx="12045695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Recovery must restore the decision basis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A1C39B-D08A-47ED-B8BC-86858DDC0270}"/>
              </a:ext>
            </a:extLst>
          </p:cNvPr>
          <p:cNvSpPr>
            <a:spLocks noGrp="1"/>
          </p:cNvSpPr>
          <p:nvPr/>
        </p:nvSpPr>
        <p:spPr>
          <a:xfrm>
            <a:off x="365760" y="1051560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Aspect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71572CF-23E8-44A6-8BBD-85914DD15D84}"/>
              </a:ext>
            </a:extLst>
          </p:cNvPr>
          <p:cNvSpPr>
            <a:spLocks noGrp="1"/>
          </p:cNvSpPr>
          <p:nvPr/>
        </p:nvSpPr>
        <p:spPr>
          <a:xfrm>
            <a:off x="2606040" y="1051560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Traditional Recovery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6317C0E-3883-49EA-A890-6C0C1843C392}"/>
              </a:ext>
            </a:extLst>
          </p:cNvPr>
          <p:cNvSpPr>
            <a:spLocks noGrp="1"/>
          </p:cNvSpPr>
          <p:nvPr/>
        </p:nvSpPr>
        <p:spPr>
          <a:xfrm>
            <a:off x="5577840" y="1051560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EGAH Recovery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447820A-A02A-47BB-A1B5-4D374A704A55}"/>
              </a:ext>
            </a:extLst>
          </p:cNvPr>
          <p:cNvSpPr>
            <a:spLocks noGrp="1"/>
          </p:cNvSpPr>
          <p:nvPr/>
        </p:nvSpPr>
        <p:spPr>
          <a:xfrm>
            <a:off x="365760" y="1527048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Execution state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370A1B5-A14A-4033-B673-972B22B1D2EA}"/>
              </a:ext>
            </a:extLst>
          </p:cNvPr>
          <p:cNvSpPr>
            <a:spLocks noGrp="1"/>
          </p:cNvSpPr>
          <p:nvPr/>
        </p:nvSpPr>
        <p:spPr>
          <a:xfrm>
            <a:off x="2606040" y="1527048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Restored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532F78F-CD20-4AA1-80FE-276206C39FD2}"/>
              </a:ext>
            </a:extLst>
          </p:cNvPr>
          <p:cNvSpPr>
            <a:spLocks noGrp="1"/>
          </p:cNvSpPr>
          <p:nvPr/>
        </p:nvSpPr>
        <p:spPr>
          <a:xfrm>
            <a:off x="5577840" y="1527048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Restored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8FA0A38-5D1C-4727-9B53-3BE4BF180699}"/>
              </a:ext>
            </a:extLst>
          </p:cNvPr>
          <p:cNvSpPr>
            <a:spLocks noGrp="1"/>
          </p:cNvSpPr>
          <p:nvPr/>
        </p:nvSpPr>
        <p:spPr>
          <a:xfrm>
            <a:off x="365760" y="2002536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Evidence state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AABA01B-6A7A-441D-BFE0-CA6B4A02858E}"/>
              </a:ext>
            </a:extLst>
          </p:cNvPr>
          <p:cNvSpPr>
            <a:spLocks noGrp="1"/>
          </p:cNvSpPr>
          <p:nvPr/>
        </p:nvSpPr>
        <p:spPr>
          <a:xfrm>
            <a:off x="2606040" y="2002536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Not checked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73CCFAE-D289-44A5-8661-7AAFA3B56BDE}"/>
              </a:ext>
            </a:extLst>
          </p:cNvPr>
          <p:cNvSpPr>
            <a:spLocks noGrp="1"/>
          </p:cNvSpPr>
          <p:nvPr/>
        </p:nvSpPr>
        <p:spPr>
          <a:xfrm>
            <a:off x="5577840" y="2002536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2 envelopes restored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50F723-3306-46A1-A8D4-837605C30F63}"/>
              </a:ext>
            </a:extLst>
          </p:cNvPr>
          <p:cNvSpPr>
            <a:spLocks noGrp="1"/>
          </p:cNvSpPr>
          <p:nvPr/>
        </p:nvSpPr>
        <p:spPr>
          <a:xfrm>
            <a:off x="365760" y="2478024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Verification history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A311E43-85C2-4DD4-83D6-F51BEB136D13}"/>
              </a:ext>
            </a:extLst>
          </p:cNvPr>
          <p:cNvSpPr>
            <a:spLocks noGrp="1"/>
          </p:cNvSpPr>
          <p:nvPr/>
        </p:nvSpPr>
        <p:spPr>
          <a:xfrm>
            <a:off x="2606040" y="2478024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Not analysed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8784F7B-7213-4F60-A096-C22AD97A507D}"/>
              </a:ext>
            </a:extLst>
          </p:cNvPr>
          <p:cNvSpPr>
            <a:spLocks noGrp="1"/>
          </p:cNvSpPr>
          <p:nvPr/>
        </p:nvSpPr>
        <p:spPr>
          <a:xfrm>
            <a:off x="5577840" y="2478024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2 records analysed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4BF2D0B-8090-4232-AD8F-ACC13BF5D526}"/>
              </a:ext>
            </a:extLst>
          </p:cNvPr>
          <p:cNvSpPr>
            <a:spLocks noGrp="1"/>
          </p:cNvSpPr>
          <p:nvPr/>
        </p:nvSpPr>
        <p:spPr>
          <a:xfrm>
            <a:off x="365760" y="2953512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Evidence freshness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A3588E1-A312-401D-B652-F875ACBE2A63}"/>
              </a:ext>
            </a:extLst>
          </p:cNvPr>
          <p:cNvSpPr>
            <a:spLocks noGrp="1"/>
          </p:cNvSpPr>
          <p:nvPr/>
        </p:nvSpPr>
        <p:spPr>
          <a:xfrm>
            <a:off x="2606040" y="2953512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Unknown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B4D8EE6-05D1-4420-92D3-2C8CA5D657EB}"/>
              </a:ext>
            </a:extLst>
          </p:cNvPr>
          <p:cNvSpPr>
            <a:spLocks noGrp="1"/>
          </p:cNvSpPr>
          <p:nvPr/>
        </p:nvSpPr>
        <p:spPr>
          <a:xfrm>
            <a:off x="5577840" y="2953512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Step 3 stale; step 6 fresh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0EE5B96-4373-480B-8A59-08F97ECE91A5}"/>
              </a:ext>
            </a:extLst>
          </p:cNvPr>
          <p:cNvSpPr>
            <a:spLocks noGrp="1"/>
          </p:cNvSpPr>
          <p:nvPr/>
        </p:nvSpPr>
        <p:spPr>
          <a:xfrm>
            <a:off x="365760" y="3429000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Resume decision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FA0A262-5462-4D0D-AC27-918529CBA8D1}"/>
              </a:ext>
            </a:extLst>
          </p:cNvPr>
          <p:cNvSpPr>
            <a:spLocks noGrp="1"/>
          </p:cNvSpPr>
          <p:nvPr/>
        </p:nvSpPr>
        <p:spPr>
          <a:xfrm>
            <a:off x="2606040" y="3429000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Resume at step 7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2B440EC-86C9-424E-8685-9D1336277708}"/>
              </a:ext>
            </a:extLst>
          </p:cNvPr>
          <p:cNvSpPr>
            <a:spLocks noGrp="1"/>
          </p:cNvSpPr>
          <p:nvPr/>
        </p:nvSpPr>
        <p:spPr>
          <a:xfrm>
            <a:off x="5577840" y="3429000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Refresh, then resume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1F535C9-DBAA-4633-9CFC-81D6505FCAF3}"/>
              </a:ext>
            </a:extLst>
          </p:cNvPr>
          <p:cNvSpPr>
            <a:spLocks noGrp="1"/>
          </p:cNvSpPr>
          <p:nvPr/>
        </p:nvSpPr>
        <p:spPr>
          <a:xfrm>
            <a:off x="365760" y="3904488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Risk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594ADC0-7088-46C5-B701-C8A2255A278E}"/>
              </a:ext>
            </a:extLst>
          </p:cNvPr>
          <p:cNvSpPr>
            <a:spLocks noGrp="1"/>
          </p:cNvSpPr>
          <p:nvPr/>
        </p:nvSpPr>
        <p:spPr>
          <a:xfrm>
            <a:off x="2606040" y="3904488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May use stale evidence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898C4E4-8155-4E54-8CFC-033AC90CD8E2}"/>
              </a:ext>
            </a:extLst>
          </p:cNvPr>
          <p:cNvSpPr>
            <a:spLocks noGrp="1"/>
          </p:cNvSpPr>
          <p:nvPr/>
        </p:nvSpPr>
        <p:spPr>
          <a:xfrm>
            <a:off x="5577840" y="3904488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Policy-gated continuation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E1B0433-F840-4787-B867-FED8B2CCFA72}"/>
              </a:ext>
            </a:extLst>
          </p:cNvPr>
          <p:cNvSpPr>
            <a:spLocks noGrp="1"/>
          </p:cNvSpPr>
          <p:nvPr/>
        </p:nvSpPr>
        <p:spPr>
          <a:xfrm>
            <a:off x="365760" y="4379976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Audit trail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2CB008E-A48F-4836-8CF3-88090F733AE6}"/>
              </a:ext>
            </a:extLst>
          </p:cNvPr>
          <p:cNvSpPr>
            <a:spLocks noGrp="1"/>
          </p:cNvSpPr>
          <p:nvPr/>
        </p:nvSpPr>
        <p:spPr>
          <a:xfrm>
            <a:off x="2606040" y="4379976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Recovery gap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3BA557C-A222-469E-B42A-31751D70A715}"/>
              </a:ext>
            </a:extLst>
          </p:cNvPr>
          <p:cNvSpPr>
            <a:spLocks noGrp="1"/>
          </p:cNvSpPr>
          <p:nvPr/>
        </p:nvSpPr>
        <p:spPr>
          <a:xfrm>
            <a:off x="5577840" y="4379976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Continuous recovery record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647646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DAEAD2-BE05-43A2-960F-179CE9DF63B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B710A0-3AFA-4214-A6B5-9D48BA039261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8997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E88D75-B8BE-4882-B05F-2DFEF37A6F71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Five-minute demo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65108C-A41A-46F8-8958-7D01D87BF1B1}"/>
              </a:ext>
            </a:extLst>
          </p:cNvPr>
          <p:cNvSpPr>
            <a:spLocks noGrp="1"/>
          </p:cNvSpPr>
          <p:nvPr/>
        </p:nvSpPr>
        <p:spPr>
          <a:xfrm>
            <a:off x="548640" y="5669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Local Streamlit PoC · simulated mode works without an API key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1C96092-E08A-4271-921C-C4DEE6CDEA40}"/>
              </a:ext>
            </a:extLst>
          </p:cNvPr>
          <p:cNvSpPr>
            <a:spLocks noGrp="1"/>
          </p:cNvSpPr>
          <p:nvPr/>
        </p:nvSpPr>
        <p:spPr>
          <a:xfrm>
            <a:off x="548640" y="1097280"/>
            <a:ext cx="365760" cy="502920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4122F51-A711-47AF-AF25-1F3E7EF58739}"/>
              </a:ext>
            </a:extLst>
          </p:cNvPr>
          <p:cNvSpPr>
            <a:spLocks noGrp="1"/>
          </p:cNvSpPr>
          <p:nvPr/>
        </p:nvSpPr>
        <p:spPr>
          <a:xfrm>
            <a:off x="960120" y="1097280"/>
            <a:ext cx="7772400" cy="5029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Run the 10-step document workflow and inject a crash at step 7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9C916D0-2459-4F99-A178-61E2B05B6A3E}"/>
              </a:ext>
            </a:extLst>
          </p:cNvPr>
          <p:cNvSpPr>
            <a:spLocks noGrp="1"/>
          </p:cNvSpPr>
          <p:nvPr/>
        </p:nvSpPr>
        <p:spPr>
          <a:xfrm>
            <a:off x="548640" y="1664208"/>
            <a:ext cx="365760" cy="502920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013BE4F-16AB-44D5-8312-AEDF7F9619C3}"/>
              </a:ext>
            </a:extLst>
          </p:cNvPr>
          <p:cNvSpPr>
            <a:spLocks noGrp="1"/>
          </p:cNvSpPr>
          <p:nvPr/>
        </p:nvSpPr>
        <p:spPr>
          <a:xfrm>
            <a:off x="960120" y="1664208"/>
            <a:ext cx="7772400" cy="5029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Inspect two preserved evidence envelopes and verification records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1AD422D-EDE8-4571-9859-51252166C0FA}"/>
              </a:ext>
            </a:extLst>
          </p:cNvPr>
          <p:cNvSpPr>
            <a:spLocks noGrp="1"/>
          </p:cNvSpPr>
          <p:nvPr/>
        </p:nvSpPr>
        <p:spPr>
          <a:xfrm>
            <a:off x="548640" y="2231136"/>
            <a:ext cx="365760" cy="502920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1D2B5C4-4A7F-493D-A5F1-ECD7DE2BCD79}"/>
              </a:ext>
            </a:extLst>
          </p:cNvPr>
          <p:cNvSpPr>
            <a:spLocks noGrp="1"/>
          </p:cNvSpPr>
          <p:nvPr/>
        </p:nvSpPr>
        <p:spPr>
          <a:xfrm>
            <a:off x="960120" y="2231136"/>
            <a:ext cx="7772400" cy="5029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Compare state-only recovery with evidence-governed recovery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023A373-2222-4F90-9613-F4A882C4BB65}"/>
              </a:ext>
            </a:extLst>
          </p:cNvPr>
          <p:cNvSpPr>
            <a:spLocks noGrp="1"/>
          </p:cNvSpPr>
          <p:nvPr/>
        </p:nvSpPr>
        <p:spPr>
          <a:xfrm>
            <a:off x="548640" y="2798064"/>
            <a:ext cx="365760" cy="502920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FDC32F3-175E-42CB-AB1D-80840A1A27B2}"/>
              </a:ext>
            </a:extLst>
          </p:cNvPr>
          <p:cNvSpPr>
            <a:spLocks noGrp="1"/>
          </p:cNvSpPr>
          <p:nvPr/>
        </p:nvSpPr>
        <p:spPr>
          <a:xfrm>
            <a:off x="960120" y="2798064"/>
            <a:ext cx="7772400" cy="5029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Mark step 3 stale; generate a REFRESH recommendation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A3254C8-0F39-4C44-A0FE-0658FAD20E2C}"/>
              </a:ext>
            </a:extLst>
          </p:cNvPr>
          <p:cNvSpPr>
            <a:spLocks noGrp="1"/>
          </p:cNvSpPr>
          <p:nvPr/>
        </p:nvSpPr>
        <p:spPr>
          <a:xfrm>
            <a:off x="548640" y="3364992"/>
            <a:ext cx="365760" cy="502920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A12363A-1199-480A-84A6-D3C65D4E4B30}"/>
              </a:ext>
            </a:extLst>
          </p:cNvPr>
          <p:cNvSpPr>
            <a:spLocks noGrp="1"/>
          </p:cNvSpPr>
          <p:nvPr/>
        </p:nvSpPr>
        <p:spPr>
          <a:xfrm>
            <a:off x="960120" y="3364992"/>
            <a:ext cx="7772400" cy="5029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Resume safely and inspect the audit and resource trail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E971BA4-11CB-458B-B6D6-20A45A2937E0}"/>
              </a:ext>
            </a:extLst>
          </p:cNvPr>
          <p:cNvSpPr>
            <a:spLocks noGrp="1"/>
          </p:cNvSpPr>
          <p:nvPr/>
        </p:nvSpPr>
        <p:spPr>
          <a:xfrm>
            <a:off x="548640" y="3931920"/>
            <a:ext cx="365760" cy="502920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3181024-61D8-4EA3-8B21-9915D5182C17}"/>
              </a:ext>
            </a:extLst>
          </p:cNvPr>
          <p:cNvSpPr>
            <a:spLocks noGrp="1"/>
          </p:cNvSpPr>
          <p:nvPr/>
        </p:nvSpPr>
        <p:spPr>
          <a:xfrm>
            <a:off x="960120" y="3931920"/>
            <a:ext cx="7772400" cy="5029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Local verification: 35 automated tests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FD81697-9B08-42F3-AC10-1858ACA5780F}"/>
              </a:ext>
            </a:extLst>
          </p:cNvPr>
          <p:cNvSpPr>
            <a:spLocks noGrp="1"/>
          </p:cNvSpPr>
          <p:nvPr/>
        </p:nvSpPr>
        <p:spPr>
          <a:xfrm>
            <a:off x="548640" y="4754880"/>
            <a:ext cx="54864" cy="7772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658938B-5198-4593-B85C-33D0C3BB6B7A}"/>
              </a:ext>
            </a:extLst>
          </p:cNvPr>
          <p:cNvSpPr>
            <a:spLocks noGrp="1"/>
          </p:cNvSpPr>
          <p:nvPr/>
        </p:nvSpPr>
        <p:spPr>
          <a:xfrm>
            <a:off x="603504" y="4754880"/>
            <a:ext cx="7991856" cy="777240"/>
          </a:xfrm>
          <a:prstGeom prst="roundRect">
            <a:avLst>
              <a:gd name="adj" fmla="val 5000"/>
            </a:avLst>
          </a:prstGeom>
          <a:solidFill>
            <a:srgbClr val="D6EAF8"/>
          </a:solidFill>
          <a:ln w="10160">
            <a:solidFill>
              <a:srgbClr val="D6E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The demo must show a changed recovery decision—not only a restored screen.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1ABACA7-620C-4336-A04B-CE4F63A0EE29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A5D864-67C4-432E-BFCB-38F3728C35EA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600673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BC2F7A-70A2-4F45-B0BE-16BDDC277034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C209B6-D134-4424-9BCD-F98C2439EA5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7B8E8D-1103-4E6C-8013-FF5418072610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What should earn a place in the harness?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E7D436-ADEB-4DD9-B5E7-60A5F8E8043F}"/>
              </a:ext>
            </a:extLst>
          </p:cNvPr>
          <p:cNvSpPr>
            <a:spLocks noGrp="1"/>
          </p:cNvSpPr>
          <p:nvPr/>
        </p:nvSpPr>
        <p:spPr>
          <a:xfrm>
            <a:off x="548640" y="5669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Six production checks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015936A-F0A3-4CBB-8E79-6C696AD1484B}"/>
              </a:ext>
            </a:extLst>
          </p:cNvPr>
          <p:cNvSpPr>
            <a:spLocks noGrp="1"/>
          </p:cNvSpPr>
          <p:nvPr/>
        </p:nvSpPr>
        <p:spPr>
          <a:xfrm>
            <a:off x="548640" y="1097280"/>
            <a:ext cx="36576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65A390E-6BB5-4AEB-82E7-8D5AFAB87538}"/>
              </a:ext>
            </a:extLst>
          </p:cNvPr>
          <p:cNvSpPr>
            <a:spLocks noGrp="1"/>
          </p:cNvSpPr>
          <p:nvPr/>
        </p:nvSpPr>
        <p:spPr>
          <a:xfrm>
            <a:off x="960120" y="1097280"/>
            <a:ext cx="777240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Separate execution state from evidence state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DA2CBBB-AA02-4C38-8D57-88366945D0E2}"/>
              </a:ext>
            </a:extLst>
          </p:cNvPr>
          <p:cNvSpPr>
            <a:spLocks noGrp="1"/>
          </p:cNvSpPr>
          <p:nvPr/>
        </p:nvSpPr>
        <p:spPr>
          <a:xfrm>
            <a:off x="548640" y="1627632"/>
            <a:ext cx="36576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1CCF90-FF14-4B87-99A6-294B1AF168C2}"/>
              </a:ext>
            </a:extLst>
          </p:cNvPr>
          <p:cNvSpPr>
            <a:spLocks noGrp="1"/>
          </p:cNvSpPr>
          <p:nvPr/>
        </p:nvSpPr>
        <p:spPr>
          <a:xfrm>
            <a:off x="960120" y="1627632"/>
            <a:ext cx="777240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Persist provenance, freshness and verification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292C8D0-8A83-4EBC-A63D-BB41E3DFE500}"/>
              </a:ext>
            </a:extLst>
          </p:cNvPr>
          <p:cNvSpPr>
            <a:spLocks noGrp="1"/>
          </p:cNvSpPr>
          <p:nvPr/>
        </p:nvSpPr>
        <p:spPr>
          <a:xfrm>
            <a:off x="548640" y="2157984"/>
            <a:ext cx="36576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BE54DF5-238E-4F5F-9516-E15466FC51AF}"/>
              </a:ext>
            </a:extLst>
          </p:cNvPr>
          <p:cNvSpPr>
            <a:spLocks noGrp="1"/>
          </p:cNvSpPr>
          <p:nvPr/>
        </p:nvSpPr>
        <p:spPr>
          <a:xfrm>
            <a:off x="960120" y="2157984"/>
            <a:ext cx="777240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Revalidate at consequential boundaries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0CCFDDC-6609-4F86-89AE-168DF133AA7A}"/>
              </a:ext>
            </a:extLst>
          </p:cNvPr>
          <p:cNvSpPr>
            <a:spLocks noGrp="1"/>
          </p:cNvSpPr>
          <p:nvPr/>
        </p:nvSpPr>
        <p:spPr>
          <a:xfrm>
            <a:off x="548640" y="2688336"/>
            <a:ext cx="36576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E052059-C855-488B-AB61-926C904AE60E}"/>
              </a:ext>
            </a:extLst>
          </p:cNvPr>
          <p:cNvSpPr>
            <a:spLocks noGrp="1"/>
          </p:cNvSpPr>
          <p:nvPr/>
        </p:nvSpPr>
        <p:spPr>
          <a:xfrm>
            <a:off x="960120" y="2688336"/>
            <a:ext cx="777240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Use evidence-backed capability boundaries for smaller models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25267EF-F1EE-44EE-909C-C3900F3E8B92}"/>
              </a:ext>
            </a:extLst>
          </p:cNvPr>
          <p:cNvSpPr>
            <a:spLocks noGrp="1"/>
          </p:cNvSpPr>
          <p:nvPr/>
        </p:nvSpPr>
        <p:spPr>
          <a:xfrm>
            <a:off x="548640" y="3218688"/>
            <a:ext cx="36576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46C8364-D335-4258-8A5C-F5323FC6FB59}"/>
              </a:ext>
            </a:extLst>
          </p:cNvPr>
          <p:cNvSpPr>
            <a:spLocks noGrp="1"/>
          </p:cNvSpPr>
          <p:nvPr/>
        </p:nvSpPr>
        <p:spPr>
          <a:xfrm>
            <a:off x="960120" y="3218688"/>
            <a:ext cx="777240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Link tokens and cost to verified outcomes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868430E-481F-49B2-9547-F970154C57C8}"/>
              </a:ext>
            </a:extLst>
          </p:cNvPr>
          <p:cNvSpPr>
            <a:spLocks noGrp="1"/>
          </p:cNvSpPr>
          <p:nvPr/>
        </p:nvSpPr>
        <p:spPr>
          <a:xfrm>
            <a:off x="548640" y="3749040"/>
            <a:ext cx="365760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2F01EF8-66AE-4B18-8188-A9C95F49C421}"/>
              </a:ext>
            </a:extLst>
          </p:cNvPr>
          <p:cNvSpPr>
            <a:spLocks noGrp="1"/>
          </p:cNvSpPr>
          <p:nvPr/>
        </p:nvSpPr>
        <p:spPr>
          <a:xfrm>
            <a:off x="960120" y="3749040"/>
            <a:ext cx="777240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Measure reliability gain against harness overhead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D0BDC6-C378-4CBA-8D74-BAFB378BD66D}"/>
              </a:ext>
            </a:extLst>
          </p:cNvPr>
          <p:cNvSpPr>
            <a:spLocks noGrp="1"/>
          </p:cNvSpPr>
          <p:nvPr/>
        </p:nvSpPr>
        <p:spPr>
          <a:xfrm>
            <a:off x="548640" y="4480560"/>
            <a:ext cx="54864" cy="640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09FFF5F-2D40-4E2B-94D0-65885C1F0636}"/>
              </a:ext>
            </a:extLst>
          </p:cNvPr>
          <p:cNvSpPr>
            <a:spLocks noGrp="1"/>
          </p:cNvSpPr>
          <p:nvPr/>
        </p:nvSpPr>
        <p:spPr>
          <a:xfrm>
            <a:off x="603504" y="4480560"/>
            <a:ext cx="7991856" cy="640080"/>
          </a:xfrm>
          <a:prstGeom prst="roundRect">
            <a:avLst>
              <a:gd name="adj" fmla="val 5000"/>
            </a:avLst>
          </a:prstGeom>
          <a:solidFill>
            <a:srgbClr val="D6EAF8"/>
          </a:solidFill>
          <a:ln w="10160">
            <a:solidFill>
              <a:srgbClr val="D6E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500" b="0">
                <a:solidFill>
                  <a:srgbClr val="1B2A4A"/>
                </a:solidFill>
              </a:defRPr>
            </a:pPr>
            <a:r>
              <a:t>After a crash, remember not only WHERE the agent was—but WHY it may continue.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199179-5DE8-4C7E-BEE2-D9A551D80A3F}"/>
              </a:ext>
            </a:extLst>
          </p:cNvPr>
          <p:cNvSpPr>
            <a:spLocks noGrp="1"/>
          </p:cNvSpPr>
          <p:nvPr/>
        </p:nvSpPr>
        <p:spPr>
          <a:xfrm>
            <a:off x="548640" y="53035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000" b="0">
                <a:solidFill>
                  <a:srgbClr val="7F8C8D"/>
                </a:solidFill>
              </a:defRPr>
            </a:pPr>
            <a:r>
              <a:t>Discussion: Which actions in your system deserve an evidence checkpoint?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E1A003-C387-4C41-9C3A-0D24B1342918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D38079-9EDB-482B-8C13-E8A3DF61010D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1AAC6-E6B4-4EE0-8BD6-050856EE32EB}"/>
              </a:ext>
            </a:extLst>
          </p:cNvPr>
          <p:cNvSpPr>
            <a:spLocks noGrp="1"/>
          </p:cNvSpPr>
          <p:nvPr/>
        </p:nvSpPr>
        <p:spPr>
          <a:xfrm>
            <a:off x="804672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  <a:defRPr sz="900" b="1">
                <a:solidFill>
                  <a:srgbClr val="2E86C1"/>
                </a:solidFill>
              </a:defRPr>
            </a:pPr>
            <a:r>
              <a:t>9 / 9</a:t>
            </a:r>
          </a:p>
        </p:txBody>
      </p:sp>
    </p:spTree>
    <p:extLst>
      <p:ext uri="{BB962C8B-B14F-4D97-AF65-F5344CB8AC3E}">
        <p14:creationId xmlns:p14="http://schemas.microsoft.com/office/powerpoint/2010/main" val="1818618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1342</Words>
  <Application>Microsoft Macintosh PowerPoint</Application>
  <DocSecurity>0</DocSecurity>
  <PresentationFormat>Widescreen</PresentationFormat>
  <Paragraphs>194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Shaik, Khaja {PEP}</cp:lastModifiedBy>
  <cp:revision>1</cp:revision>
  <dcterms:created xsi:type="dcterms:W3CDTF">2026-08-28T07:47:17Z</dcterms:created>
  <dcterms:modified xsi:type="dcterms:W3CDTF">2026-08-28T16:04:27Z</dcterms:modified>
</cp:coreProperties>
</file>