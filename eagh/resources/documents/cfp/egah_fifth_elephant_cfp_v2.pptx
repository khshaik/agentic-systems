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5" r:id="rId4"/>
    <p:sldId id="278" r:id="rId5"/>
    <p:sldId id="261" r:id="rId6"/>
    <p:sldId id="259" r:id="rId7"/>
    <p:sldId id="266" r:id="rId8"/>
    <p:sldId id="269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9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k, Khaja {PEP}" userId="af594e6b-185c-4e25-9752-b7d60b545147" providerId="ADAL" clId="{9FF9BD8E-034D-54D7-95B7-843FED4B39B3}"/>
    <pc:docChg chg="custSel addSld delSld modSld">
      <pc:chgData name="Shaik, Khaja {PEP}" userId="af594e6b-185c-4e25-9752-b7d60b545147" providerId="ADAL" clId="{9FF9BD8E-034D-54D7-95B7-843FED4B39B3}" dt="2026-09-01T10:17:38.204" v="347" actId="1036"/>
      <pc:docMkLst>
        <pc:docMk/>
      </pc:docMkLst>
      <pc:sldChg chg="modSp mod">
        <pc:chgData name="Shaik, Khaja {PEP}" userId="af594e6b-185c-4e25-9752-b7d60b545147" providerId="ADAL" clId="{9FF9BD8E-034D-54D7-95B7-843FED4B39B3}" dt="2026-08-31T15:30:56.597" v="157" actId="14100"/>
        <pc:sldMkLst>
          <pc:docMk/>
          <pc:sldMk cId="1170972292" sldId="257"/>
        </pc:sldMkLst>
        <pc:spChg chg="mod">
          <ac:chgData name="Shaik, Khaja {PEP}" userId="af594e6b-185c-4e25-9752-b7d60b545147" providerId="ADAL" clId="{9FF9BD8E-034D-54D7-95B7-843FED4B39B3}" dt="2026-08-31T15:30:56.597" v="157" actId="14100"/>
          <ac:spMkLst>
            <pc:docMk/>
            <pc:sldMk cId="1170972292" sldId="257"/>
            <ac:spMk id="3" creationId="{0C56C832-2B2D-46FF-B57C-6F27594083CF}"/>
          </ac:spMkLst>
        </pc:spChg>
        <pc:spChg chg="mod">
          <ac:chgData name="Shaik, Khaja {PEP}" userId="af594e6b-185c-4e25-9752-b7d60b545147" providerId="ADAL" clId="{9FF9BD8E-034D-54D7-95B7-843FED4B39B3}" dt="2026-08-31T15:30:50.371" v="151" actId="1036"/>
          <ac:spMkLst>
            <pc:docMk/>
            <pc:sldMk cId="1170972292" sldId="257"/>
            <ac:spMk id="20" creationId="{F6845B55-337B-B641-66C4-037351CDB78A}"/>
          </ac:spMkLst>
        </pc:spChg>
        <pc:spChg chg="mod">
          <ac:chgData name="Shaik, Khaja {PEP}" userId="af594e6b-185c-4e25-9752-b7d60b545147" providerId="ADAL" clId="{9FF9BD8E-034D-54D7-95B7-843FED4B39B3}" dt="2026-08-31T15:30:53.701" v="156" actId="1036"/>
          <ac:spMkLst>
            <pc:docMk/>
            <pc:sldMk cId="1170972292" sldId="257"/>
            <ac:spMk id="21" creationId="{6E3A11C7-1155-AA47-5DC4-BCFEE2E954AF}"/>
          </ac:spMkLst>
        </pc:spChg>
        <pc:picChg chg="mod">
          <ac:chgData name="Shaik, Khaja {PEP}" userId="af594e6b-185c-4e25-9752-b7d60b545147" providerId="ADAL" clId="{9FF9BD8E-034D-54D7-95B7-843FED4B39B3}" dt="2026-08-31T15:30:50.371" v="151" actId="1036"/>
          <ac:picMkLst>
            <pc:docMk/>
            <pc:sldMk cId="1170972292" sldId="257"/>
            <ac:picMk id="17" creationId="{6EEE5EDC-D8B6-2A87-7C59-5F6503896C78}"/>
          </ac:picMkLst>
        </pc:picChg>
        <pc:picChg chg="mod">
          <ac:chgData name="Shaik, Khaja {PEP}" userId="af594e6b-185c-4e25-9752-b7d60b545147" providerId="ADAL" clId="{9FF9BD8E-034D-54D7-95B7-843FED4B39B3}" dt="2026-08-31T15:30:43.427" v="146" actId="1036"/>
          <ac:picMkLst>
            <pc:docMk/>
            <pc:sldMk cId="1170972292" sldId="257"/>
            <ac:picMk id="19" creationId="{51F4B8D0-68A0-0A00-7400-558E76843E1B}"/>
          </ac:picMkLst>
        </pc:picChg>
      </pc:sldChg>
      <pc:sldChg chg="modSp">
        <pc:chgData name="Shaik, Khaja {PEP}" userId="af594e6b-185c-4e25-9752-b7d60b545147" providerId="ADAL" clId="{9FF9BD8E-034D-54D7-95B7-843FED4B39B3}" dt="2026-08-31T15:31:55.116" v="165"/>
        <pc:sldMkLst>
          <pc:docMk/>
          <pc:sldMk cId="1737113454" sldId="259"/>
        </pc:sldMkLst>
        <pc:spChg chg="mod">
          <ac:chgData name="Shaik, Khaja {PEP}" userId="af594e6b-185c-4e25-9752-b7d60b545147" providerId="ADAL" clId="{9FF9BD8E-034D-54D7-95B7-843FED4B39B3}" dt="2026-08-31T15:31:55.116" v="165"/>
          <ac:spMkLst>
            <pc:docMk/>
            <pc:sldMk cId="1737113454" sldId="259"/>
            <ac:spMk id="36" creationId="{1EF2D798-150B-D51C-AE99-6E109E1C47AA}"/>
          </ac:spMkLst>
        </pc:spChg>
      </pc:sldChg>
      <pc:sldChg chg="modSp mod">
        <pc:chgData name="Shaik, Khaja {PEP}" userId="af594e6b-185c-4e25-9752-b7d60b545147" providerId="ADAL" clId="{9FF9BD8E-034D-54D7-95B7-843FED4B39B3}" dt="2026-08-31T15:31:32.460" v="162" actId="255"/>
        <pc:sldMkLst>
          <pc:docMk/>
          <pc:sldMk cId="2133374402" sldId="261"/>
        </pc:sldMkLst>
        <pc:spChg chg="mod">
          <ac:chgData name="Shaik, Khaja {PEP}" userId="af594e6b-185c-4e25-9752-b7d60b545147" providerId="ADAL" clId="{9FF9BD8E-034D-54D7-95B7-843FED4B39B3}" dt="2026-08-31T15:31:32.460" v="162" actId="255"/>
          <ac:spMkLst>
            <pc:docMk/>
            <pc:sldMk cId="2133374402" sldId="261"/>
            <ac:spMk id="5" creationId="{69FC6458-DCC4-410B-9525-2093CBA28AA5}"/>
          </ac:spMkLst>
        </pc:spChg>
      </pc:sldChg>
      <pc:sldChg chg="modSp mod">
        <pc:chgData name="Shaik, Khaja {PEP}" userId="af594e6b-185c-4e25-9752-b7d60b545147" providerId="ADAL" clId="{9FF9BD8E-034D-54D7-95B7-843FED4B39B3}" dt="2026-08-31T15:32:04.412" v="166" actId="255"/>
        <pc:sldMkLst>
          <pc:docMk/>
          <pc:sldMk cId="647646276" sldId="266"/>
        </pc:sldMkLst>
        <pc:spChg chg="mod">
          <ac:chgData name="Shaik, Khaja {PEP}" userId="af594e6b-185c-4e25-9752-b7d60b545147" providerId="ADAL" clId="{9FF9BD8E-034D-54D7-95B7-843FED4B39B3}" dt="2026-08-31T15:32:04.412" v="166" actId="255"/>
          <ac:spMkLst>
            <pc:docMk/>
            <pc:sldMk cId="647646276" sldId="266"/>
            <ac:spMk id="34" creationId="{55347E5A-D563-BA6C-942A-2A70F9B4FC2A}"/>
          </ac:spMkLst>
        </pc:spChg>
      </pc:sldChg>
      <pc:sldChg chg="addSp delSp modSp mod">
        <pc:chgData name="Shaik, Khaja {PEP}" userId="af594e6b-185c-4e25-9752-b7d60b545147" providerId="ADAL" clId="{9FF9BD8E-034D-54D7-95B7-843FED4B39B3}" dt="2026-09-01T04:18:53.411" v="278" actId="1037"/>
        <pc:sldMkLst>
          <pc:docMk/>
          <pc:sldMk cId="647646276" sldId="269"/>
        </pc:sldMkLst>
        <pc:picChg chg="add mod">
          <ac:chgData name="Shaik, Khaja {PEP}" userId="af594e6b-185c-4e25-9752-b7d60b545147" providerId="ADAL" clId="{9FF9BD8E-034D-54D7-95B7-843FED4B39B3}" dt="2026-09-01T04:18:53.411" v="278" actId="1037"/>
          <ac:picMkLst>
            <pc:docMk/>
            <pc:sldMk cId="647646276" sldId="269"/>
            <ac:picMk id="6" creationId="{19C349E9-3075-27FA-828B-41A177786B7E}"/>
          </ac:picMkLst>
        </pc:picChg>
        <pc:picChg chg="del">
          <ac:chgData name="Shaik, Khaja {PEP}" userId="af594e6b-185c-4e25-9752-b7d60b545147" providerId="ADAL" clId="{9FF9BD8E-034D-54D7-95B7-843FED4B39B3}" dt="2026-09-01T04:18:32.810" v="268" actId="21"/>
          <ac:picMkLst>
            <pc:docMk/>
            <pc:sldMk cId="647646276" sldId="269"/>
            <ac:picMk id="33" creationId="{08F44D50-DA40-A5E1-F5EC-231AD138E344}"/>
          </ac:picMkLst>
        </pc:picChg>
      </pc:sldChg>
      <pc:sldChg chg="modSp mod">
        <pc:chgData name="Shaik, Khaja {PEP}" userId="af594e6b-185c-4e25-9752-b7d60b545147" providerId="ADAL" clId="{9FF9BD8E-034D-54D7-95B7-843FED4B39B3}" dt="2026-08-31T15:32:12.214" v="167" actId="255"/>
        <pc:sldMkLst>
          <pc:docMk/>
          <pc:sldMk cId="647646276" sldId="272"/>
        </pc:sldMkLst>
        <pc:spChg chg="mod">
          <ac:chgData name="Shaik, Khaja {PEP}" userId="af594e6b-185c-4e25-9752-b7d60b545147" providerId="ADAL" clId="{9FF9BD8E-034D-54D7-95B7-843FED4B39B3}" dt="2026-08-31T15:32:12.214" v="167" actId="255"/>
          <ac:spMkLst>
            <pc:docMk/>
            <pc:sldMk cId="647646276" sldId="272"/>
            <ac:spMk id="43" creationId="{FE62D6E6-F0BF-F341-BEA2-8649FA7B471F}"/>
          </ac:spMkLst>
        </pc:spChg>
      </pc:sldChg>
      <pc:sldChg chg="addSp delSp modSp mod">
        <pc:chgData name="Shaik, Khaja {PEP}" userId="af594e6b-185c-4e25-9752-b7d60b545147" providerId="ADAL" clId="{9FF9BD8E-034D-54D7-95B7-843FED4B39B3}" dt="2026-09-01T10:17:38.204" v="347" actId="1036"/>
        <pc:sldMkLst>
          <pc:docMk/>
          <pc:sldMk cId="1285369431" sldId="275"/>
        </pc:sldMkLst>
        <pc:spChg chg="add mod">
          <ac:chgData name="Shaik, Khaja {PEP}" userId="af594e6b-185c-4e25-9752-b7d60b545147" providerId="ADAL" clId="{9FF9BD8E-034D-54D7-95B7-843FED4B39B3}" dt="2026-09-01T10:17:01.098" v="302" actId="14100"/>
          <ac:spMkLst>
            <pc:docMk/>
            <pc:sldMk cId="1285369431" sldId="275"/>
            <ac:spMk id="2" creationId="{3E583977-E391-F06E-FF2E-35A38855AE3D}"/>
          </ac:spMkLst>
        </pc:spChg>
        <pc:spChg chg="add mod">
          <ac:chgData name="Shaik, Khaja {PEP}" userId="af594e6b-185c-4e25-9752-b7d60b545147" providerId="ADAL" clId="{9FF9BD8E-034D-54D7-95B7-843FED4B39B3}" dt="2026-08-31T15:19:45.807" v="49" actId="20577"/>
          <ac:spMkLst>
            <pc:docMk/>
            <pc:sldMk cId="1285369431" sldId="275"/>
            <ac:spMk id="4" creationId="{60142A69-DF0B-C17F-1D28-F8E4D376B3DE}"/>
          </ac:spMkLst>
        </pc:spChg>
        <pc:spChg chg="add mod">
          <ac:chgData name="Shaik, Khaja {PEP}" userId="af594e6b-185c-4e25-9752-b7d60b545147" providerId="ADAL" clId="{9FF9BD8E-034D-54D7-95B7-843FED4B39B3}" dt="2026-08-31T15:31:10.487" v="158" actId="255"/>
          <ac:spMkLst>
            <pc:docMk/>
            <pc:sldMk cId="1285369431" sldId="275"/>
            <ac:spMk id="5" creationId="{E33D3D80-A390-19C4-05B0-E85992994BF1}"/>
          </ac:spMkLst>
        </pc:spChg>
        <pc:picChg chg="del mod">
          <ac:chgData name="Shaik, Khaja {PEP}" userId="af594e6b-185c-4e25-9752-b7d60b545147" providerId="ADAL" clId="{9FF9BD8E-034D-54D7-95B7-843FED4B39B3}" dt="2026-08-31T15:18:31.287" v="4" actId="478"/>
          <ac:picMkLst>
            <pc:docMk/>
            <pc:sldMk cId="1285369431" sldId="275"/>
            <ac:picMk id="3" creationId="{945966D8-38B4-091D-FE2F-8AB34DB83F3B}"/>
          </ac:picMkLst>
        </pc:picChg>
        <pc:picChg chg="add del mod">
          <ac:chgData name="Shaik, Khaja {PEP}" userId="af594e6b-185c-4e25-9752-b7d60b545147" providerId="ADAL" clId="{9FF9BD8E-034D-54D7-95B7-843FED4B39B3}" dt="2026-09-01T10:14:05.200" v="285" actId="478"/>
          <ac:picMkLst>
            <pc:docMk/>
            <pc:sldMk cId="1285369431" sldId="275"/>
            <ac:picMk id="6" creationId="{38154F94-67F8-644D-AFFF-CB37D7F9DD21}"/>
          </ac:picMkLst>
        </pc:picChg>
        <pc:picChg chg="add mod">
          <ac:chgData name="Shaik, Khaja {PEP}" userId="af594e6b-185c-4e25-9752-b7d60b545147" providerId="ADAL" clId="{9FF9BD8E-034D-54D7-95B7-843FED4B39B3}" dt="2026-09-01T10:17:38.204" v="347" actId="1036"/>
          <ac:picMkLst>
            <pc:docMk/>
            <pc:sldMk cId="1285369431" sldId="275"/>
            <ac:picMk id="7" creationId="{26010F8D-557E-14C8-CD2B-B6695BB45144}"/>
          </ac:picMkLst>
        </pc:picChg>
        <pc:picChg chg="add mod">
          <ac:chgData name="Shaik, Khaja {PEP}" userId="af594e6b-185c-4e25-9752-b7d60b545147" providerId="ADAL" clId="{9FF9BD8E-034D-54D7-95B7-843FED4B39B3}" dt="2026-09-01T10:17:29.671" v="325" actId="208"/>
          <ac:picMkLst>
            <pc:docMk/>
            <pc:sldMk cId="1285369431" sldId="275"/>
            <ac:picMk id="9" creationId="{A422CF4D-2998-346D-B141-504037A6E39E}"/>
          </ac:picMkLst>
        </pc:picChg>
      </pc:sldChg>
      <pc:sldChg chg="del">
        <pc:chgData name="Shaik, Khaja {PEP}" userId="af594e6b-185c-4e25-9752-b7d60b545147" providerId="ADAL" clId="{9FF9BD8E-034D-54D7-95B7-843FED4B39B3}" dt="2026-08-31T15:31:23.160" v="160" actId="2696"/>
        <pc:sldMkLst>
          <pc:docMk/>
          <pc:sldMk cId="3439408964" sldId="277"/>
        </pc:sldMkLst>
      </pc:sldChg>
      <pc:sldChg chg="delSp modSp add mod">
        <pc:chgData name="Shaik, Khaja {PEP}" userId="af594e6b-185c-4e25-9752-b7d60b545147" providerId="ADAL" clId="{9FF9BD8E-034D-54D7-95B7-843FED4B39B3}" dt="2026-08-31T15:34:13.751" v="267" actId="20577"/>
        <pc:sldMkLst>
          <pc:docMk/>
          <pc:sldMk cId="2981787337" sldId="278"/>
        </pc:sldMkLst>
        <pc:spChg chg="mod">
          <ac:chgData name="Shaik, Khaja {PEP}" userId="af594e6b-185c-4e25-9752-b7d60b545147" providerId="ADAL" clId="{9FF9BD8E-034D-54D7-95B7-843FED4B39B3}" dt="2026-08-31T15:34:13.751" v="267" actId="20577"/>
          <ac:spMkLst>
            <pc:docMk/>
            <pc:sldMk cId="2981787337" sldId="278"/>
            <ac:spMk id="5" creationId="{8DC4E0AC-716E-4B79-9FE6-3216FCDE540B}"/>
          </ac:spMkLst>
        </pc:spChg>
        <pc:spChg chg="del mod">
          <ac:chgData name="Shaik, Khaja {PEP}" userId="af594e6b-185c-4e25-9752-b7d60b545147" providerId="ADAL" clId="{9FF9BD8E-034D-54D7-95B7-843FED4B39B3}" dt="2026-08-31T15:33:02.613" v="176"/>
          <ac:spMkLst>
            <pc:docMk/>
            <pc:sldMk cId="2981787337" sldId="278"/>
            <ac:spMk id="6" creationId="{F7C9E912-0427-977F-4714-892F607C8FD2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9" creationId="{D9BC6CA4-DD08-4A28-8752-BFEC53457482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0" creationId="{95F4184A-B458-4EDC-B98F-96A938AB54FC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1" creationId="{AE0AEDC0-A987-46AC-ABD9-01586469BC69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4" creationId="{920E55D7-013A-CC80-EAE1-AC4E06A39D93}"/>
          </ac:spMkLst>
        </pc:spChg>
        <pc:spChg chg="mod">
          <ac:chgData name="Shaik, Khaja {PEP}" userId="af594e6b-185c-4e25-9752-b7d60b545147" providerId="ADAL" clId="{9FF9BD8E-034D-54D7-95B7-843FED4B39B3}" dt="2026-08-31T15:31:40.406" v="164" actId="14100"/>
          <ac:spMkLst>
            <pc:docMk/>
            <pc:sldMk cId="2981787337" sldId="278"/>
            <ac:spMk id="15" creationId="{0757345F-0CB1-716D-F5BE-2A9D67AF7C04}"/>
          </ac:spMkLst>
        </pc:spChg>
        <pc:picChg chg="mod">
          <ac:chgData name="Shaik, Khaja {PEP}" userId="af594e6b-185c-4e25-9752-b7d60b545147" providerId="ADAL" clId="{9FF9BD8E-034D-54D7-95B7-843FED4B39B3}" dt="2026-08-31T15:32:57.337" v="174" actId="14100"/>
          <ac:picMkLst>
            <pc:docMk/>
            <pc:sldMk cId="2981787337" sldId="278"/>
            <ac:picMk id="26" creationId="{B7131605-39F0-046D-8A24-B282A7E4C9C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0:45–3:15. Establish the distinction; do not survey frameworks. Selection signal: one narrow production problem, not a grand framework claim.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README.md</a:t>
            </a:r>
            <a:r>
              <a:rPr dirty="0"/>
              <a:t> — Context and Problem Statement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state-only vs evidence-governed recovery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0:45–3:15. Establish the distinction; do not survey frameworks. Selection signal: one narrow production problem, not a grand framework claim.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README.md</a:t>
            </a:r>
            <a:r>
              <a:rPr dirty="0"/>
              <a:t> — Context and Problem Statement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state-only vs evidence-governed recovery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5:45–8:15. Define the minimum evidence envelope. Avoid claiming that every tool result deserves one; emphasize consequential boundaries.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models.py</a:t>
            </a:r>
            <a:r>
              <a:rPr dirty="0"/>
              <a:t> — </a:t>
            </a:r>
            <a:r>
              <a:rPr dirty="0" err="1"/>
              <a:t>EvidenceEnvelope</a:t>
            </a:r>
            <a:r>
              <a:rPr dirty="0"/>
              <a:t> and </a:t>
            </a:r>
            <a:r>
              <a:rPr dirty="0" err="1"/>
              <a:t>VerificationRecord</a:t>
            </a:r>
            <a:endParaRPr dirty="0"/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durable envelope, verification, and resource records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Capability review, not a hands-on product benchmark. The comparison identifies documented strengths and the domain semantics EGAH adds; it does not claim these tools cannot be extended.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</a:t>
            </a:r>
            <a:r>
              <a:rPr dirty="0" err="1"/>
              <a:t>docs.langchain.com</a:t>
            </a:r>
            <a:r>
              <a:rPr dirty="0"/>
              <a:t>/</a:t>
            </a:r>
            <a:r>
              <a:rPr dirty="0" err="1"/>
              <a:t>oss</a:t>
            </a:r>
            <a:r>
              <a:rPr dirty="0"/>
              <a:t>/python/</a:t>
            </a:r>
            <a:r>
              <a:rPr dirty="0" err="1"/>
              <a:t>langgraph</a:t>
            </a:r>
            <a:r>
              <a:rPr dirty="0"/>
              <a:t>/persistence — checkpoints, replay, fault tolerance</a:t>
            </a:r>
          </a:p>
          <a:p>
            <a:r>
              <a:rPr dirty="0"/>
              <a:t>- https://</a:t>
            </a:r>
            <a:r>
              <a:rPr dirty="0" err="1"/>
              <a:t>docs.temporal.io</a:t>
            </a:r>
            <a:r>
              <a:rPr dirty="0"/>
              <a:t>/temporal — durable execution and event history</a:t>
            </a:r>
          </a:p>
          <a:p>
            <a:r>
              <a:rPr dirty="0"/>
              <a:t>- https://</a:t>
            </a:r>
            <a:r>
              <a:rPr dirty="0" err="1"/>
              <a:t>docs.dapr.io</a:t>
            </a:r>
            <a:r>
              <a:rPr dirty="0"/>
              <a:t>/developing-applications/building-blocks/workflow/workflow-overview/ — durable workflows, signed history and history propagation</a:t>
            </a:r>
          </a:p>
          <a:p>
            <a:r>
              <a:rPr dirty="0"/>
              <a:t>- https://</a:t>
            </a:r>
            <a:r>
              <a:rPr dirty="0" err="1"/>
              <a:t>docs.prefect.io</a:t>
            </a:r>
            <a:r>
              <a:rPr dirty="0"/>
              <a:t>/v3/concepts/flows — flow state, retries and observability</a:t>
            </a:r>
          </a:p>
          <a:p>
            <a:r>
              <a:rPr dirty="0"/>
              <a:t>- https://</a:t>
            </a:r>
            <a:r>
              <a:rPr dirty="0" err="1"/>
              <a:t>opentelemetry.io</a:t>
            </a:r>
            <a:r>
              <a:rPr dirty="0"/>
              <a:t>/docs/concepts/signals/ — traces, metrics, logs and baggage</a:t>
            </a:r>
          </a:p>
          <a:p>
            <a:r>
              <a:rPr dirty="0"/>
              <a:t>- https://</a:t>
            </a:r>
            <a:r>
              <a:rPr dirty="0" err="1"/>
              <a:t>langfuse.com</a:t>
            </a:r>
            <a:r>
              <a:rPr dirty="0"/>
              <a:t>/docs/observability/overview — LLM tracing, evaluations, latency and cost</a:t>
            </a:r>
          </a:p>
          <a:p>
            <a:r>
              <a:rPr dirty="0"/>
              <a:t>- https://</a:t>
            </a:r>
            <a:r>
              <a:rPr dirty="0" err="1"/>
              <a:t>arize.com</a:t>
            </a:r>
            <a:r>
              <a:rPr dirty="0"/>
              <a:t>/docs/phoenix/tracing/tutorial — open-source tracing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an operating-model comparison, not measured production productivity. Instrument a pilot for mean time to identify the invalid dependency, operator touch time, repeat-work ratio, audit-response time, and false-safe-resume rate.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run/evidence/verification/resource records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explicit revalidation plan and reasons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/resources/documents/</a:t>
            </a:r>
            <a:r>
              <a:rPr dirty="0" err="1"/>
              <a:t>cfp</a:t>
            </a:r>
            <a:r>
              <a:rPr dirty="0"/>
              <a:t>/</a:t>
            </a:r>
            <a:r>
              <a:rPr dirty="0" err="1"/>
              <a:t>egah_review_preparation_guide.md</a:t>
            </a:r>
            <a:r>
              <a:rPr dirty="0"/>
              <a:t> — operational value and pilot boundary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roadmap item follows directly from a prototype limitation observed in the current code and tests.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models.py</a:t>
            </a:r>
            <a:r>
              <a:rPr dirty="0"/>
              <a:t> — current envelope schema and validity logic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separate SQLite commits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plan generation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/resources/documents/</a:t>
            </a:r>
            <a:r>
              <a:rPr dirty="0" err="1"/>
              <a:t>cfp</a:t>
            </a:r>
            <a:r>
              <a:rPr dirty="0"/>
              <a:t>/</a:t>
            </a:r>
            <a:r>
              <a:rPr dirty="0" err="1"/>
              <a:t>egah_review_preparation_guide.md</a:t>
            </a:r>
            <a:r>
              <a:rPr dirty="0"/>
              <a:t> — production extensions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65F65-17B5-405D-93D4-0ED9173EB2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F29F6-159D-4DD9-90B8-BF257376E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A232E-AB8F-4B85-944E-C7CD79F048E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B672D-AD3A-4B95-9443-5121994E5AC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3B53B-85A9-4F59-87D2-8FE61CAF4A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18E1B-C629-4712-A6E3-4936DA666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F8355-CDF6-4CFC-8846-102EE0B53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842AB-6FEB-48E5-A460-66C8A43B31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BBA6F-FBB9-4EFB-B0F2-8C61C897B2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9189F-1E4A-4D9F-A11F-278626277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E993A-C29E-4F83-90BD-A1A3D535D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8AB84-0CFC-4070-9606-A7FC65C61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DE99D-8979-4C90-8AF5-137BEFED4C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8CEE6-DE87-4331-B295-84ED679B31B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45465-7C56-4AFD-A447-F47BBD129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9D91A-798F-42F3-A579-A34C617A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65BBE-B3A8-4C80-A632-86A47E23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56F83-6659-4EF8-BB20-0A271728A61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64480-F197-4FD0-AE6D-1EFF918526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D4059-3B28-464A-AE38-05C188B05D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6E317-1433-4453-A270-FB66F6E703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1CB3-8889-4483-933D-1FF521071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7CC93-CFE2-4E7B-A920-1D20827BA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34C8D8-7924-4BB6-88DA-970BDF8AF44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70554-8FB2-4304-9B64-E733327DA43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45BFDB-5877-4ADB-90D1-BB3E6F6DDA9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535186-5A9B-4A59-8CB1-DD7D5B49FC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D0B345-53CB-4CC4-9AE0-8ACD0FC7F5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792B08-CCCD-4D3A-82EC-3B57F1B1B6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A1293-8C35-41B9-B931-E1D35C2B3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EB2A3-47DD-46A0-9413-29035400E7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F1FDE-A824-4F1D-BCE2-663E759A33B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06BF4-282D-418A-864C-73B013B9A1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4BB840-1A0A-4FB6-A2FC-45208AC096B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A3E2E-24F9-4DB9-83A9-E9AFA4ADBB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9ADF3-8A86-43BB-93E6-8E2E5B5B61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5ED0F-9137-4680-8B1E-BEA5A76CF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B507-3089-450B-A20A-FA6851E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4F7D1D-7CCD-4B43-B21A-A7C3A270C8B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5122E-9210-4B28-BDD5-0B57F2991A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4B6DA-4B35-4565-921A-54700C6DA7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172684-9438-4124-AE95-8E2BEB0F5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90DEA-B04D-4AB8-918F-120C0D4AC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E15EC6-97C6-4F77-A547-2E6978E21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BA7909-38C4-427E-8948-2734F1EC57B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2082A9-1B74-446D-83E5-6D423EBAD0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760C-0B50-4DC6-B6D1-7732AF1814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D19F57-9469-4A93-8E06-474AEC4771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6F084-9957-44F2-A1B5-74B699ED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87CF1-389F-4870-9636-3B5B7FEEE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A079-CA3E-4FA1-9C84-443FCC29DC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7B4D2-B526-4E48-8CFB-0D2E0EA24EC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F3D08-55FF-4E6F-8557-B8399C421D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EC19C7-F580-4430-9ECB-ADA2EA4A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AB9404-E724-4DD2-9AB6-3012ADF18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16762-DED2-4F1E-B227-A5EE7C237D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56852-97A7-4D79-9BD6-23AAA41759F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2A05B-E1A9-4B0F-B26B-460CE2448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350C2A-7A3A-4A53-9650-ABCFAB73D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B4D7A-1633-4236-8BD4-46DCBE6E0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CD11E-25CB-4BEE-A1E7-B2C492AA34A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6F6AC-E3BF-4586-AC4E-FC7B70B0232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51C55-EEBA-4802-9AFD-53376C4F8C0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294BEB-B51A-4807-B67A-63120A6C6974}"/>
              </a:ext>
            </a:extLst>
          </p:cNvPr>
          <p:cNvSpPr>
            <a:spLocks noGrp="1"/>
          </p:cNvSpPr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4EEAF-82C3-4FDF-AFAF-1756071ECA49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982661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3800" b="1">
                <a:solidFill>
                  <a:srgbClr val="FFFFFF"/>
                </a:solidFill>
              </a:defRPr>
            </a:pPr>
            <a:r>
              <a:t>Evidence-Governed Agent Harnesses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90F4D-5F84-450E-8B39-66854ADFDD4E}"/>
              </a:ext>
            </a:extLst>
          </p:cNvPr>
          <p:cNvSpPr>
            <a:spLocks noGrp="1"/>
          </p:cNvSpPr>
          <p:nvPr/>
        </p:nvSpPr>
        <p:spPr>
          <a:xfrm>
            <a:off x="1280160" y="2102048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800" b="0">
                <a:solidFill>
                  <a:srgbClr val="2E86C1"/>
                </a:solidFill>
              </a:defRPr>
            </a:pPr>
            <a:r>
              <a:t>Making Evidence Survive Long-Running Agent Execution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CF9C5-11CB-43B5-B2C8-D0D527CD47AC}"/>
              </a:ext>
            </a:extLst>
          </p:cNvPr>
          <p:cNvSpPr>
            <a:spLocks noGrp="1"/>
          </p:cNvSpPr>
          <p:nvPr/>
        </p:nvSpPr>
        <p:spPr>
          <a:xfrm>
            <a:off x="731519" y="3840480"/>
            <a:ext cx="9465103" cy="625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What should an agent remember after a crash at step 40 of 60?</a:t>
            </a:r>
          </a:p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Not just its state — but what it verified, what it accomplished and what it is still allowed to do.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79041-7B5A-4FFC-B8B4-3126947AEF8D}"/>
              </a:ext>
            </a:extLst>
          </p:cNvPr>
          <p:cNvSpPr>
            <a:spLocks noGrp="1"/>
          </p:cNvSpPr>
          <p:nvPr/>
        </p:nvSpPr>
        <p:spPr>
          <a:xfrm>
            <a:off x="731520" y="5303520"/>
            <a:ext cx="7680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t>Khaja Shaik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042F1-61D4-4F75-92CD-DEE6A141B3F3}"/>
              </a:ext>
            </a:extLst>
          </p:cNvPr>
          <p:cNvSpPr>
            <a:spLocks noGrp="1"/>
          </p:cNvSpPr>
          <p:nvPr/>
        </p:nvSpPr>
        <p:spPr>
          <a:xfrm>
            <a:off x="731520" y="57607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Fifth Elephant Hyderabad  |  2026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4D0FFF-FBEB-4CD5-987E-D0EB633E378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118848" cy="6711696"/>
          </a:xfrm>
          <a:prstGeom prst="rect">
            <a:avLst/>
          </a:prstGeom>
          <a:noFill/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7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6" y="0"/>
            <a:ext cx="12179284" cy="686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5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noGrp="1"/>
          </p:cNvSpPr>
          <p:nvPr/>
        </p:nvSpPr>
        <p:spPr>
          <a:xfrm>
            <a:off x="105520" y="113612"/>
            <a:ext cx="8522208" cy="781307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noGrp="1"/>
          </p:cNvSpPr>
          <p:nvPr/>
        </p:nvSpPr>
        <p:spPr>
          <a:xfrm>
            <a:off x="228600" y="163808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End-to-End Loan Journey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noGrp="1"/>
          </p:cNvSpPr>
          <p:nvPr/>
        </p:nvSpPr>
        <p:spPr>
          <a:xfrm>
            <a:off x="184890" y="6375176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DB4E3-5077-981F-35E1-4C128D77E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952" y="118872"/>
            <a:ext cx="3342348" cy="66232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EE5EDC-D8B6-2A87-7C59-5F6503896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1293678"/>
            <a:ext cx="5448300" cy="889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1F4B8D0-68A0-0A00-7400-558E76843E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360" y="2774575"/>
            <a:ext cx="5461000" cy="316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4">
            <a:extLst>
              <a:ext uri="{FF2B5EF4-FFF2-40B4-BE49-F238E27FC236}">
                <a16:creationId xmlns:a16="http://schemas.microsoft.com/office/drawing/2014/main" id="{F6845B55-337B-B641-66C4-037351CDB78A}"/>
              </a:ext>
            </a:extLst>
          </p:cNvPr>
          <p:cNvSpPr>
            <a:spLocks noGrp="1"/>
          </p:cNvSpPr>
          <p:nvPr/>
        </p:nvSpPr>
        <p:spPr>
          <a:xfrm>
            <a:off x="228600" y="2381273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rPr lang="en-US" b="1" dirty="0"/>
              <a:t>Can system safely continue with evidence information collected before crash/ restart ?..</a:t>
            </a:r>
            <a:endParaRPr b="1" dirty="0"/>
          </a:p>
        </p:txBody>
      </p:sp>
      <p:sp>
        <p:nvSpPr>
          <p:cNvPr id="21" name="TextBox 4">
            <a:extLst>
              <a:ext uri="{FF2B5EF4-FFF2-40B4-BE49-F238E27FC236}">
                <a16:creationId xmlns:a16="http://schemas.microsoft.com/office/drawing/2014/main" id="{6E3A11C7-1155-AA47-5DC4-BCFEE2E954AF}"/>
              </a:ext>
            </a:extLst>
          </p:cNvPr>
          <p:cNvSpPr>
            <a:spLocks noGrp="1"/>
          </p:cNvSpPr>
          <p:nvPr/>
        </p:nvSpPr>
        <p:spPr>
          <a:xfrm>
            <a:off x="228600" y="894919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rPr lang="en-US" b="1" dirty="0"/>
              <a:t>Customer must complete entire process successfully to receive disbursed amount.</a:t>
            </a:r>
            <a:endParaRPr b="1" dirty="0"/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0622B134-9260-7DB7-72C7-F3EBA95D242C}"/>
              </a:ext>
            </a:extLst>
          </p:cNvPr>
          <p:cNvSpPr>
            <a:spLocks noGrp="1"/>
          </p:cNvSpPr>
          <p:nvPr/>
        </p:nvSpPr>
        <p:spPr>
          <a:xfrm>
            <a:off x="228600" y="5985078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>
                <a:solidFill>
                  <a:srgbClr val="1B2A4A"/>
                </a:solidFill>
              </a:rPr>
              <a:t>                                 Execution State ≠ Evidence State : Successful State Recovery Does Not Imply Safe Agent Continuation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583977-E391-F06E-FF2E-35A38855AE3D}"/>
              </a:ext>
            </a:extLst>
          </p:cNvPr>
          <p:cNvSpPr>
            <a:spLocks noGrp="1"/>
          </p:cNvSpPr>
          <p:nvPr/>
        </p:nvSpPr>
        <p:spPr>
          <a:xfrm>
            <a:off x="0" y="10633"/>
            <a:ext cx="9276050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142A69-DF0B-C17F-1D28-F8E4D376B3DE}"/>
              </a:ext>
            </a:extLst>
          </p:cNvPr>
          <p:cNvSpPr>
            <a:spLocks noGrp="1"/>
          </p:cNvSpPr>
          <p:nvPr/>
        </p:nvSpPr>
        <p:spPr>
          <a:xfrm>
            <a:off x="277334" y="180647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Loan Journey Interruption at e-Sign stage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D3D80-A390-19C4-05B0-E85992994BF1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424058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Interest rate changed during interruption from 10.25% to 11.25%</a:t>
            </a:r>
            <a:endParaRPr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10F8D-557E-14C8-CD2B-B6695BB45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720"/>
            <a:ext cx="9276051" cy="5905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22CF4D-2998-346D-B141-504037A6E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7284" y="47843"/>
            <a:ext cx="2824716" cy="68101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85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noGrp="1"/>
          </p:cNvSpPr>
          <p:nvPr/>
        </p:nvSpPr>
        <p:spPr>
          <a:xfrm>
            <a:off x="277334" y="180647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When Resuming Execution Is Not Enough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noGrp="1"/>
          </p:cNvSpPr>
          <p:nvPr/>
        </p:nvSpPr>
        <p:spPr>
          <a:xfrm>
            <a:off x="277333" y="1136088"/>
            <a:ext cx="10188839" cy="5309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400" b="1" dirty="0">
                <a:solidFill>
                  <a:srgbClr val="1B2A4A"/>
                </a:solidFill>
              </a:rPr>
              <a:t>What traditional applications address workflow by workflow. EAGH governs consistently through a shared harness layer.</a:t>
            </a:r>
            <a:endParaRPr lang="en-IN" sz="14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>
                <a:solidFill>
                  <a:srgbClr val="1B2A4A"/>
                </a:solidFill>
              </a:rPr>
              <a:t>EGAH is run-time governance layer that persists/ensures that an AI agent resumes with valid evidence not just recovered state.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a. Durable Execution State: </a:t>
            </a:r>
            <a:r>
              <a:rPr lang="en-IN" sz="1300" dirty="0"/>
              <a:t>Where are we?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US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b. Durable Evidence State: </a:t>
            </a:r>
            <a:r>
              <a:rPr lang="en-IN" sz="1300" dirty="0"/>
              <a:t>What justifies us being here?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c. Policy / Decision Control: </a:t>
            </a:r>
            <a:r>
              <a:rPr lang="en-IN" sz="1300" dirty="0"/>
              <a:t>What are we allowed to do next?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</a:t>
            </a:r>
            <a:r>
              <a:rPr lang="en-IN" sz="1300" dirty="0"/>
              <a:t>ACT → REFRESH → ASK → ABSTAIN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ACT: </a:t>
            </a:r>
            <a:r>
              <a:rPr lang="en-IN" sz="1300" dirty="0"/>
              <a:t>Evidence is sufficient and valid; proceed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REFRESH: </a:t>
            </a:r>
            <a:r>
              <a:rPr lang="en-IN" sz="1300" dirty="0"/>
              <a:t>Evidence exists but is stale or changed; revalidate it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   ASK: </a:t>
            </a:r>
            <a:r>
              <a:rPr lang="en-IN" sz="1300" dirty="0"/>
              <a:t>Evidence is insufficient or ambiguous; seek clarification or human review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       ABSTAIN: </a:t>
            </a:r>
            <a:r>
              <a:rPr lang="en-IN" sz="1300" dirty="0"/>
              <a:t>Do not act; required evidence/capability/authorization is absent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sz="1300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noGrp="1"/>
          </p:cNvSpPr>
          <p:nvPr/>
        </p:nvSpPr>
        <p:spPr>
          <a:xfrm>
            <a:off x="455359" y="2078227"/>
            <a:ext cx="2415624" cy="725123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IN" b="1" dirty="0"/>
              <a:t>WHAT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lang="en-IN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IN" dirty="0"/>
              <a:t>State can be recovered but decision basis may not still be valid.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noGrp="1"/>
          </p:cNvSpPr>
          <p:nvPr/>
        </p:nvSpPr>
        <p:spPr>
          <a:xfrm>
            <a:off x="2967148" y="2090358"/>
            <a:ext cx="2560320" cy="725123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WHY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Evidence may expire or change while execution is interrupted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noGrp="1"/>
          </p:cNvSpPr>
          <p:nvPr/>
        </p:nvSpPr>
        <p:spPr>
          <a:xfrm>
            <a:off x="5599516" y="2106430"/>
            <a:ext cx="2560320" cy="709051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HOW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Restore and validate decision basis before continuation</a:t>
            </a:r>
            <a:r>
              <a:rPr dirty="0"/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noGrp="1"/>
          </p:cNvSpPr>
          <p:nvPr/>
        </p:nvSpPr>
        <p:spPr>
          <a:xfrm>
            <a:off x="236288" y="6374825"/>
            <a:ext cx="6836152" cy="45719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20E55D7-013A-CC80-EAE1-AC4E06A39D93}"/>
              </a:ext>
            </a:extLst>
          </p:cNvPr>
          <p:cNvSpPr>
            <a:spLocks noGrp="1"/>
          </p:cNvSpPr>
          <p:nvPr/>
        </p:nvSpPr>
        <p:spPr>
          <a:xfrm>
            <a:off x="8246234" y="2106431"/>
            <a:ext cx="2560320" cy="70905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WHERE/ WHO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AI agents &amp; long-running workflows where actions matter</a:t>
            </a:r>
            <a:r>
              <a:rPr dirty="0"/>
              <a:t>.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0757345F-0CB1-716D-F5BE-2A9D67AF7C04}"/>
              </a:ext>
            </a:extLst>
          </p:cNvPr>
          <p:cNvSpPr>
            <a:spLocks noGrp="1"/>
          </p:cNvSpPr>
          <p:nvPr/>
        </p:nvSpPr>
        <p:spPr>
          <a:xfrm>
            <a:off x="548639" y="566928"/>
            <a:ext cx="113660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WHAT is the problem? → WHY does it matter? → HOW does EGAH address it? → WHERE does it apply? → WHO needs it?.  Harness provides reusable, cross-cutting governance </a:t>
            </a:r>
            <a:endParaRPr sz="1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7131605-39F0-046D-8A24-B282A7E4C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8012" y="3016252"/>
            <a:ext cx="5145111" cy="368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787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E97DB0-CEF5-476C-954D-3BB28A4A544E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0D8485-7A74-4693-89E4-6DA12DE49F7A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C46DE-FCE6-40DF-9251-690B12A32737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C6458-DCC4-410B-9525-2093CBA28AA5}"/>
              </a:ext>
            </a:extLst>
          </p:cNvPr>
          <p:cNvSpPr>
            <a:spLocks noGrp="1"/>
          </p:cNvSpPr>
          <p:nvPr/>
        </p:nvSpPr>
        <p:spPr>
          <a:xfrm>
            <a:off x="1024128" y="545592"/>
            <a:ext cx="683033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sz="1200" dirty="0"/>
              <a:t>End-to-end </a:t>
            </a:r>
            <a:r>
              <a:rPr lang="en-IN" sz="1200" dirty="0">
                <a:solidFill>
                  <a:srgbClr val="D6EAF8"/>
                </a:solidFill>
              </a:rPr>
              <a:t>evidence-governed control layer between intelligent decision-making and consequential action</a:t>
            </a:r>
            <a:endParaRPr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D191C-9F4C-4F30-90CD-F58B24D5D192}"/>
              </a:ext>
            </a:extLst>
          </p:cNvPr>
          <p:cNvSpPr>
            <a:spLocks noGrp="1"/>
          </p:cNvSpPr>
          <p:nvPr/>
        </p:nvSpPr>
        <p:spPr>
          <a:xfrm>
            <a:off x="225088" y="6385224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4585D6-FAF1-4AE4-A342-EF388A20E46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7BD812F-A468-507B-F981-861CBC7333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37" y="1053986"/>
            <a:ext cx="3514192" cy="52857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C494654-E2D3-D8DC-6C0D-BE97051CD919}"/>
              </a:ext>
            </a:extLst>
          </p:cNvPr>
          <p:cNvSpPr>
            <a:spLocks noGrp="1"/>
          </p:cNvSpPr>
          <p:nvPr/>
        </p:nvSpPr>
        <p:spPr>
          <a:xfrm rot="5400000" flipV="1">
            <a:off x="5927951" y="3483301"/>
            <a:ext cx="5037616" cy="45719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303365A-EFC3-BEE2-0DF8-7ED5F360AA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65" y="1015193"/>
            <a:ext cx="7772400" cy="4313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FDF6CA9-9503-EECB-0328-DAE13752F14F}"/>
              </a:ext>
            </a:extLst>
          </p:cNvPr>
          <p:cNvSpPr>
            <a:spLocks noGrp="1"/>
          </p:cNvSpPr>
          <p:nvPr/>
        </p:nvSpPr>
        <p:spPr>
          <a:xfrm>
            <a:off x="167419" y="5512703"/>
            <a:ext cx="2560320" cy="726866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EMBEDDED SDK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/>
              <a:t>Python library </a:t>
            </a:r>
            <a:r>
              <a:rPr lang="en-IN" dirty="0"/>
              <a:t>around </a:t>
            </a:r>
            <a:r>
              <a:rPr dirty="0"/>
              <a:t>consequential nodes;</a:t>
            </a:r>
            <a:r>
              <a:rPr lang="en-US" dirty="0"/>
              <a:t> </a:t>
            </a:r>
            <a:r>
              <a:rPr dirty="0"/>
              <a:t>store + decide.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FB771D-79E4-6E2C-344A-1A6E445F03D1}"/>
              </a:ext>
            </a:extLst>
          </p:cNvPr>
          <p:cNvSpPr>
            <a:spLocks noGrp="1"/>
          </p:cNvSpPr>
          <p:nvPr/>
        </p:nvSpPr>
        <p:spPr>
          <a:xfrm>
            <a:off x="2910619" y="5513585"/>
            <a:ext cx="2560320" cy="726867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RUNTIME HOOKS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 err="1"/>
              <a:t>LangGraph</a:t>
            </a:r>
            <a:r>
              <a:rPr dirty="0"/>
              <a:t>, Temporal,</a:t>
            </a:r>
            <a:r>
              <a:rPr lang="en-US" dirty="0"/>
              <a:t> </a:t>
            </a:r>
            <a:r>
              <a:rPr dirty="0" err="1"/>
              <a:t>Dapr</a:t>
            </a:r>
            <a:r>
              <a:rPr dirty="0"/>
              <a:t> or Prefect; SQL/NoSQL evidence stores.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CA930B8-6DC0-AA2E-50DF-FD928265C69F}"/>
              </a:ext>
            </a:extLst>
          </p:cNvPr>
          <p:cNvSpPr>
            <a:spLocks noGrp="1"/>
          </p:cNvSpPr>
          <p:nvPr/>
        </p:nvSpPr>
        <p:spPr>
          <a:xfrm>
            <a:off x="5675617" y="5487282"/>
            <a:ext cx="2560320" cy="72686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SERVICE + EVENTS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/>
              <a:t>REST/</a:t>
            </a:r>
            <a:r>
              <a:rPr dirty="0" err="1"/>
              <a:t>gRPC</a:t>
            </a:r>
            <a:r>
              <a:rPr dirty="0"/>
              <a:t>; </a:t>
            </a:r>
            <a:r>
              <a:rPr dirty="0" err="1"/>
              <a:t>OTel</a:t>
            </a:r>
            <a:r>
              <a:rPr dirty="0"/>
              <a:t> export;</a:t>
            </a:r>
            <a:r>
              <a:rPr lang="en-US" dirty="0"/>
              <a:t> </a:t>
            </a:r>
            <a:r>
              <a:rPr dirty="0"/>
              <a:t>OPA/Cedar; bureau, </a:t>
            </a:r>
            <a:r>
              <a:rPr dirty="0" err="1"/>
              <a:t>KYC,fraud</a:t>
            </a:r>
            <a:r>
              <a:rPr dirty="0"/>
              <a:t> and pricing adapters.</a:t>
            </a:r>
          </a:p>
        </p:txBody>
      </p:sp>
    </p:spTree>
    <p:extLst>
      <p:ext uri="{BB962C8B-B14F-4D97-AF65-F5344CB8AC3E}">
        <p14:creationId xmlns:p14="http://schemas.microsoft.com/office/powerpoint/2010/main" val="2133374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2EEDC2-4563-4137-AEA8-BECD75FEA5E9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698831-B365-4B7A-A24A-7DCE0B42DD5D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D1E93-264B-4AFB-899C-36278D72E090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lang="en-US" dirty="0"/>
              <a:t>Observability vs EGAH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BC9C41-1897-4148-A16E-0460FF66508D}"/>
              </a:ext>
            </a:extLst>
          </p:cNvPr>
          <p:cNvSpPr>
            <a:spLocks noGrp="1"/>
          </p:cNvSpPr>
          <p:nvPr/>
        </p:nvSpPr>
        <p:spPr>
          <a:xfrm>
            <a:off x="288885" y="2132241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Primary question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B7836F-9C4D-4DDD-B89F-3639E483716C}"/>
              </a:ext>
            </a:extLst>
          </p:cNvPr>
          <p:cNvSpPr>
            <a:spLocks noGrp="1"/>
          </p:cNvSpPr>
          <p:nvPr/>
        </p:nvSpPr>
        <p:spPr>
          <a:xfrm>
            <a:off x="1715114" y="2124149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What happened ?.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45AF4C-CAD0-4BA1-AB5B-0A0E0F7F2ED9}"/>
              </a:ext>
            </a:extLst>
          </p:cNvPr>
          <p:cNvSpPr>
            <a:spLocks noGrp="1"/>
          </p:cNvSpPr>
          <p:nvPr/>
        </p:nvSpPr>
        <p:spPr>
          <a:xfrm>
            <a:off x="288885" y="264430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Focus</a:t>
            </a:r>
            <a:endParaRPr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72A0C82-A9E0-4CE4-924F-77E85A8D6E54}"/>
              </a:ext>
            </a:extLst>
          </p:cNvPr>
          <p:cNvSpPr>
            <a:spLocks noGrp="1"/>
          </p:cNvSpPr>
          <p:nvPr/>
        </p:nvSpPr>
        <p:spPr>
          <a:xfrm>
            <a:off x="1715114" y="2636213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Execution visibility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E27B25-D286-41B1-8D71-29CBCCEA2D1D}"/>
              </a:ext>
            </a:extLst>
          </p:cNvPr>
          <p:cNvSpPr>
            <a:spLocks noGrp="1"/>
          </p:cNvSpPr>
          <p:nvPr/>
        </p:nvSpPr>
        <p:spPr>
          <a:xfrm>
            <a:off x="288885" y="3156369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Tracks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549B60-876F-4129-83A9-007F78A14D87}"/>
              </a:ext>
            </a:extLst>
          </p:cNvPr>
          <p:cNvSpPr>
            <a:spLocks noGrp="1"/>
          </p:cNvSpPr>
          <p:nvPr/>
        </p:nvSpPr>
        <p:spPr>
          <a:xfrm>
            <a:off x="1715115" y="3148277"/>
            <a:ext cx="2055774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Logs, traces, metrics, events</a:t>
            </a:r>
            <a:endParaRPr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5C0E510-C5DA-4EF7-A4A5-02B02D89483F}"/>
              </a:ext>
            </a:extLst>
          </p:cNvPr>
          <p:cNvSpPr>
            <a:spLocks noGrp="1"/>
          </p:cNvSpPr>
          <p:nvPr/>
        </p:nvSpPr>
        <p:spPr>
          <a:xfrm>
            <a:off x="288885" y="3668433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After a crash</a:t>
            </a:r>
            <a:endParaRPr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922898-DEDE-4B67-AF6B-BBA4EA38D5F4}"/>
              </a:ext>
            </a:extLst>
          </p:cNvPr>
          <p:cNvSpPr>
            <a:spLocks noGrp="1"/>
          </p:cNvSpPr>
          <p:nvPr/>
        </p:nvSpPr>
        <p:spPr>
          <a:xfrm>
            <a:off x="1715113" y="3660341"/>
            <a:ext cx="2055774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Where did workflow stop?.</a:t>
            </a:r>
            <a:endParaRPr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E44ED2-2083-4B68-93CA-14FE9EEBF7C6}"/>
              </a:ext>
            </a:extLst>
          </p:cNvPr>
          <p:cNvSpPr>
            <a:spLocks noGrp="1"/>
          </p:cNvSpPr>
          <p:nvPr/>
        </p:nvSpPr>
        <p:spPr>
          <a:xfrm>
            <a:off x="288885" y="4180497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Detects</a:t>
            </a: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7AA80C3-2330-4B04-AFF6-7878C4C8B3D4}"/>
              </a:ext>
            </a:extLst>
          </p:cNvPr>
          <p:cNvSpPr>
            <a:spLocks noGrp="1"/>
          </p:cNvSpPr>
          <p:nvPr/>
        </p:nvSpPr>
        <p:spPr>
          <a:xfrm>
            <a:off x="1715114" y="4172405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Failures and anomalies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150238-A2DB-4D7F-BAB1-866F28EFD7CC}"/>
              </a:ext>
            </a:extLst>
          </p:cNvPr>
          <p:cNvSpPr>
            <a:spLocks noGrp="1"/>
          </p:cNvSpPr>
          <p:nvPr/>
        </p:nvSpPr>
        <p:spPr>
          <a:xfrm>
            <a:off x="288885" y="4692561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Recovery role</a:t>
            </a:r>
            <a:endParaRPr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3E760A0-1F8E-4142-8629-B7C168DD646A}"/>
              </a:ext>
            </a:extLst>
          </p:cNvPr>
          <p:cNvSpPr>
            <a:spLocks noGrp="1"/>
          </p:cNvSpPr>
          <p:nvPr/>
        </p:nvSpPr>
        <p:spPr>
          <a:xfrm>
            <a:off x="1715114" y="4684469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Helps diagnose and restore</a:t>
            </a:r>
            <a:endParaRPr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5145591-A8E1-4C31-B667-27A8AA1E5424}"/>
              </a:ext>
            </a:extLst>
          </p:cNvPr>
          <p:cNvSpPr>
            <a:spLocks noGrp="1"/>
          </p:cNvSpPr>
          <p:nvPr/>
        </p:nvSpPr>
        <p:spPr>
          <a:xfrm>
            <a:off x="288885" y="520462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Output</a:t>
            </a:r>
            <a:endParaRPr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E2EB09A-21D0-4940-AC4C-2823E2592574}"/>
              </a:ext>
            </a:extLst>
          </p:cNvPr>
          <p:cNvSpPr>
            <a:spLocks noGrp="1"/>
          </p:cNvSpPr>
          <p:nvPr/>
        </p:nvSpPr>
        <p:spPr>
          <a:xfrm>
            <a:off x="1715114" y="5196533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Insight/ Visibility</a:t>
            </a:r>
            <a:endParaRPr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364F65-C1C1-4B72-A25C-76A713A8C272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8C161-3687-4BCE-BADA-6272DC21A4A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98FEAB1-3552-2EEC-BBAC-D6A3332EB37F}"/>
              </a:ext>
            </a:extLst>
          </p:cNvPr>
          <p:cNvSpPr>
            <a:spLocks noGrp="1"/>
          </p:cNvSpPr>
          <p:nvPr/>
        </p:nvSpPr>
        <p:spPr>
          <a:xfrm>
            <a:off x="288885" y="161532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Type</a:t>
            </a:r>
            <a:endParaRPr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BBCDCF8-41B4-91B6-4770-8004A9ECFEB6}"/>
              </a:ext>
            </a:extLst>
          </p:cNvPr>
          <p:cNvSpPr>
            <a:spLocks noGrp="1"/>
          </p:cNvSpPr>
          <p:nvPr/>
        </p:nvSpPr>
        <p:spPr>
          <a:xfrm>
            <a:off x="1715113" y="1609981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Observability</a:t>
            </a:r>
            <a:endParaRPr dirty="0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F324684-4B93-0F4B-10C5-93FD217310AE}"/>
              </a:ext>
            </a:extLst>
          </p:cNvPr>
          <p:cNvSpPr>
            <a:spLocks noGrp="1"/>
          </p:cNvSpPr>
          <p:nvPr/>
        </p:nvSpPr>
        <p:spPr>
          <a:xfrm>
            <a:off x="3819038" y="160998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EGAH</a:t>
            </a:r>
            <a:endParaRPr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B3849C-3961-D9A6-E570-63AA1E009C45}"/>
              </a:ext>
            </a:extLst>
          </p:cNvPr>
          <p:cNvSpPr>
            <a:spLocks noGrp="1"/>
          </p:cNvSpPr>
          <p:nvPr/>
        </p:nvSpPr>
        <p:spPr>
          <a:xfrm>
            <a:off x="3819039" y="2147107"/>
            <a:ext cx="2581761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Can we safely continue ?.</a:t>
            </a:r>
            <a:endParaRPr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95A938F7-9A7C-E426-68E1-8557A0B09FAF}"/>
              </a:ext>
            </a:extLst>
          </p:cNvPr>
          <p:cNvSpPr>
            <a:spLocks noGrp="1"/>
          </p:cNvSpPr>
          <p:nvPr/>
        </p:nvSpPr>
        <p:spPr>
          <a:xfrm>
            <a:off x="3819039" y="265917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Evidence-governed action</a:t>
            </a:r>
            <a:endParaRPr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81332A8-DAF2-2908-4823-C83C1353575D}"/>
              </a:ext>
            </a:extLst>
          </p:cNvPr>
          <p:cNvSpPr>
            <a:spLocks noGrp="1"/>
          </p:cNvSpPr>
          <p:nvPr/>
        </p:nvSpPr>
        <p:spPr>
          <a:xfrm>
            <a:off x="3810948" y="3171235"/>
            <a:ext cx="258176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50" dirty="0"/>
              <a:t>Evidence, validity, provenance</a:t>
            </a:r>
            <a:endParaRPr sz="1150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3EFB829-ABDD-D58E-6CC2-5B78B53B78C6}"/>
              </a:ext>
            </a:extLst>
          </p:cNvPr>
          <p:cNvSpPr>
            <a:spLocks noGrp="1"/>
          </p:cNvSpPr>
          <p:nvPr/>
        </p:nvSpPr>
        <p:spPr>
          <a:xfrm>
            <a:off x="3819039" y="3683299"/>
            <a:ext cx="257367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Is previous decision still valid?.</a:t>
            </a:r>
            <a:endParaRPr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8699776-A8CA-1F94-56F2-FD0554883A2A}"/>
              </a:ext>
            </a:extLst>
          </p:cNvPr>
          <p:cNvSpPr>
            <a:spLocks noGrp="1"/>
          </p:cNvSpPr>
          <p:nvPr/>
        </p:nvSpPr>
        <p:spPr>
          <a:xfrm>
            <a:off x="3819039" y="4195363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Valid, Stale/Invalid or insufficient</a:t>
            </a:r>
            <a:endParaRPr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1D8555B-EFF0-8807-D39E-D6466B33F022}"/>
              </a:ext>
            </a:extLst>
          </p:cNvPr>
          <p:cNvSpPr>
            <a:spLocks noGrp="1"/>
          </p:cNvSpPr>
          <p:nvPr/>
        </p:nvSpPr>
        <p:spPr>
          <a:xfrm>
            <a:off x="3819039" y="4707427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Controls continuation allowed?</a:t>
            </a:r>
            <a:endParaRPr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D329331-1033-11F8-DBFE-014C6C93A029}"/>
              </a:ext>
            </a:extLst>
          </p:cNvPr>
          <p:cNvSpPr>
            <a:spLocks noGrp="1"/>
          </p:cNvSpPr>
          <p:nvPr/>
        </p:nvSpPr>
        <p:spPr>
          <a:xfrm>
            <a:off x="3819039" y="521949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ALLOW/ REFRESH/ RECOMPUTE/ BLOCK</a:t>
            </a:r>
            <a:endParaRPr sz="1100" dirty="0"/>
          </a:p>
        </p:txBody>
      </p:sp>
      <p:sp>
        <p:nvSpPr>
          <p:cNvPr id="36" name="TextBox 4">
            <a:extLst>
              <a:ext uri="{FF2B5EF4-FFF2-40B4-BE49-F238E27FC236}">
                <a16:creationId xmlns:a16="http://schemas.microsoft.com/office/drawing/2014/main" id="{1EF2D798-150B-D51C-AE99-6E109E1C47AA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101133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US" sz="1400" dirty="0"/>
              <a:t>Knowing What Happened to Governing What’s Next. </a:t>
            </a:r>
            <a:r>
              <a:rPr lang="en-US" sz="1200" dirty="0">
                <a:solidFill>
                  <a:srgbClr val="D6EAF8"/>
                </a:solidFill>
              </a:rPr>
              <a:t>Telemetry gives EGAH inputs which leverages verified information into runtime governance state.</a:t>
            </a:r>
            <a:endParaRPr lang="en-US" sz="1400" dirty="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9CB97443-0CB2-0CF8-DFD7-C98A06E15F95}"/>
              </a:ext>
            </a:extLst>
          </p:cNvPr>
          <p:cNvSpPr>
            <a:spLocks noGrp="1"/>
          </p:cNvSpPr>
          <p:nvPr/>
        </p:nvSpPr>
        <p:spPr>
          <a:xfrm>
            <a:off x="280793" y="5743852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Output</a:t>
            </a:r>
            <a:endParaRPr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6F2DBC4-5E14-72BE-FCC1-A1AE7E448D1F}"/>
              </a:ext>
            </a:extLst>
          </p:cNvPr>
          <p:cNvSpPr>
            <a:spLocks noGrp="1"/>
          </p:cNvSpPr>
          <p:nvPr/>
        </p:nvSpPr>
        <p:spPr>
          <a:xfrm>
            <a:off x="1707022" y="5735760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System failed/recovered during e-sign stage</a:t>
            </a:r>
            <a:endParaRPr sz="1100" dirty="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F7BC0AD-DB38-568A-6DB1-20EB4AF597E4}"/>
              </a:ext>
            </a:extLst>
          </p:cNvPr>
          <p:cNvSpPr>
            <a:spLocks noGrp="1"/>
          </p:cNvSpPr>
          <p:nvPr/>
        </p:nvSpPr>
        <p:spPr>
          <a:xfrm>
            <a:off x="3810947" y="5758718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Validate before allowing continuation</a:t>
            </a:r>
            <a:endParaRPr sz="11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4BB27FC-C8EA-12A3-E416-B28914559D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8683" y="1021558"/>
            <a:ext cx="2832100" cy="25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56FBAEE-A89F-6335-26E0-72CA42B53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919" y="3740688"/>
            <a:ext cx="3403600" cy="2438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4" name="TextBox 4">
            <a:extLst>
              <a:ext uri="{FF2B5EF4-FFF2-40B4-BE49-F238E27FC236}">
                <a16:creationId xmlns:a16="http://schemas.microsoft.com/office/drawing/2014/main" id="{0B75082C-2A5B-0DF1-0392-01D497CB2B73}"/>
              </a:ext>
            </a:extLst>
          </p:cNvPr>
          <p:cNvSpPr>
            <a:spLocks noGrp="1"/>
          </p:cNvSpPr>
          <p:nvPr/>
        </p:nvSpPr>
        <p:spPr>
          <a:xfrm>
            <a:off x="280793" y="1151627"/>
            <a:ext cx="80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b="1" dirty="0"/>
              <a:t>EAGH sits on top of observability, leveraging traces/telemetry with evidence to validate outcome/ continuation.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1737113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dirty="0"/>
              <a:t>EGAH complements OSS stack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noGrp="1"/>
          </p:cNvSpPr>
          <p:nvPr/>
        </p:nvSpPr>
        <p:spPr>
          <a:xfrm>
            <a:off x="365760" y="230113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Capability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noGrp="1"/>
          </p:cNvSpPr>
          <p:nvPr/>
        </p:nvSpPr>
        <p:spPr>
          <a:xfrm>
            <a:off x="2606040" y="230113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dirty="0"/>
              <a:t>Existing OSS</a:t>
            </a:r>
            <a:r>
              <a:rPr lang="en-US" dirty="0"/>
              <a:t>(</a:t>
            </a:r>
            <a:r>
              <a:rPr lang="en-IN" sz="1100" b="1" dirty="0">
                <a:solidFill>
                  <a:srgbClr val="FFFFFF"/>
                </a:solidFill>
              </a:rPr>
              <a:t>Open Source Software)</a:t>
            </a:r>
            <a:r>
              <a:rPr dirty="0"/>
              <a:t> strength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noGrp="1"/>
          </p:cNvSpPr>
          <p:nvPr/>
        </p:nvSpPr>
        <p:spPr>
          <a:xfrm>
            <a:off x="5577840" y="2301136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lang="en-US" dirty="0"/>
              <a:t>Why it is Not Sufficient Alone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noGrp="1"/>
          </p:cNvSpPr>
          <p:nvPr/>
        </p:nvSpPr>
        <p:spPr>
          <a:xfrm>
            <a:off x="365760" y="277662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noGrp="1"/>
          </p:cNvSpPr>
          <p:nvPr/>
        </p:nvSpPr>
        <p:spPr>
          <a:xfrm>
            <a:off x="2606040" y="277662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 dirty="0">
                <a:solidFill>
                  <a:srgbClr val="546477"/>
                </a:solidFill>
              </a:rPr>
              <a:t>Graph checkpoints, replay, HIL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noGrp="1"/>
          </p:cNvSpPr>
          <p:nvPr/>
        </p:nvSpPr>
        <p:spPr>
          <a:xfrm>
            <a:off x="5577839" y="2776624"/>
            <a:ext cx="5013123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Restores workflow state, but does not explicitly govern whether prior evidence is still valid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noGrp="1"/>
          </p:cNvSpPr>
          <p:nvPr/>
        </p:nvSpPr>
        <p:spPr>
          <a:xfrm>
            <a:off x="365760" y="325211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Temporal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noGrp="1"/>
          </p:cNvSpPr>
          <p:nvPr/>
        </p:nvSpPr>
        <p:spPr>
          <a:xfrm>
            <a:off x="2606040" y="325211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Durable history and replay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noGrp="1"/>
          </p:cNvSpPr>
          <p:nvPr/>
        </p:nvSpPr>
        <p:spPr>
          <a:xfrm>
            <a:off x="5577840" y="3252112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Knows execution history, but not whether external facts have become stale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noGrp="1"/>
          </p:cNvSpPr>
          <p:nvPr/>
        </p:nvSpPr>
        <p:spPr>
          <a:xfrm>
            <a:off x="365760" y="372760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Dapr Workflow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noGrp="1"/>
          </p:cNvSpPr>
          <p:nvPr/>
        </p:nvSpPr>
        <p:spPr>
          <a:xfrm>
            <a:off x="2606040" y="372760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Retries; signed history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noGrp="1"/>
          </p:cNvSpPr>
          <p:nvPr/>
        </p:nvSpPr>
        <p:spPr>
          <a:xfrm>
            <a:off x="5577840" y="3727600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Handles execution recovery, but not the lifecycle of evidence behind a decision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noGrp="1"/>
          </p:cNvSpPr>
          <p:nvPr/>
        </p:nvSpPr>
        <p:spPr>
          <a:xfrm>
            <a:off x="365760" y="4203088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Prefect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noGrp="1"/>
          </p:cNvSpPr>
          <p:nvPr/>
        </p:nvSpPr>
        <p:spPr>
          <a:xfrm>
            <a:off x="2606040" y="4203088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Flow/task state and retries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noGrp="1"/>
          </p:cNvSpPr>
          <p:nvPr/>
        </p:nvSpPr>
        <p:spPr>
          <a:xfrm>
            <a:off x="5577840" y="4203088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Can resume execution, but continuation may require renewed authorization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noGrp="1"/>
          </p:cNvSpPr>
          <p:nvPr/>
        </p:nvSpPr>
        <p:spPr>
          <a:xfrm>
            <a:off x="365760" y="467857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OpenTelemetry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noGrp="1"/>
          </p:cNvSpPr>
          <p:nvPr/>
        </p:nvSpPr>
        <p:spPr>
          <a:xfrm>
            <a:off x="2606040" y="467857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Traces, metrics, logs, baggage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noGrp="1"/>
          </p:cNvSpPr>
          <p:nvPr/>
        </p:nvSpPr>
        <p:spPr>
          <a:xfrm>
            <a:off x="5577839" y="4678576"/>
            <a:ext cx="5013121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Observes what happened, but does not decide whether it is safe to continue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noGrp="1"/>
          </p:cNvSpPr>
          <p:nvPr/>
        </p:nvSpPr>
        <p:spPr>
          <a:xfrm>
            <a:off x="365760" y="515406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Langfuse / Phoenix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noGrp="1"/>
          </p:cNvSpPr>
          <p:nvPr/>
        </p:nvSpPr>
        <p:spPr>
          <a:xfrm>
            <a:off x="2606040" y="515406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LLM traces, evals, cost, latency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noGrp="1"/>
          </p:cNvSpPr>
          <p:nvPr/>
        </p:nvSpPr>
        <p:spPr>
          <a:xfrm>
            <a:off x="5577840" y="5154064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Provides observability, but does not maintain durable dependencies between evidence and consequential decisions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noGrp="1"/>
          </p:cNvSpPr>
          <p:nvPr/>
        </p:nvSpPr>
        <p:spPr>
          <a:xfrm>
            <a:off x="365760" y="562955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EGAH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noGrp="1"/>
          </p:cNvSpPr>
          <p:nvPr/>
        </p:nvSpPr>
        <p:spPr>
          <a:xfrm>
            <a:off x="2606040" y="562955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Composes above any runtime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noGrp="1"/>
          </p:cNvSpPr>
          <p:nvPr/>
        </p:nvSpPr>
        <p:spPr>
          <a:xfrm>
            <a:off x="5577840" y="5629552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ACT · REFRESH · ASK · ABSTAIN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3" name="TextBox 4">
            <a:extLst>
              <a:ext uri="{FF2B5EF4-FFF2-40B4-BE49-F238E27FC236}">
                <a16:creationId xmlns:a16="http://schemas.microsoft.com/office/drawing/2014/main" id="{4A24DCDE-AB93-E343-4280-CF353BD4C459}"/>
              </a:ext>
            </a:extLst>
          </p:cNvPr>
          <p:cNvSpPr>
            <a:spLocks noGrp="1"/>
          </p:cNvSpPr>
          <p:nvPr/>
        </p:nvSpPr>
        <p:spPr>
          <a:xfrm>
            <a:off x="365760" y="1044577"/>
            <a:ext cx="8046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Existing frameworks answer</a:t>
            </a:r>
          </a:p>
          <a:p>
            <a:r>
              <a:rPr lang="en-IN" sz="1200" b="1" dirty="0"/>
              <a:t>               Can the workflow resume?</a:t>
            </a:r>
          </a:p>
          <a:p>
            <a:endParaRPr lang="en-IN" sz="1200" dirty="0"/>
          </a:p>
          <a:p>
            <a:r>
              <a:rPr lang="en-IN" sz="1200" dirty="0"/>
              <a:t>EAGH additionally answers</a:t>
            </a:r>
          </a:p>
          <a:p>
            <a:r>
              <a:rPr lang="en-IN" sz="1200" b="1" dirty="0"/>
              <a:t>                 Should the workflow resume, based on evidence that is still valid, fresh, authorized and sufficient?</a:t>
            </a:r>
            <a:endParaRPr lang="en-IN" sz="1200" dirty="0"/>
          </a:p>
        </p:txBody>
      </p:sp>
      <p:sp>
        <p:nvSpPr>
          <p:cNvPr id="34" name="TextBox 4">
            <a:extLst>
              <a:ext uri="{FF2B5EF4-FFF2-40B4-BE49-F238E27FC236}">
                <a16:creationId xmlns:a16="http://schemas.microsoft.com/office/drawing/2014/main" id="{55347E5A-D563-BA6C-942A-2A70F9B4FC2A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555017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EAGH makes the </a:t>
            </a:r>
            <a:r>
              <a:rPr lang="en-IN" sz="1200" b="1" dirty="0">
                <a:solidFill>
                  <a:srgbClr val="D6EAF8"/>
                </a:solidFill>
              </a:rPr>
              <a:t>decision to continue itself evidence-governed and policy-controlled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lang="en-US" dirty="0"/>
              <a:t>Impact: Operations &amp; Risk Outcomes</a:t>
            </a:r>
            <a:endParaRPr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1" name="TextBox 4">
            <a:extLst>
              <a:ext uri="{FF2B5EF4-FFF2-40B4-BE49-F238E27FC236}">
                <a16:creationId xmlns:a16="http://schemas.microsoft.com/office/drawing/2014/main" id="{0C9D17C6-62AD-AADA-769A-C52EBE78224D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2978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rPr lang="en-US" sz="1200" dirty="0"/>
              <a:t>State-only vs EAGH enabled operating model</a:t>
            </a:r>
            <a:endParaRPr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C349E9-3075-27FA-828B-41A177786B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56" y="1005840"/>
            <a:ext cx="11959358" cy="527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457200" y="149105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Learnings &amp; Limitations</a:t>
            </a:r>
            <a:endParaRPr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noGrp="1"/>
          </p:cNvSpPr>
          <p:nvPr/>
        </p:nvSpPr>
        <p:spPr>
          <a:xfrm>
            <a:off x="365760" y="1488841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dirty="0"/>
              <a:t>Learning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noGrp="1"/>
          </p:cNvSpPr>
          <p:nvPr/>
        </p:nvSpPr>
        <p:spPr>
          <a:xfrm>
            <a:off x="2606040" y="1488841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What the PoC exposed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noGrp="1"/>
          </p:cNvSpPr>
          <p:nvPr/>
        </p:nvSpPr>
        <p:spPr>
          <a:xfrm>
            <a:off x="5577840" y="1488841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Next engineering step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noGrp="1"/>
          </p:cNvSpPr>
          <p:nvPr/>
        </p:nvSpPr>
        <p:spPr>
          <a:xfrm>
            <a:off x="365760" y="1964329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Evidence Freshness</a:t>
            </a:r>
            <a:endParaRPr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noGrp="1"/>
          </p:cNvSpPr>
          <p:nvPr/>
        </p:nvSpPr>
        <p:spPr>
          <a:xfrm>
            <a:off x="2606040" y="1964329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TTL alone cannot determine validity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noGrp="1"/>
          </p:cNvSpPr>
          <p:nvPr/>
        </p:nvSpPr>
        <p:spPr>
          <a:xfrm>
            <a:off x="5577840" y="1964329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Support events, versions and authorization checks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noGrp="1"/>
          </p:cNvSpPr>
          <p:nvPr/>
        </p:nvSpPr>
        <p:spPr>
          <a:xfrm>
            <a:off x="365760" y="2439817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Selective Checkpointing</a:t>
            </a:r>
            <a:endParaRPr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noGrp="1"/>
          </p:cNvSpPr>
          <p:nvPr/>
        </p:nvSpPr>
        <p:spPr>
          <a:xfrm>
            <a:off x="2606040" y="2439817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Checkpointing every step is wasteful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noGrp="1"/>
          </p:cNvSpPr>
          <p:nvPr/>
        </p:nvSpPr>
        <p:spPr>
          <a:xfrm>
            <a:off x="5577840" y="2439817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Place at consequential decision boundaries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noGrp="1"/>
          </p:cNvSpPr>
          <p:nvPr/>
        </p:nvSpPr>
        <p:spPr>
          <a:xfrm>
            <a:off x="365760" y="2915305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Dependency Awareness</a:t>
            </a: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noGrp="1"/>
          </p:cNvSpPr>
          <p:nvPr/>
        </p:nvSpPr>
        <p:spPr>
          <a:xfrm>
            <a:off x="2606040" y="2915305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Stale inputs invalidate downstream decisions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noGrp="1"/>
          </p:cNvSpPr>
          <p:nvPr/>
        </p:nvSpPr>
        <p:spPr>
          <a:xfrm>
            <a:off x="5577840" y="2915305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Maintain evidence dependency relationships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5654418-7973-B6D2-E3FF-0FC20895F6FE}"/>
              </a:ext>
            </a:extLst>
          </p:cNvPr>
          <p:cNvSpPr>
            <a:spLocks noGrp="1"/>
          </p:cNvSpPr>
          <p:nvPr/>
        </p:nvSpPr>
        <p:spPr>
          <a:xfrm>
            <a:off x="365760" y="407517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lang="en-US" dirty="0"/>
              <a:t>Limitations</a:t>
            </a:r>
            <a:endParaRPr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ACFE0B8-C128-5F12-FF03-A3F33F0D8AF6}"/>
              </a:ext>
            </a:extLst>
          </p:cNvPr>
          <p:cNvSpPr>
            <a:spLocks noGrp="1"/>
          </p:cNvSpPr>
          <p:nvPr/>
        </p:nvSpPr>
        <p:spPr>
          <a:xfrm>
            <a:off x="2606040" y="407517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What the PoC exposed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D626B5E-FFB8-F223-8811-F1D438EDD44C}"/>
              </a:ext>
            </a:extLst>
          </p:cNvPr>
          <p:cNvSpPr>
            <a:spLocks noGrp="1"/>
          </p:cNvSpPr>
          <p:nvPr/>
        </p:nvSpPr>
        <p:spPr>
          <a:xfrm>
            <a:off x="5577840" y="4075176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Next engineering step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1D6CE73-E73D-8E9A-6C40-12E6235EC7E8}"/>
              </a:ext>
            </a:extLst>
          </p:cNvPr>
          <p:cNvSpPr>
            <a:spLocks noGrp="1"/>
          </p:cNvSpPr>
          <p:nvPr/>
        </p:nvSpPr>
        <p:spPr>
          <a:xfrm>
            <a:off x="365760" y="455066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Live Staleness Detection</a:t>
            </a:r>
            <a:endParaRPr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5B0EA3C-BF5A-7E91-90E6-7A6B10C7ED9C}"/>
              </a:ext>
            </a:extLst>
          </p:cNvPr>
          <p:cNvSpPr>
            <a:spLocks noGrp="1"/>
          </p:cNvSpPr>
          <p:nvPr/>
        </p:nvSpPr>
        <p:spPr>
          <a:xfrm>
            <a:off x="2606040" y="455066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Aging simulated by workflow position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95A0930-2FC4-3F35-BEF9-0400071F2F20}"/>
              </a:ext>
            </a:extLst>
          </p:cNvPr>
          <p:cNvSpPr>
            <a:spLocks noGrp="1"/>
          </p:cNvSpPr>
          <p:nvPr/>
        </p:nvSpPr>
        <p:spPr>
          <a:xfrm>
            <a:off x="5577840" y="4550664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No real-time invalidation from providers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0CAFD69-C214-D7C6-8F28-466F9B13025C}"/>
              </a:ext>
            </a:extLst>
          </p:cNvPr>
          <p:cNvSpPr>
            <a:spLocks noGrp="1"/>
          </p:cNvSpPr>
          <p:nvPr/>
        </p:nvSpPr>
        <p:spPr>
          <a:xfrm>
            <a:off x="365760" y="502615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Performance</a:t>
            </a:r>
            <a:endParaRPr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95E800E-E33D-41A1-15CD-02E8E40BA51F}"/>
              </a:ext>
            </a:extLst>
          </p:cNvPr>
          <p:cNvSpPr>
            <a:spLocks noGrp="1"/>
          </p:cNvSpPr>
          <p:nvPr/>
        </p:nvSpPr>
        <p:spPr>
          <a:xfrm>
            <a:off x="2606040" y="502615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~28% median latency overhead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CF09AC-2ADE-01D0-207A-EB54D67074E9}"/>
              </a:ext>
            </a:extLst>
          </p:cNvPr>
          <p:cNvSpPr>
            <a:spLocks noGrp="1"/>
          </p:cNvSpPr>
          <p:nvPr/>
        </p:nvSpPr>
        <p:spPr>
          <a:xfrm>
            <a:off x="5577840" y="5026152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Checkpointing must remain selective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76B6453-237D-BCF5-6A68-B0EA1BFA1BB0}"/>
              </a:ext>
            </a:extLst>
          </p:cNvPr>
          <p:cNvSpPr>
            <a:spLocks noGrp="1"/>
          </p:cNvSpPr>
          <p:nvPr/>
        </p:nvSpPr>
        <p:spPr>
          <a:xfrm>
            <a:off x="365760" y="550164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Scope Fit</a:t>
            </a:r>
            <a:endParaRPr dirty="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2709D1C-D7BD-CC6D-6E07-C021A854CAFD}"/>
              </a:ext>
            </a:extLst>
          </p:cNvPr>
          <p:cNvSpPr>
            <a:spLocks noGrp="1"/>
          </p:cNvSpPr>
          <p:nvPr/>
        </p:nvSpPr>
        <p:spPr>
          <a:xfrm>
            <a:off x="2606040" y="550164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Best for deterministic/predictable risky work-flows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79160E0-4B31-4267-9D80-6DCA9A708BAD}"/>
              </a:ext>
            </a:extLst>
          </p:cNvPr>
          <p:cNvSpPr>
            <a:spLocks noGrp="1"/>
          </p:cNvSpPr>
          <p:nvPr/>
        </p:nvSpPr>
        <p:spPr>
          <a:xfrm>
            <a:off x="5577840" y="5501640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Low-risk workflows may not justify EAGH overhead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43" name="TextBox 4">
            <a:extLst>
              <a:ext uri="{FF2B5EF4-FFF2-40B4-BE49-F238E27FC236}">
                <a16:creationId xmlns:a16="http://schemas.microsoft.com/office/drawing/2014/main" id="{FE62D6E6-F0BF-F341-BEA2-8649FA7B471F}"/>
              </a:ext>
            </a:extLst>
          </p:cNvPr>
          <p:cNvSpPr>
            <a:spLocks noGrp="1"/>
          </p:cNvSpPr>
          <p:nvPr/>
        </p:nvSpPr>
        <p:spPr>
          <a:xfrm>
            <a:off x="1245977" y="567705"/>
            <a:ext cx="453181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Key insights gained, current limitations, and areas for future evolution</a:t>
            </a:r>
            <a:endParaRPr sz="1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DB94D59-92A4-1A33-4B83-6B27C645D0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990" y="2915305"/>
            <a:ext cx="30353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1490</Words>
  <Application>Microsoft Macintosh PowerPoint</Application>
  <DocSecurity>0</DocSecurity>
  <PresentationFormat>Widescreen</PresentationFormat>
  <Paragraphs>202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Shaik, Khaja {PEP}</cp:lastModifiedBy>
  <cp:revision>1</cp:revision>
  <dcterms:created xsi:type="dcterms:W3CDTF">2026-08-29T11:10:16Z</dcterms:created>
  <dcterms:modified xsi:type="dcterms:W3CDTF">2026-09-01T10:17:39Z</dcterms:modified>
</cp:coreProperties>
</file>