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c8c6b21de7d40c5" /><Relationship Type="http://schemas.openxmlformats.org/officeDocument/2006/relationships/extended-properties" Target="/docProps/app.xml" Id="R16271febf4a14017" /><Relationship Type="http://schemas.openxmlformats.org/officeDocument/2006/relationships/officeDocument" Target="/ppt/presentation.xml" Id="R6cbeb71348524cc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55614634ddc4583"/>
  </p:sldMasterIdLst>
  <p:notesMasterIdLst>
    <p:notesMasterId xmlns:r="http://schemas.openxmlformats.org/officeDocument/2006/relationships" r:id="R4817878581a443d0"/>
  </p:notesMasterIdLst>
  <p:sldIdLst>
    <p:sldId xmlns:r="http://schemas.openxmlformats.org/officeDocument/2006/relationships" id="256" r:id="R99bc09805a644606"/>
    <p:sldId xmlns:r="http://schemas.openxmlformats.org/officeDocument/2006/relationships" id="257" r:id="R45002387afa54796"/>
    <p:sldId xmlns:r="http://schemas.openxmlformats.org/officeDocument/2006/relationships" id="258" r:id="R78288ca8186b4279"/>
    <p:sldId xmlns:r="http://schemas.openxmlformats.org/officeDocument/2006/relationships" id="259" r:id="R59a5c764430a4533"/>
    <p:sldId xmlns:r="http://schemas.openxmlformats.org/officeDocument/2006/relationships" id="260" r:id="Re8ba61a615344213"/>
    <p:sldId xmlns:r="http://schemas.openxmlformats.org/officeDocument/2006/relationships" id="261" r:id="R8507a65ebf6346b6"/>
    <p:sldId xmlns:r="http://schemas.openxmlformats.org/officeDocument/2006/relationships" id="262" r:id="Rb854817886e74458"/>
    <p:sldId xmlns:r="http://schemas.openxmlformats.org/officeDocument/2006/relationships" id="263" r:id="R21911819d3134980"/>
    <p:sldId xmlns:r="http://schemas.openxmlformats.org/officeDocument/2006/relationships" id="264" r:id="Rc80a49c974574d7d"/>
    <p:sldId xmlns:r="http://schemas.openxmlformats.org/officeDocument/2006/relationships" id="265" r:id="R20116ed038214fa5"/>
    <p:sldId xmlns:r="http://schemas.openxmlformats.org/officeDocument/2006/relationships" id="266" r:id="Rac3068e053de4037"/>
    <p:sldId xmlns:r="http://schemas.openxmlformats.org/officeDocument/2006/relationships" id="267" r:id="Rd478f8e12648483e"/>
    <p:sldId xmlns:r="http://schemas.openxmlformats.org/officeDocument/2006/relationships" id="268" r:id="R7b3c4acfeb4d46cb"/>
    <p:sldId xmlns:r="http://schemas.openxmlformats.org/officeDocument/2006/relationships" id="269" r:id="R09c255261e674bfc"/>
    <p:sldId xmlns:r="http://schemas.openxmlformats.org/officeDocument/2006/relationships" id="270" r:id="R5415fe176bc740a6"/>
    <p:sldId xmlns:r="http://schemas.openxmlformats.org/officeDocument/2006/relationships" id="271" r:id="R0c2f86a3e5b04eda"/>
    <p:sldId xmlns:r="http://schemas.openxmlformats.org/officeDocument/2006/relationships" id="272" r:id="Re11889cf91a64c86"/>
    <p:sldId xmlns:r="http://schemas.openxmlformats.org/officeDocument/2006/relationships" id="273" r:id="Re295a4b5ea9444d1"/>
    <p:sldId xmlns:r="http://schemas.openxmlformats.org/officeDocument/2006/relationships" id="274" r:id="Rdf132405fcad4ce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048fac0daff4241" /><Relationship Type="http://schemas.openxmlformats.org/officeDocument/2006/relationships/slideMaster" Target="/ppt/slideMasters/slideMaster1.xml" Id="Rd55614634ddc4583" /><Relationship Type="http://schemas.openxmlformats.org/officeDocument/2006/relationships/notesMaster" Target="/ppt/notesMasters/notesMaster1.xml" Id="R4817878581a443d0" /><Relationship Type="http://schemas.openxmlformats.org/officeDocument/2006/relationships/presProps" Target="/ppt/presProps.xml" Id="R23d468ff86db48c7" /><Relationship Type="http://schemas.openxmlformats.org/officeDocument/2006/relationships/viewProps" Target="/ppt/viewProps.xml" Id="R83da0fd5b697466d" /><Relationship Type="http://schemas.openxmlformats.org/officeDocument/2006/relationships/tableStyles" Target="/ppt/tableStyles.xml" Id="R58c94699ec16464e" /><Relationship Type="http://schemas.openxmlformats.org/officeDocument/2006/relationships/slide" Target="/ppt/slides/slide1.xml" Id="R99bc09805a644606" /><Relationship Type="http://schemas.openxmlformats.org/officeDocument/2006/relationships/slide" Target="/ppt/slides/slide2.xml" Id="R45002387afa54796" /><Relationship Type="http://schemas.openxmlformats.org/officeDocument/2006/relationships/slide" Target="/ppt/slides/slide3.xml" Id="R78288ca8186b4279" /><Relationship Type="http://schemas.openxmlformats.org/officeDocument/2006/relationships/slide" Target="/ppt/slides/slide4.xml" Id="R59a5c764430a4533" /><Relationship Type="http://schemas.openxmlformats.org/officeDocument/2006/relationships/slide" Target="/ppt/slides/slide5.xml" Id="Re8ba61a615344213" /><Relationship Type="http://schemas.openxmlformats.org/officeDocument/2006/relationships/slide" Target="/ppt/slides/slide6.xml" Id="R8507a65ebf6346b6" /><Relationship Type="http://schemas.openxmlformats.org/officeDocument/2006/relationships/slide" Target="/ppt/slides/slide7.xml" Id="Rb854817886e74458" /><Relationship Type="http://schemas.openxmlformats.org/officeDocument/2006/relationships/slide" Target="/ppt/slides/slide8.xml" Id="R21911819d3134980" /><Relationship Type="http://schemas.openxmlformats.org/officeDocument/2006/relationships/slide" Target="/ppt/slides/slide9.xml" Id="Rc80a49c974574d7d" /><Relationship Type="http://schemas.openxmlformats.org/officeDocument/2006/relationships/slide" Target="/ppt/slides/slide10.xml" Id="R20116ed038214fa5" /><Relationship Type="http://schemas.openxmlformats.org/officeDocument/2006/relationships/slide" Target="/ppt/slides/slide11.xml" Id="Rac3068e053de4037" /><Relationship Type="http://schemas.openxmlformats.org/officeDocument/2006/relationships/slide" Target="/ppt/slides/slide12.xml" Id="Rd478f8e12648483e" /><Relationship Type="http://schemas.openxmlformats.org/officeDocument/2006/relationships/slide" Target="/ppt/slides/slide13.xml" Id="R7b3c4acfeb4d46cb" /><Relationship Type="http://schemas.openxmlformats.org/officeDocument/2006/relationships/slide" Target="/ppt/slides/slide14.xml" Id="R09c255261e674bfc" /><Relationship Type="http://schemas.openxmlformats.org/officeDocument/2006/relationships/slide" Target="/ppt/slides/slide15.xml" Id="R5415fe176bc740a6" /><Relationship Type="http://schemas.openxmlformats.org/officeDocument/2006/relationships/slide" Target="/ppt/slides/slide16.xml" Id="R0c2f86a3e5b04eda" /><Relationship Type="http://schemas.openxmlformats.org/officeDocument/2006/relationships/slide" Target="/ppt/slides/slide17.xml" Id="Re11889cf91a64c86" /><Relationship Type="http://schemas.openxmlformats.org/officeDocument/2006/relationships/slide" Target="/ppt/slides/slide18.xml" Id="Re295a4b5ea9444d1" /><Relationship Type="http://schemas.openxmlformats.org/officeDocument/2006/relationships/slide" Target="/ppt/slides/slide19.xml" Id="Rdf132405fcad4c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a7fea6e610a4a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28c18256574329" /><Relationship Type="http://schemas.openxmlformats.org/officeDocument/2006/relationships/notesMaster" Target="/ppt/notesMasters/notesMaster1.xml" Id="R9de5bf5ec35c4b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d182f60166f413d" /><Relationship Type="http://schemas.openxmlformats.org/officeDocument/2006/relationships/notesMaster" Target="/ppt/notesMasters/notesMaster1.xml" Id="Rbf5db9079fb446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6f477a9cc542c6" /><Relationship Type="http://schemas.openxmlformats.org/officeDocument/2006/relationships/notesMaster" Target="/ppt/notesMasters/notesMaster1.xml" Id="R822a9c256af5471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adb25a9e86740ce" /><Relationship Type="http://schemas.openxmlformats.org/officeDocument/2006/relationships/notesMaster" Target="/ppt/notesMasters/notesMaster1.xml" Id="R099bd5d2e3ba4a1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d462bf4b6404361" /><Relationship Type="http://schemas.openxmlformats.org/officeDocument/2006/relationships/notesMaster" Target="/ppt/notesMasters/notesMaster1.xml" Id="Re30dd945d45545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72bf15665cf4c00" /><Relationship Type="http://schemas.openxmlformats.org/officeDocument/2006/relationships/notesMaster" Target="/ppt/notesMasters/notesMaster1.xml" Id="R6490caf12e7c4a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bb7bf562a434dd3" /><Relationship Type="http://schemas.openxmlformats.org/officeDocument/2006/relationships/notesMaster" Target="/ppt/notesMasters/notesMaster1.xml" Id="R4e57d55a6ba9437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1dca31ba6304e95" /><Relationship Type="http://schemas.openxmlformats.org/officeDocument/2006/relationships/notesMaster" Target="/ppt/notesMasters/notesMaster1.xml" Id="R5285c8cfa0ce403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269f61894fc41ba" /><Relationship Type="http://schemas.openxmlformats.org/officeDocument/2006/relationships/notesMaster" Target="/ppt/notesMasters/notesMaster1.xml" Id="Rd41b9348260e488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c1bb332f5c64d20" /><Relationship Type="http://schemas.openxmlformats.org/officeDocument/2006/relationships/notesMaster" Target="/ppt/notesMasters/notesMaster1.xml" Id="R5ec8d006bb134d9b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7200ab769a7418e" /><Relationship Type="http://schemas.openxmlformats.org/officeDocument/2006/relationships/notesMaster" Target="/ppt/notesMasters/notesMaster1.xml" Id="R67d9e6b6bd014bd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abf95cf94b643b3" /><Relationship Type="http://schemas.openxmlformats.org/officeDocument/2006/relationships/notesMaster" Target="/ppt/notesMasters/notesMaster1.xml" Id="R56a983bd9dbb493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a3f4a170cad6400f" /><Relationship Type="http://schemas.openxmlformats.org/officeDocument/2006/relationships/notesMaster" Target="/ppt/notesMasters/notesMaster1.xml" Id="R1fd24a6286a84fe3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2b58e9bc6aed4432" /><Relationship Type="http://schemas.openxmlformats.org/officeDocument/2006/relationships/notesMaster" Target="/ppt/notesMasters/notesMaster1.xml" Id="R79f1ef903205417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0ab157cf1c941f8" /><Relationship Type="http://schemas.openxmlformats.org/officeDocument/2006/relationships/notesMaster" Target="/ppt/notesMasters/notesMaster1.xml" Id="R3d42a839c9ae416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55ebc68daa94988" /><Relationship Type="http://schemas.openxmlformats.org/officeDocument/2006/relationships/notesMaster" Target="/ppt/notesMasters/notesMaster1.xml" Id="R381fcea1c684403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c77b84a29364dc6" /><Relationship Type="http://schemas.openxmlformats.org/officeDocument/2006/relationships/notesMaster" Target="/ppt/notesMasters/notesMaster1.xml" Id="R59567efd099e4a0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85487b4b31a4397" /><Relationship Type="http://schemas.openxmlformats.org/officeDocument/2006/relationships/notesMaster" Target="/ppt/notesMasters/notesMaster1.xml" Id="R29c09032a0b8486f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26c29d58aa84a17" /><Relationship Type="http://schemas.openxmlformats.org/officeDocument/2006/relationships/notesMaster" Target="/ppt/notesMasters/notesMaster1.xml" Id="Rac10e1008f884ff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0:45–3:15. Establish the distinction; do not survey frameworks. Selection signal: one narrow production problem, not a grand framework claim.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agentic-systems/eagh/README.md — Context and Problem Statement</a:t>
            </a:r>
          </a:p>
          <a:p xmlns:a="http://schemas.openxmlformats.org/drawingml/2006/main">
            <a:r>
              <a:t>- agentic-systems/eagh/src/egah/recovery.py — state-only vs evidence-governed recovery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3:15–5:45. Narrate the actual local PoC. Be explicit that staleness is simulated for demonstration; the preservation and recovery paths are implemented.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agentic-systems/eagh/src/egah/egah_agent.py — WORKFLOW_STEPS and CHECKPOINT_STEPS</a:t>
            </a:r>
          </a:p>
          <a:p xmlns:a="http://schemas.openxmlformats.org/drawingml/2006/main">
            <a:r>
              <a:t>- agentic-systems/eagh/src/egah/recovery.py — egah_recovery(simulate_stale=True)</a:t>
            </a:r>
          </a:p>
          <a:p xmlns:a="http://schemas.openxmlformats.org/drawingml/2006/main">
            <a:r>
              <a:t>- agentic-systems/eagh/tests/test_egah.py — crash-at-step-7 tests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5:45–8:15. Define the minimum evidence envelope. Avoid claiming that every tool result deserves one; emphasize consequential boundaries.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agentic-systems/eagh/src/egah/models.py — EvidenceEnvelope and VerificationRecord</a:t>
            </a:r>
          </a:p>
          <a:p xmlns:a="http://schemas.openxmlformats.org/drawingml/2006/main">
            <a:r>
              <a:t>- agentic-systems/eagh/src/egah/evidence_store.py — durable envelope, verification, and resource records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8:15–11:15. Walk the two loops. The useful abstraction is the policy gate and durable evidence record; the rest should be judged by measured reliability benefit.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agentic-systems/eagh/src/egah/egah_agent.py — checkpoint and verification flow</a:t>
            </a:r>
          </a:p>
          <a:p xmlns:a="http://schemas.openxmlformats.org/drawingml/2006/main">
            <a:r>
              <a:t>- agentic-systems/eagh/src/egah/models.py — PolicyDecision</a:t>
            </a:r>
          </a:p>
          <a:p xmlns:a="http://schemas.openxmlformats.org/drawingml/2006/main">
            <a:r>
              <a:t>- agentic-systems/eagh/src/egah/recovery.py — recovery plan generation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15:15–18:15. Make the decision contrast explicit: both approaches restore execution; only one evaluates whether prior evidence supports continuation.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agentic-systems/eagh/src/egah/recovery.py — traditional_recovery and egah_recovery</a:t>
            </a:r>
          </a:p>
          <a:p xmlns:a="http://schemas.openxmlformats.org/drawingml/2006/main">
            <a:r>
              <a:t>- agentic-systems/eagh/tests/test_egah.py — TestRecovery and TestCrashAtStep7Scenario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20:00–25:00. Rehearse a deterministic path: reset → crash at 7 → Evidence Inspector → Recovery comparison → EGAH plan → resume. Keep screenshots ready as fallback.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agentic-systems/eagh/src/egah/app.py — Streamlit demo tabs and controls</a:t>
            </a:r>
          </a:p>
          <a:p xmlns:a="http://schemas.openxmlformats.org/drawingml/2006/main">
            <a:r>
              <a:t>- agentic-systems/eagh/README.md — simulated mode and demo behavior</a:t>
            </a:r>
          </a:p>
          <a:p xmlns:a="http://schemas.openxmlformats.org/drawingml/2006/main">
            <a:r>
              <a:t>- Local command on 2026-08-28: python3 -m pytest -q — 35 passed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18:15–20:00, then return here after the demo if needed. Close with the audience question and reserve 25:00–30:00 for Q&amp;A.</a:t>
            </a:r>
          </a:p>
          <a:p xmlns:a="http://schemas.openxmlformats.org/drawingml/2006/main"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agentic-systems/eagh/README.md — central result and key takeaways</a:t>
            </a:r>
          </a:p>
          <a:p xmlns:a="http://schemas.openxmlformats.org/drawingml/2006/main">
            <a:r>
              <a:t>- agentic-systems/eagh/src/egah/models.py — evidence and policy boundaries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Opening: separate recovery of execution mechanics from recovery of the decision basis. EGAH focuses on the second and can use the first.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agentic-systems/eagh/README.md — Context, Problem Statement and Solution Approach</a:t>
            </a:r>
          </a:p>
          <a:p xmlns:a="http://schemas.openxmlformats.org/drawingml/2006/main">
            <a:r>
              <a:t>- agentic-systems/eagh/src/egah/recovery.py — traditional_recovery and egah_recovery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Capability review, not a hands-on product benchmark. The comparison identifies documented strengths and the domain semantics EGAH adds; it does not claim these tools cannot be extended.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https://docs.langchain.com/oss/python/langgraph/persistence — checkpoints, replay, fault tolerance</a:t>
            </a:r>
          </a:p>
          <a:p xmlns:a="http://schemas.openxmlformats.org/drawingml/2006/main">
            <a:r>
              <a:t>- https://docs.temporal.io/temporal — durable execution and event history</a:t>
            </a:r>
          </a:p>
          <a:p xmlns:a="http://schemas.openxmlformats.org/drawingml/2006/main">
            <a:r>
              <a:t>- https://docs.dapr.io/developing-applications/building-blocks/workflow/workflow-overview/ — durable workflows, signed history and history propagation</a:t>
            </a:r>
          </a:p>
          <a:p xmlns:a="http://schemas.openxmlformats.org/drawingml/2006/main">
            <a:r>
              <a:t>- https://docs.prefect.io/v3/concepts/flows — flow state, retries and observability</a:t>
            </a:r>
          </a:p>
          <a:p xmlns:a="http://schemas.openxmlformats.org/drawingml/2006/main">
            <a:r>
              <a:t>- https://opentelemetry.io/docs/concepts/signals/ — traces, metrics, logs and baggage</a:t>
            </a:r>
          </a:p>
          <a:p xmlns:a="http://schemas.openxmlformats.org/drawingml/2006/main">
            <a:r>
              <a:t>- https://langfuse.com/docs/observability/overview — LLM tracing, evaluations, latency and cost</a:t>
            </a:r>
          </a:p>
          <a:p xmlns:a="http://schemas.openxmlformats.org/drawingml/2006/main">
            <a:r>
              <a:t>- https://arize.com/docs/phoenix/tracing/tutorial — open-source tracing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Current versus roadmap: the current repository is an importable Python package with SQLite persistence and a Streamlit UI. Runtime adapters, service APIs, production stores, policy engines and provider integrations are proposed extension points.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agentic-systems/eagh/pyproject.toml — Python packaging</a:t>
            </a:r>
          </a:p>
          <a:p xmlns:a="http://schemas.openxmlformats.org/drawingml/2006/main">
            <a:r>
              <a:t>- agentic-systems/eagh/src/egah/evidence_store.py — SQLite repository</a:t>
            </a:r>
          </a:p>
          <a:p xmlns:a="http://schemas.openxmlformats.org/drawingml/2006/main">
            <a:r>
              <a:t>- agentic-systems/eagh/src/egah/app.py — Streamlit interface</a:t>
            </a:r>
          </a:p>
          <a:p xmlns:a="http://schemas.openxmlformats.org/drawingml/2006/main">
            <a:r>
              <a:t>- agentic-systems/eagh/README.md — technology boundaries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Method: local simulated-mode microbenchmark on 2026-08-29, Python 3.9 + SQLite, no network or LLM calls. Ten warm-ups plus 200 measured runs per execution variant; 200 crash/recovery trials. “Logical payload” sums JSON data lengths, not allocated database pages. These are PoC measurements, not production SLAs.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/private/tmp/egah-deck-v14.R3crmb/benchmark_egah.py — benchmark method</a:t>
            </a:r>
          </a:p>
          <a:p xmlns:a="http://schemas.openxmlformats.org/drawingml/2006/main">
            <a:r>
              <a:t>- Local benchmark output on 2026-08-29 — values shown on slide</a:t>
            </a:r>
          </a:p>
          <a:p xmlns:a="http://schemas.openxmlformats.org/drawingml/2006/main">
            <a:r>
              <a:t>- Local command: PYTHONPATH=src python3 -m pytest tests/ -q — 35 passed in 1.05s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an operating-model comparison, not measured production productivity. Instrument a pilot for mean time to identify the invalid dependency, operator touch time, repeat-work ratio, audit-response time, and false-safe-resume rate.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agentic-systems/eagh/src/egah/evidence_store.py — run/evidence/verification/resource records</a:t>
            </a:r>
          </a:p>
          <a:p xmlns:a="http://schemas.openxmlformats.org/drawingml/2006/main">
            <a:r>
              <a:t>- agentic-systems/eagh/src/egah/recovery.py — explicit revalidation plan and reasons</a:t>
            </a:r>
          </a:p>
          <a:p xmlns:a="http://schemas.openxmlformats.org/drawingml/2006/main">
            <a:r>
              <a:t>- agentic-systems/eagh/resources/documents/cfp/egah_review_preparation_guide.md — operational value and pilot boundary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Scenario parameters are illustrative and are not a bank SLA or a claim about any bureau's actual validity window. Use the sequence to demonstrate where evidence dependencies are captured before pricing and signature.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agentic-systems/eagh/resources/documents/cfp/egah_review_preparation_guide.md — representative loan process</a:t>
            </a:r>
          </a:p>
          <a:p xmlns:a="http://schemas.openxmlformats.org/drawingml/2006/main">
            <a:r>
              <a:t>- agentic-systems/eagh/src/egah/models.py — evidence validity and provenance fields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Demo narration: the restored screen is not the outcome. The changed decision is: invalidate the stale agreement, refresh only affected dependencies, create a new verified offer, and expose only the new version for signature. Live provider refresh is roadmap, not implemented.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agentic-systems/eagh/resources/documents/cfp/egah_review_preparation_guide.md — recovery flow and honest limits</a:t>
            </a:r>
          </a:p>
          <a:p xmlns:a="http://schemas.openxmlformats.org/drawingml/2006/main">
            <a:r>
              <a:t>- agentic-systems/eagh/src/egah/recovery.py — RecoveryPlan and revalidation_required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Each roadmap item follows directly from a prototype limitation observed in the current code and tests.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agentic-systems/eagh/src/egah/models.py — current envelope schema and validity logic</a:t>
            </a:r>
          </a:p>
          <a:p xmlns:a="http://schemas.openxmlformats.org/drawingml/2006/main">
            <a:r>
              <a:t>- agentic-systems/eagh/src/egah/evidence_store.py — separate SQLite commits</a:t>
            </a:r>
          </a:p>
          <a:p xmlns:a="http://schemas.openxmlformats.org/drawingml/2006/main">
            <a:r>
              <a:t>- agentic-systems/eagh/src/egah/recovery.py — plan generation</a:t>
            </a:r>
          </a:p>
          <a:p xmlns:a="http://schemas.openxmlformats.org/drawingml/2006/main">
            <a:r>
              <a:t>- agentic-systems/eagh/resources/documents/cfp/egah_review_preparation_guide.md — production extensions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Do not overclaim the PoC. Verification is syntactic, demo staleness is simulated, refresh adapters are absent, orchestration is sequential, and SQLite is not a production HA design. EGAH is inappropriate when evidence cannot become stale or the next action is low-consequence and cheap to replay.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agentic-systems/eagh/src/egah/egah_agent.py — simplified verification and sequential execution</a:t>
            </a:r>
          </a:p>
          <a:p xmlns:a="http://schemas.openxmlformats.org/drawingml/2006/main">
            <a:r>
              <a:t>- agentic-systems/eagh/src/egah/recovery.py — simulated staleness and recommendation-only refresh</a:t>
            </a:r>
          </a:p>
          <a:p xmlns:a="http://schemas.openxmlformats.org/drawingml/2006/main">
            <a:r>
              <a:t>- agentic-systems/eagh/src/egah/evidence_store.py — SQLite persistence</a:t>
            </a:r>
          </a:p>
          <a:p xmlns:a="http://schemas.openxmlformats.org/drawingml/2006/main">
            <a:r>
              <a:t>- agentic-systems/eagh/resources/documents/cfp/egah_review_preparation_guide.md — honest technical limits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on the differentiated, testable claim. Offer the framework as a composable experiment for consequential recovery boundaries, not as a finished production platform.</a:t>
            </a:r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agentic-systems/eagh/README.md — implemented PoC scope</a:t>
            </a:r>
          </a:p>
          <a:p xmlns:a="http://schemas.openxmlformats.org/drawingml/2006/main">
            <a:r>
              <a:t>- agentic-systems/eagh/tests/test_egah.py — automated coverage</a:t>
            </a:r>
          </a:p>
          <a:p xmlns:a="http://schemas.openxmlformats.org/drawingml/2006/main">
            <a:r>
              <a:t>- Local pytest and microbenchmark outputs on 2026-08-29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ebd3b61599456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b49e03de87b43b0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a12048c33a4e6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2ed06fb8cc4448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b20f77aab0436a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19e94fa85340c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3fc0dc05b91454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98d202cf18462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77ee814eb41465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6492ea5193424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4630b6d424ff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5465F65-17B5-405D-93D4-0ED9173EB21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82AF29F6-159D-4DD9-90B8-BF257376E9C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9A232E-AB8F-4B85-944E-C7CD79F048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B5B672D-AD3A-4B95-9443-5121994E5A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263B53B-85A9-4F59-87D2-8FE61CAF4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6818E1B-C629-4712-A6E3-4936DA6662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695F8355-CDF6-4CFC-8846-102EE0B5395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9842AB-6FEB-48E5-A460-66C8A43B31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EEBBA6F-FBB9-4EFB-B0F2-8C61C897B20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5A9189F-1E4A-4D9F-A11F-27862627792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26E993A-C29E-4F83-90BD-A1A3D535DED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EA8AB84-0CFC-4070-9606-A7FC65C6115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A50DE99D-8979-4C90-8AF5-137BEFED4C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C18CEE6-DE87-4331-B295-84ED679B31B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FB45465-7C56-4AFD-A447-F47BBD12902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329D91A-798F-42F3-A579-A34C617A6C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B765BBE-B3A8-4C80-A632-86A47E23C02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4E56F83-6659-4EF8-BB20-0A271728A61A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6364480-F197-4FD0-AE6D-1EFF918526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B3D4059-3B28-464A-AE38-05C188B05D8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26E317-1433-4453-A270-FB66F6E7038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B91CB3-8889-4483-933D-1FF52107172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347CC93-CFE2-4E7B-A920-1D20827BA37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534C8D8-7924-4BB6-88DA-970BDF8AF4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86A70554-8FB2-4304-9B64-E733327DA434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645BFDB-5877-4ADB-90D1-BB3E6F6DDA90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12535186-5A9B-4A59-8CB1-DD7D5B49FC8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2FD0B345-53CB-4CC4-9AE0-8ACD0FC7F5F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0792B08-CCCD-4D3A-82EC-3B57F1B1B6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8AA1293-8C35-41B9-B931-E1D35C2B304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595EB2A3-47DD-46A0-9413-29035400E7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B06F1FDE-A824-4F1D-BCE2-663E759A33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C06BF4-282D-418A-864C-73B013B9A1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C24BB840-1A0A-4FB6-A2FC-45208AC096B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72EA3E2E-24F9-4DB9-83A9-E9AFA4ADBB3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1AD9ADF3-8A86-43BB-93E6-8E2E5B5B61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45ED0F-9137-4680-8B1E-BEA5A76CF2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DC8B507-3089-450B-A20A-FA6851ECDD7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44F7D1D-7CCD-4B43-B21A-A7C3A270C8B6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815122E-9210-4B28-BDD5-0B57F2991A0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954B6DA-4B35-4565-921A-54700C6DA79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A172684-9438-4124-AE95-8E2BEB0F5DB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790DEA-B04D-4AB8-918F-120C0D4AC8B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6CE15EC6-97C6-4F77-A547-2E6978E21F3B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8BA7909-38C4-427E-8948-2734F1EC57B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A2082A9-1B74-446D-83E5-6D423EBAD09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350760C-0B50-4DC6-B6D1-7732AF18145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2D19F57-9469-4A93-8E06-474AEC47719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4D6F084-9957-44F2-A1B5-74B699EDEF8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BA87CF1-389F-4870-9636-3B5B7FEEECD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216A079-CA3E-4FA1-9C84-443FCC29DCF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A37B4D2-B526-4E48-8CFB-0D2E0EA24EC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C70F3D08-55FF-4E6F-8557-B8399C421D1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EEC19C7-F580-4430-9ECB-ADA2EA4A63C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65AB9404-E724-4DD2-9AB6-3012ADF1884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616762-DED2-4F1E-B227-A5EE7C237D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D056852-97A7-4D79-9BD6-23AAA41759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B2A05B-E1A9-4B0F-B26B-460CE24485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6817e07439546ea" /><Relationship Type="http://schemas.openxmlformats.org/officeDocument/2006/relationships/slideLayout" Target="/ppt/slideLayouts/slideLayout1.xml" Id="Rb0ea5ae1080145cd" /><Relationship Type="http://schemas.openxmlformats.org/officeDocument/2006/relationships/slideLayout" Target="/ppt/slideLayouts/slideLayout2.xml" Id="Re02a447d817b4077" /><Relationship Type="http://schemas.openxmlformats.org/officeDocument/2006/relationships/slideLayout" Target="/ppt/slideLayouts/slideLayout3.xml" Id="Rda0d22287c354996" /><Relationship Type="http://schemas.openxmlformats.org/officeDocument/2006/relationships/slideLayout" Target="/ppt/slideLayouts/slideLayout4.xml" Id="R2d55349155f04fab" /><Relationship Type="http://schemas.openxmlformats.org/officeDocument/2006/relationships/slideLayout" Target="/ppt/slideLayouts/slideLayout5.xml" Id="Rb19834403b5649c4" /><Relationship Type="http://schemas.openxmlformats.org/officeDocument/2006/relationships/slideLayout" Target="/ppt/slideLayouts/slideLayout6.xml" Id="R754c954aec084c0f" /><Relationship Type="http://schemas.openxmlformats.org/officeDocument/2006/relationships/slideLayout" Target="/ppt/slideLayouts/slideLayout7.xml" Id="R062d755181c84298" /><Relationship Type="http://schemas.openxmlformats.org/officeDocument/2006/relationships/slideLayout" Target="/ppt/slideLayouts/slideLayout8.xml" Id="Rf704bf9076cd413b" /><Relationship Type="http://schemas.openxmlformats.org/officeDocument/2006/relationships/slideLayout" Target="/ppt/slideLayouts/slideLayout9.xml" Id="R9774cd360b8549ce" /><Relationship Type="http://schemas.openxmlformats.org/officeDocument/2006/relationships/slideLayout" Target="/ppt/slideLayouts/slideLayout10.xml" Id="R70ecd57d68ac4aec" /><Relationship Type="http://schemas.openxmlformats.org/officeDocument/2006/relationships/slideLayout" Target="/ppt/slideLayouts/slideLayout11.xml" Id="R80e075fa2d7c4bd7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5350C2A-7A3A-4A53-9650-ABCFAB73D42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EB4D7A-1633-4236-8BD4-46DCBE6E03A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85CD11E-25CB-4BEE-A1E7-B2C492AA34A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8/28/26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056F6AC-E3BF-4586-AC4E-FC7B70B0232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451C55-EEBA-4802-9AFD-53376C4F8C07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0ea5ae1080145cd"/>
    <p:sldLayoutId xmlns:r="http://schemas.openxmlformats.org/officeDocument/2006/relationships" id="2147483650" r:id="Re02a447d817b4077"/>
    <p:sldLayoutId xmlns:r="http://schemas.openxmlformats.org/officeDocument/2006/relationships" id="2147483651" r:id="Rda0d22287c354996"/>
    <p:sldLayoutId xmlns:r="http://schemas.openxmlformats.org/officeDocument/2006/relationships" id="2147483652" r:id="R2d55349155f04fab"/>
    <p:sldLayoutId xmlns:r="http://schemas.openxmlformats.org/officeDocument/2006/relationships" id="2147483653" r:id="Rb19834403b5649c4"/>
    <p:sldLayoutId xmlns:r="http://schemas.openxmlformats.org/officeDocument/2006/relationships" id="2147483654" r:id="R754c954aec084c0f"/>
    <p:sldLayoutId xmlns:r="http://schemas.openxmlformats.org/officeDocument/2006/relationships" id="2147483655" r:id="R062d755181c84298"/>
    <p:sldLayoutId xmlns:r="http://schemas.openxmlformats.org/officeDocument/2006/relationships" id="2147483656" r:id="Rf704bf9076cd413b"/>
    <p:sldLayoutId xmlns:r="http://schemas.openxmlformats.org/officeDocument/2006/relationships" id="2147483657" r:id="R9774cd360b8549ce"/>
    <p:sldLayoutId xmlns:r="http://schemas.openxmlformats.org/officeDocument/2006/relationships" id="2147483658" r:id="R70ecd57d68ac4aec"/>
    <p:sldLayoutId xmlns:r="http://schemas.openxmlformats.org/officeDocument/2006/relationships" id="2147483659" r:id="R80e075fa2d7c4bd7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211246619c9466d" /><Relationship Type="http://schemas.openxmlformats.org/officeDocument/2006/relationships/image" Target="/ppt/media/image.png" Id="Rc8564b775bd04e6a" /><Relationship Type="http://schemas.openxmlformats.org/officeDocument/2006/relationships/notesSlide" Target="/ppt/notesSlides/notesSlide1.xml" Id="Rbb903a48cd834b4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417b5b84b794414" /><Relationship Type="http://schemas.openxmlformats.org/officeDocument/2006/relationships/notesSlide" Target="/ppt/notesSlides/notesSlide2.xml" Id="Ra86bd740f49248e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473b23f729d434b" /><Relationship Type="http://schemas.openxmlformats.org/officeDocument/2006/relationships/notesSlide" Target="/ppt/notesSlides/notesSlide3.xml" Id="R242919e5c80e4d3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f84201ba4434203" /><Relationship Type="http://schemas.openxmlformats.org/officeDocument/2006/relationships/notesSlide" Target="/ppt/notesSlides/notesSlide4.xml" Id="Rd41b84bc6afe4d8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8b4918f8f3480b" /><Relationship Type="http://schemas.openxmlformats.org/officeDocument/2006/relationships/notesSlide" Target="/ppt/notesSlides/notesSlide5.xml" Id="Rb4cd3d28e29f4da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ffdeb5b75b4bb9" /><Relationship Type="http://schemas.openxmlformats.org/officeDocument/2006/relationships/image" Target="/ppt/media/image2.png" Id="R2914a5ebb5fa4ba8" /><Relationship Type="http://schemas.openxmlformats.org/officeDocument/2006/relationships/notesSlide" Target="/ppt/notesSlides/notesSlide6.xml" Id="R804433c5f46f482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258f4e942446ca" /><Relationship Type="http://schemas.openxmlformats.org/officeDocument/2006/relationships/notesSlide" Target="/ppt/notesSlides/notesSlide7.xml" Id="R79115805eb09472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b8e43ca5c74d45" /><Relationship Type="http://schemas.openxmlformats.org/officeDocument/2006/relationships/notesSlide" Target="/ppt/notesSlides/notesSlide8.xml" Id="R9fa4f1ae76dd43c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68771fa01df4222" /><Relationship Type="http://schemas.openxmlformats.org/officeDocument/2006/relationships/notesSlide" Target="/ppt/notesSlides/notesSlide9.xml" Id="R6db21574db67422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f03ae1a7bb74ac2" /><Relationship Type="http://schemas.openxmlformats.org/officeDocument/2006/relationships/notesSlide" Target="/ppt/notesSlides/notesSlide10.xml" Id="R86d0bfe097a046e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63877400734589" /><Relationship Type="http://schemas.openxmlformats.org/officeDocument/2006/relationships/notesSlide" Target="/ppt/notesSlides/notesSlide11.xml" Id="Rfffcfa6b52ad411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f2137fb33048ab" /><Relationship Type="http://schemas.openxmlformats.org/officeDocument/2006/relationships/notesSlide" Target="/ppt/notesSlides/notesSlide12.xml" Id="Rf5fdcbfc338f487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1a0f612a8c45b9" /><Relationship Type="http://schemas.openxmlformats.org/officeDocument/2006/relationships/notesSlide" Target="/ppt/notesSlides/notesSlide13.xml" Id="Rf3e3ac554e3742f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5de96e735a54a7e" /><Relationship Type="http://schemas.openxmlformats.org/officeDocument/2006/relationships/notesSlide" Target="/ppt/notesSlides/notesSlide14.xml" Id="Rd8b4915dc65640a9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a3655270ba4a1c" /><Relationship Type="http://schemas.openxmlformats.org/officeDocument/2006/relationships/notesSlide" Target="/ppt/notesSlides/notesSlide15.xml" Id="Rba0d6a8564464ed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f34fac06e0043c5" /><Relationship Type="http://schemas.openxmlformats.org/officeDocument/2006/relationships/notesSlide" Target="/ppt/notesSlides/notesSlide16.xml" Id="R95b0fed8ff2c47c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2af7b1b1004de8" /><Relationship Type="http://schemas.openxmlformats.org/officeDocument/2006/relationships/notesSlide" Target="/ppt/notesSlides/notesSlide17.xml" Id="R7c561e13e147426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a079d07e74543b3" /><Relationship Type="http://schemas.openxmlformats.org/officeDocument/2006/relationships/notesSlide" Target="/ppt/notesSlides/notesSlide18.xml" Id="R8ad0b295e93e420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4abdbbcfcab4012" /><Relationship Type="http://schemas.openxmlformats.org/officeDocument/2006/relationships/notesSlide" Target="/ppt/notesSlides/notesSlide19.xml" Id="R0c76ca9691db4f3b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2A4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D294BEB-B51A-4807-B67A-63120A6C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188720"/>
            <a:ext cx="109728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484EEAF-82C3-4FDF-AFAF-1756071EC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9826610" cy="6771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800" b="1">
                <a:solidFill>
                  <a:srgbClr val="FFFFFF"/>
                </a:solidFill>
              </a:defRPr>
            </a:pPr>
            <a:r>
              <a:t>Evidence-Governed Agent Harnesses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690F4D-5F84-450E-8B39-66854ADFD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102048"/>
            <a:ext cx="7680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2E86C1"/>
                </a:solidFill>
              </a:defRPr>
            </a:pPr>
            <a:r>
              <a:t>Making Evidence Survive Long-Running Agent Execution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46CF9C5-11CB-43B5-B2C8-D0D527CD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9" y="3840480"/>
            <a:ext cx="9465103" cy="6258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What should an agent remember after a crash at step 40 of 60?</a:t>
            </a:r>
          </a:p>
          <a:p xmlns:a="http://schemas.openxmlformats.org/drawingml/2006/main">
            <a:pPr>
              <a:spcAft>
                <a:spcPts val="840"/>
              </a:spcAft>
              <a:buNone/>
              <a:defRPr sz="1400" b="0">
                <a:solidFill>
                  <a:srgbClr val="BDC3C7"/>
                </a:solidFill>
              </a:defRPr>
            </a:pPr>
            <a:r>
              <a:t>Not just its state — but what it verified, what it accomplished and what it is still allowed to do.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79041-7B5A-4FFC-B8B4-3126947AE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7680960" cy="32316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FFFFF"/>
                </a:solidFill>
              </a:defRPr>
            </a:pPr>
            <a:r>
              <a:t>Khaja Shaik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10042F1-61D4-4F75-92CD-DEE6A141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760720"/>
            <a:ext cx="76809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F8C8D"/>
                </a:solidFill>
              </a:defRPr>
            </a:pPr>
            <a:r>
              <a:t>Fifth Elephant Hyderabad  |  2026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D4D0FFF-FBEB-4CD5-987E-D0EB633E3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118848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17" name="Picture 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564b775bd04e6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716" y="0"/>
            <a:ext cx="12179284" cy="6865168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16519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The production gap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C4E0AC-716E-4B79-9FE6-3216FCDE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8046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Modern harnesses restore execution state. They do not necessarily restore decision-worthy evidence.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D285D20-AF73-42A6-B51C-9DEF3E21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54864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95B0D41-C2AB-4211-880D-F253F5FA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920240"/>
            <a:ext cx="7991856" cy="9144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1B2A4A"/>
                </a:solidFill>
              </a:defRPr>
            </a:pPr>
            <a:r>
              <a:t>A checkpoint answers WHERE to resume. Safe continuation also needs WHAT was known, verified, still fresh, and authorized.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0AC082-EAA9-4176-B0EF-F812B6AA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8046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1B2A4A"/>
                </a:solidFill>
              </a:defRPr>
            </a:pPr>
            <a:r>
              <a:t>The distinction matters most in: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9BC6CA4-DD08-4A28-8752-BFEC534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LONG-RUNNING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Evidence can expire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before later actions.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5F4184A-B458-4EDC-B98F-96A938AB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CRASH + RESUME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Execution returns;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evidence context may not.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E0AEDC0-A987-46AC-ABD9-0158646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CONSEQUENTIAL ACTIONS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Stale inputs can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change the outcome.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117097229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3EDBE89-891C-4F28-9C9E-9C69D38CB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88A15BB-9243-41DE-B702-A44DEAEB9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458B220-012C-4EA2-B6C2-93260D545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 crash preserves state—not evidence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1D7F8DE5-FE5D-4B90-A6E5-CB153D062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Implemented PoC · 10-step document analysis · evidence at steps 3, 6, 9 · crash at step 7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3BC719-6E69-4B3D-9EBB-5A3959C25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51560"/>
            <a:ext cx="8046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2A4A"/>
                </a:solidFill>
              </a:defRPr>
            </a:pPr>
            <a:r>
              <a:t>Steps 1–6 complete  →  step 7 crashes  →  recovery must decide what remains usable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F4D3F1CC-9CB8-4B0D-BBE6-0C31527BE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463040"/>
            <a:ext cx="4114800" cy="4114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1677B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1677B8"/>
                </a:solidFill>
              </a:defRPr>
            </a:pPr>
            <a:r>
              <a:rPr sz="1100" b="1">
                <a:solidFill>
                  <a:srgbClr val="1677B8"/>
                </a:solidFill>
              </a:rPr>
              <a:t>What the trace can restore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346B471-3093-4DDD-8959-3DF253CF2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384048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Steps completed: 1–6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Outputs and resource records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Two evidence envelopes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Crash location: step 7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Execution can restart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52DB2853-2E2E-4177-A7F7-142EE427B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3440" y="1463040"/>
            <a:ext cx="4114800" cy="4114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1677B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1677B8"/>
                </a:solidFill>
              </a:defRPr>
            </a:pPr>
            <a:r>
              <a:rPr sz="1100" b="1">
                <a:solidFill>
                  <a:srgbClr val="1677B8"/>
                </a:solidFill>
              </a:rPr>
              <a:t>What recovery must decide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BB1FE0E-F570-40AD-81C0-347FE4B17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1965960"/>
            <a:ext cx="3840480" cy="1645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Is step 3 evidence fresh?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Is step 6 evidence valid?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Was each envelope verified?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Must evidence be refreshed?</a:t>
            </a:r>
          </a:p>
          <a:p xmlns:a="http://schemas.openxmlformats.org/drawingml/2006/main">
            <a:pPr>
              <a:spcAft>
                <a:spcPts val="400"/>
              </a:spcAft>
              <a:buNone/>
              <a:defRPr sz="1100">
                <a:solidFill>
                  <a:srgbClr val="1D3156"/>
                </a:solidFill>
              </a:defRPr>
            </a:pPr>
            <a:r>
              <a:rPr sz="1100">
                <a:solidFill>
                  <a:srgbClr val="1D3156"/>
                </a:solidFill>
              </a:rPr>
              <a:t>Is continuation authorized?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8005AD3-389C-4DAB-9F25-FB4CAEE3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749039"/>
            <a:ext cx="8412480" cy="4114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1677B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677B8"/>
                </a:solidFill>
              </a:defRPr>
            </a:pPr>
            <a:r>
              <a:rPr sz="1200" b="1">
                <a:solidFill>
                  <a:srgbClr val="1677B8"/>
                </a:solidFill>
              </a:rPr>
              <a:t>Evidence-governed recovery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B5E6969A-F802-48EA-AE67-C8FB09A29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51960"/>
            <a:ext cx="25603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Step 3 — Extract Entities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F0716B2E-AC54-41FF-8EBA-EE7F0EAE7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251960"/>
            <a:ext cx="11887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7FAED0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677B8"/>
                </a:solidFill>
              </a:defRPr>
            </a:pPr>
            <a:r>
              <a:rPr sz="1000" b="1">
                <a:solidFill>
                  <a:srgbClr val="1677B8"/>
                </a:solidFill>
              </a:rPr>
              <a:t>REFRESH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4056716A-2154-40DC-A72D-AB78F1E30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251960"/>
            <a:ext cx="43891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8C8D"/>
                </a:solidFill>
              </a:defRPr>
            </a:pPr>
            <a:r>
              <a:t>simulated stale evidence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BC372C1-0140-433C-8A95-A9AD81624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54296"/>
            <a:ext cx="25603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Step 6 — Assess Risk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6D09DCE-9FBE-4050-8792-68CC5E7F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4654296"/>
            <a:ext cx="11887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7FAED0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677B8"/>
                </a:solidFill>
              </a:defRPr>
            </a:pPr>
            <a:r>
              <a:rPr sz="1000" b="1">
                <a:solidFill>
                  <a:srgbClr val="1677B8"/>
                </a:solidFill>
              </a:rPr>
              <a:t>ACT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24938D3-0DB3-4470-85C0-000300C66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654296"/>
            <a:ext cx="43891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8C8D"/>
                </a:solidFill>
              </a:defRPr>
            </a:pPr>
            <a:r>
              <a:t>fresh and verified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11489FF-323E-42C2-932A-0132A511F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56632"/>
            <a:ext cx="25603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Step 7 — Generate Findings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AEF5C52-7798-468E-B957-23DB2B69B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4680" y="5056632"/>
            <a:ext cx="11887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EEF4FA"/>
          </a:solidFill>
          <a:ln xmlns:a="http://schemas.openxmlformats.org/drawingml/2006/main" w="9525">
            <a:solidFill>
              <a:srgbClr val="7FAED0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677B8"/>
                </a:solidFill>
              </a:defRPr>
            </a:pPr>
            <a:r>
              <a:rPr sz="1000" b="1">
                <a:solidFill>
                  <a:srgbClr val="1677B8"/>
                </a:solidFill>
              </a:rPr>
              <a:t>WAIT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DC084608-6CE2-4BA6-BF24-A37C9158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5056632"/>
            <a:ext cx="43891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7F8C8D"/>
                </a:solidFill>
              </a:defRPr>
            </a:pPr>
            <a:r>
              <a:t>resume only after required refresh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3F804A-54E9-4646-BCA9-1EE6659E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50408"/>
            <a:ext cx="8046720" cy="36576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t>Decision: refresh stale evidence, then resume from step 7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F232EA49-9447-43F0-BD06-66B7CC0AB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5BAE2B8-B763-4174-8EA4-A4B012CBB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18851244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52EEDC2-4563-4137-AEA8-BECD75FEA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5B698831-B365-4B7A-A24A-7DCE0B42D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ECD1E93-264B-4AFB-899C-36278D72E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Evidence is first-class runtime state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E1AFBCD-19D8-4C9C-A609-13DF18A3D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An envelope carries the decision context—not just the value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7ABC9C41-1897-4148-A16E-0460FF665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Source / Provenance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89B7836F-9C4D-4DDD-B89F-3639E4837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097280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Where did it originate?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45AF4C-CAD0-4BA1-AB5B-0A0E0F7F2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9344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Observed at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72A0C82-A9E0-4CE4-924F-77E85A8D6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1609344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When was it captured?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BE27B25-D286-41B1-8D71-29CBCCEA2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21408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Freshness / Validity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1F549B60-876F-4129-83A9-007F78A1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121408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Is it still applicable?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A5C0E510-C5DA-4EF7-A4A5-02B02D894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33472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Verification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A922898-DEDE-4B67-AF6B-BBA4EA38D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633472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Was it checked, and by whom?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0CE44ED2-2083-4B68-93CA-14FE9EEBF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45536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Content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77AA80C3-2330-4B04-AFF6-7878C4C8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145536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What was observed?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3C150238-A2DB-4D7F-BAB1-866F28EFD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57600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Resource record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03E760A0-1F8E-4142-8629-B7C168DD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3657600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What did this step cost?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B5145591-A8E1-4C31-B667-27A8AA1E5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9664"/>
            <a:ext cx="2926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FFFF"/>
                </a:solidFill>
              </a:defRPr>
            </a:pPr>
            <a:r>
              <a:t>Outcome link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9E2EB09A-21D0-4940-AC4C-2823E2592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169664"/>
            <a:ext cx="521208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1B2A4A"/>
                </a:solidFill>
              </a:defRPr>
            </a:pPr>
            <a:r>
              <a:t>Which decision did it support?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65F68CBE-EBB2-4778-A6F1-36E2DDA48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846320"/>
            <a:ext cx="54864" cy="502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11C1FB9-2066-4AD9-A068-3499600A9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846320"/>
            <a:ext cx="7991856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1B2A4A"/>
                </a:solidFill>
              </a:defRPr>
            </a:pPr>
            <a:r>
              <a:t>A checkpoint stores position. An evidence envelope stores the basis for safe continuation.</a:t>
            </a:r>
          </a:p>
        </p:txBody>
      </p:sp>
      <p:sp>
        <p:nvSpPr>
          <p:cNvPr id="22" name="Rectangle 21">
            <a:extLst xmlns:a="http://schemas.openxmlformats.org/drawingml/2006/main">
              <a:ext uri="{FF2B5EF4-FFF2-40B4-BE49-F238E27FC236}">
                <a16:creationId xmlns:a16="http://schemas.microsoft.com/office/drawing/2014/main" id="{22364F65-C1C1-4B72-A25C-76A713A8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9508C161-3687-4BCE-BADA-6272DC21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F226844-11C2-4749-8280-18B7CBBB7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644652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E86C1"/>
                </a:solidFill>
              </a:defRPr>
            </a:pPr>
            <a:r>
              <a:t>4 / 9</a:t>
            </a:r>
          </a:p>
        </p:txBody>
      </p:sp>
    </p:spTree>
    <p:extLst>
      <p:ext uri="{BB962C8B-B14F-4D97-AF65-F5344CB8AC3E}">
        <p14:creationId xmlns:p14="http://schemas.microsoft.com/office/powerpoint/2010/main" val="1737113454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CA4C140-4D2C-40F1-8997-F35CF9961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285803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A9DC287-DEEE-4365-BE77-419436291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E7519A-0904-4537-9EAF-88CEF432E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The harness adds a policy gate to the loop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3B89794-903A-467E-93E9-B66160F3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Checkpoint only where the next action depends on durable evidence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54D7AE7-3169-4F02-86F4-554CC1AAF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8046720" cy="4114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7F8C8D"/>
                </a:solidFill>
              </a:defRPr>
            </a:pPr>
            <a:r>
              <a:t>Traditional:  Plan  →  Tool  →  Result  →  Next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4990C802-3D7A-4B06-BD83-1503CB00D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8046720" cy="4114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E86C1"/>
                </a:solidFill>
              </a:defRPr>
            </a:pPr>
            <a:r>
              <a:t>EGAH:  Plan  →  Checkpoint  →  Tool  →  Verify  →  Update evidence  →  Decide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CDF6A624-BC53-47A8-B348-C0B88BA7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86000"/>
            <a:ext cx="384048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B2A4A"/>
                </a:solidFill>
              </a:defRPr>
            </a:pPr>
            <a:r>
              <a:t>At a consequential boundary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3A9B7C-E9BC-404F-8CDB-CAC5280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651760"/>
            <a:ext cx="384048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1.  Capture execution + evidence state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2.  Persist provenance, time and content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3.  Verify against policy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4.  ACT / REFRESH / ASK / ABSTAIN</a:t>
            </a:r>
          </a:p>
        </p:txBody>
      </p:sp>
      <p:sp>
        <p:nvSpPr>
          <p:cNvPr id="10" name="Rectangle 9">
            <a:extLst xmlns:a="http://schemas.openxmlformats.org/drawingml/2006/main">
              <a:ext uri="{FF2B5EF4-FFF2-40B4-BE49-F238E27FC236}">
                <a16:creationId xmlns:a16="http://schemas.microsoft.com/office/drawing/2014/main" id="{919B52E8-C05F-4ADD-94DB-7B22F21DB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286000"/>
            <a:ext cx="12700" cy="3200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E8E8916-FA23-476C-9CD2-3A3AC8E6D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46320" y="2286000"/>
            <a:ext cx="40233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1">
                <a:solidFill>
                  <a:srgbClr val="1B2A4A"/>
                </a:solidFill>
              </a:defRPr>
            </a:pPr>
            <a:r>
              <a:t>After a crash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C2B2556-2045-4955-8BFB-44E10DA11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2651760"/>
            <a:ext cx="3840480" cy="2743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1.  Restore state, envelopes and history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2.  Recheck freshness and validity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3.  Build a recovery plan</a:t>
            </a:r>
          </a:p>
          <a:p xmlns:a="http://schemas.openxmlformats.org/drawingml/2006/main">
            <a:pPr>
              <a:spcAft>
                <a:spcPts val="500"/>
              </a:spcAft>
              <a:buNone/>
              <a:defRPr sz="1200">
                <a:solidFill>
                  <a:srgbClr val="1B2A4A"/>
                </a:solidFill>
              </a:defRPr>
            </a:pPr>
            <a:r>
              <a:t>4.  Resume, refresh, escalate—or stop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F21B9BAB-1129-46A0-82C1-CE98A94C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4DE1698-FFEE-4AEE-BCC6-93D90F3EA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206471132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EE97DB0-CEF5-476C-954D-3BB28A4A5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10D8485-7A74-4693-89E4-6DA12DE49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32C46DE-FCE6-40DF-9251-690B12A32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9FC6458-DCC4-410B-9525-2093CBA28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End-to-end evidence-governed workflow</a:t>
            </a:r>
          </a:p>
        </p:txBody>
      </p:sp>
      <p:pic>
        <p:nvPicPr>
          <p:cNvPr id="16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14a5ebb5fa4b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48640" y="1051560"/>
            <a:ext cx="8046720" cy="4206240"/>
          </a:xfrm>
          <a:prstGeom xmlns:a="http://schemas.openxmlformats.org/drawingml/2006/main" prst="rect">
            <a:avLst/>
          </a:prstGeom>
        </p:spPr>
      </p:pic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781BC4A-7E3B-47FA-9228-57A41FB51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94960"/>
            <a:ext cx="8046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B2A4A"/>
                </a:solidFill>
              </a:defRPr>
            </a:pPr>
            <a:r>
              <a:t>Three core subsystems:  State (graph, checkpoints, memory)  ·  Evidence (provenance, validity, verification)  ·  Telemetry (tokens, cost, latency)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6AD3620-EA98-484C-9CB7-61EFE4C6E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60720"/>
            <a:ext cx="804672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 b="1">
                <a:solidFill>
                  <a:srgbClr val="2E86C1"/>
                </a:solidFill>
              </a:defRPr>
            </a:pPr>
            <a:r>
              <a:t>Flow:  Plan → Checkpoint → Policy Gate → Sufficient?  →  ACT  /  REFRESH  /  ASK  /  ABSTAIN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957D191C-9F4C-4F30-90CD-F58B24D5D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F84585D6-FAF1-4AE4-A342-EF388A20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213337440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Recovery must restore the decision basis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Aspect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5156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Traditional Recovery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05156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EGAH Recovery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2704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Execution state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52704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Restored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52704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Restored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0253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Evidence state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0253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Not checked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0253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2 envelopes restored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78024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Verification history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478024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Not analysed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478024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2 records analysed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53512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Evidence freshness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953512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Unknown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953512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Step 3 stale; step 6 fresh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2900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Resume decision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42900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Resume at step 7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2900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Refresh, then resume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0448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Risk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0448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May use stale evidence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0448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Policy-gated continuation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7997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Audit trail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37997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Recovery gap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7997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Continuous recovery record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1DAEAD2-BE05-43A2-960F-179CE9DF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8B710A0-3AFA-4214-A6B5-9D48BA03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8997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DE88D75-B8BE-4882-B05F-2DFEF37A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Five-minute demo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265108C-A41A-46F8-8958-7D01D87B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Local Streamlit PoC · simulated mode works without an API key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1C96092-E08A-4271-921C-C4DEE6C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4122F51-A711-47AF-AF25-1F3E7EF5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097280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Run the 10-step document workflow and inject a crash at step 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9C916D0-2459-4F99-A178-61E2B05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64208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013BE4F-16AB-44D5-8312-AEDF7F96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64208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Inspect two preserved evidence envelopes and verification records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AD422D-EDE8-4571-9859-51252166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1136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1D2B5C4-4A7F-493D-A5F1-ECD7DE2B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31136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Compare state-only recovery with evidence-governed recovery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023A373-2222-4F90-9613-F4A882C4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98064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FDC32F3-175E-42CB-AB1D-80840A1A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98064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Mark step 3 stale; generate a REFRESH recommendation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3254C8-0F39-4C44-A0FE-0658FAD2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64992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A12363A-1199-480A-84A6-D3C65D4E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64992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Resume safely and inspect the audit and resource trail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E971BA4-11CB-458B-B6D6-20A45A29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3181024-61D8-4EA3-8B21-9915D518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31920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Local verification: 35 automated tests pass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FD81697-9B08-42F3-AC10-1858ACA5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658938B-5198-4593-B85C-33D0C3BB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754880"/>
            <a:ext cx="7991856" cy="7772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The demo must show a changed recovery decision—not only a restored screen.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1ABACA7-620C-4336-A04B-CE4F63A0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EA5D864-67C4-432E-BFCB-38F3728C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0067303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1BC2F7A-70A2-4F45-B0BE-16BDDC27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5C209B6-D134-4424-9BCD-F98C2439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7B8E8D-1103-4E6C-8013-FF541807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What should earn a place in the harness?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E7D436-ADEB-4DD9-B5E7-60A5F8E8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Six production checks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015936A-F0A3-4CBB-8E79-6C696AD1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65A390E-6BB5-4AEB-82E7-8D5AFAB8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097280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Separate execution state from evidence state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DA2CBBB-AA02-4C38-8D57-88366945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751CCF90-FF14-4B87-99A6-294B1AF1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27632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Persist provenance, freshness and verification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292C8D0-8A83-4EBC-A63D-BB41E3DF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57984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BE54DF5-238E-4F5F-9516-E15466FC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57984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Revalidate at consequential boundaries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0CCFDDC-6609-4F86-89AE-168DF133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88336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E052059-C855-488B-AB61-926C904A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88336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Use evidence-backed capability boundaries for smaller models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25267EF-F1EE-44EE-909C-C3900F3E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18688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46C8364-D335-4258-8A5C-F5323FC6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18688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Link tokens and cost to verified outcomes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868430E-481F-49B2-9547-F970154C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49040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2F01EF8-66AE-4B18-8188-A9C95F49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749040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Measure reliability gain against harness overhead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7D0BDC6-C378-4CBA-8D74-BAFB378B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0560"/>
            <a:ext cx="54864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09FFF5F-2D40-4E2B-94D0-65885C1F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480560"/>
            <a:ext cx="7991856" cy="6400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B2A4A"/>
                </a:solidFill>
              </a:defRPr>
            </a:pPr>
            <a:r>
              <a:t>After a crash, remember not only WHERE the agent was—but WHY it may continue.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199179-5DE8-4C7E-BEE2-D9A551D8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03520"/>
            <a:ext cx="8046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7F8C8D"/>
                </a:solidFill>
              </a:defRPr>
            </a:pPr>
            <a:r>
              <a:t>Discussion: Which actions in your system deserve an evidence checkpoint?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1E1A003-C387-4C41-9C3A-0D24B134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ED38079-9EDB-482B-8C13-E8A3DF61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F1AAC6-E6B4-4EE0-8BD6-050856EE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644652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E86C1"/>
                </a:solidFill>
              </a:defRPr>
            </a:pPr>
            <a:r>
              <a:t>9 / 9</a:t>
            </a:r>
          </a:p>
        </p:txBody>
      </p:sp>
    </p:spTree>
    <p:extLst>
      <p:ext uri="{BB962C8B-B14F-4D97-AF65-F5344CB8AC3E}">
        <p14:creationId xmlns:p14="http://schemas.microsoft.com/office/powerpoint/2010/main" val="181861828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Recovery has two separate failure modes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C4E0AC-716E-4B79-9FE6-3216FCDE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8046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Execution recovery restores control flow; evidence-validity recovery restores permission to continue.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D285D20-AF73-42A6-B51C-9DEF3E21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54864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95B0D41-C2AB-4211-880D-F253F5FA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920240"/>
            <a:ext cx="7991856" cy="9144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1B2A4A"/>
                </a:solidFill>
              </a:defRPr>
            </a:pPr>
            <a:r>
              <a:t>A resumed workflow is not safe merely because it is runnable. Required evidence must still be current, verified and authorized.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0AC082-EAA9-4176-B0EF-F812B6AA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8046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1B2A4A"/>
                </a:solidFill>
              </a:defRPr>
            </a:pPr>
            <a:r>
              <a:t>Two layers—one explicit boundary: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9BC6CA4-DD08-4A28-8752-BFEC534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EXECUTION RECOVERY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/>
            </a: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Restores checkpoint,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state and next step.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5F4184A-B458-4EDC-B98F-96A938AB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EVIDENCE-VALIDITY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RECOVERY</a:t>
            </a: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/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Rechecks freshness,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provenance and policy.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E0AEDC0-A987-46AC-ABD9-0158646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EGAH'S FOCUS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/>
            </a: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Turns validity into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ACT / REFRESH /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ASK / ABSTAIN.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117097229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EGAH complements the OSS stack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Capability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5156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Existing OSS strength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05156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Gap EGAH makes explicit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2704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LangGraph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52704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Graph checkpoints, replay, HIL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52704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Evidence schema + validity gate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0253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Temporal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0253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Durable history and replay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0253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External-fact freshness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78024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Dapr Workflow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478024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Retries; signed history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478024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Decision-evidence lifecycle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53512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Prefect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953512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Flow/task state and retries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953512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Resume-authorization policy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2900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OpenTelemetry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42900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Traces, metrics, logs, baggage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2900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Executable continuation decision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0448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Langfuse / Phoenix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0448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LLM traces, evals, cost, latency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0448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Durable evidence dependencies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7997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EGAH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37997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Composes above any runtime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7997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ACT · REFRESH · ASK · ABSTAIN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8B5615B-89BD-4130-8E82-03B25C8F6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C56C832-2B2D-46FF-B57C-6F2759408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C855966C-D533-447B-AE24-D5CA3934B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Adapter-first integration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DC4E0AC-716E-4B79-9FE6-3216FCDE5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80467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EGAH can sit beside existing workflow, data, policy and observability investments.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2D285D20-AF73-42A6-B51C-9DEF3E21A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20240"/>
            <a:ext cx="54864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995B0D41-C2AB-4211-880D-F253F5FA1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1920240"/>
            <a:ext cx="7991856" cy="9144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400" b="0">
                <a:solidFill>
                  <a:srgbClr val="1B2A4A"/>
                </a:solidFill>
              </a:defRPr>
            </a:pPr>
            <a:r>
              <a:t>Current PoC: Python package + SQLite + Streamlit. Production interfaces below are a staged roadmap—not implemented claims.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90AC082-EAA9-4176-B0EF-F812B6AAF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08960"/>
            <a:ext cx="8046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400" b="1">
                <a:solidFill>
                  <a:srgbClr val="1B2A4A"/>
                </a:solidFill>
              </a:defRPr>
            </a:pPr>
            <a:r>
              <a:t>Three community entry points: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D9BC6CA4-DD08-4A28-8752-BFEC5345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EMBEDDED SDK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/>
            </a: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Python library around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consequential nodes;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store + decide.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95F4184A-B458-4EDC-B98F-96A938AB5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RUNTIME HOOKS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/>
            </a: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LangGraph, Temporal,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Dapr or Prefect; SQL/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NoSQL evidence stores.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E0AEDC0-A987-46AC-ABD9-01586469B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3566160"/>
            <a:ext cx="2560320" cy="20116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SERVICE + EVENTS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/>
            </a:r>
            <a:endParaRPr/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REST/gRPC; OTel export;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OPA/Cedar; bureau, KYC,</a:t>
            </a:r>
          </a:p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fraud and pricing adapters.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B08CFAF7-6523-4C21-BFEB-50A977DBB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F97BD8A-9A21-4DE7-B2F5-8ADE3151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117097229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Safety gain has a measurable cost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Metric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5156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State-only baseline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05156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EGAH · 3 checkpoints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2704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Median · 10 steps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52704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13.53 ms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52704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17.31 ms  (+28.0%)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0253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p95 · 10 steps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0253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15.63 ms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0253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21.24 ms  (+35.8%)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78024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Throughput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478024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73.9 workflows/s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478024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57.8/s  (−21.9%)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53512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Logical payload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953512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6.70 KB / run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953512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10.66 KB  (+3.95 KB)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2900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Recovery assessment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42900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0.157 ms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2900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0.539 ms  (+0.382)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0448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Stale-case block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0448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0 / 200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0448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200 / 200 unsafe resumes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7997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Automated tests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37997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Same codebase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7997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35 / 35 passing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Operations move to targeted action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Event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5156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State-only operating model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05156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EGAH-enabled model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2704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Failure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52704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Restart at checkpoint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52704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Assess evidence before restart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0253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Alert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0253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Crash, retry, latency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0253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+ stale / invalid / policy signal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78024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Incident triage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478024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Correlate logs + DB manually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478024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Run → evidence → verification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53512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Support ticket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953512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Broad rerun or manual checks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953512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Refresh affected provider only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2900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Audit query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42900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Assemble proof after event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2900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Query envelope + decision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0448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Escalation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0448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Operator infers next action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0448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ASK / ABSTAIN with reason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7997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Pilot KPI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37997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MTTI + touch time unmeasured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7997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Measure before / after; no claim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1DAEAD2-BE05-43A2-960F-179CE9DF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8B710A0-3AFA-4214-A6B5-9D48BA03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8997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DE88D75-B8BE-4882-B05F-2DFEF37A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Loan journey: each decision earns a gate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265108C-A41A-46F8-8958-7D01D87B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Scenario demo · customer reaches signature after a long interruption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1C96092-E08A-4271-921C-C4DEE6C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4122F51-A711-47AF-AF25-1F3E7EF5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097280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Application and consent captured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9C916D0-2459-4F99-A178-61E2B05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64208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013BE4F-16AB-44D5-8312-AEDF7F96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64208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KYC and sanctions checks verified → evidence A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AD422D-EDE8-4571-9859-51252166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1136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1D2B5C4-4A7F-493D-A5F1-ECD7DE2B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31136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Bureau score 742; valid for 2 hours → checkpoint B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023A373-2222-4F90-9613-F4A882C4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98064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FDC32F3-175E-42CB-AB1D-80840A1A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98064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Fraud signals + underwriting policy evaluated → checkpoint C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3254C8-0F39-4C44-A0FE-0658FAD2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64992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A12363A-1199-480A-84A6-D3C65D4E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64992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Offer generated: 10.25%, clauses v17 → document hash D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E971BA4-11CB-458B-B6D6-20A45A29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3181024-61D8-4EA3-8B21-9915D518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31920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Customer views offer; network fails before signature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FD81697-9B08-42F3-AC10-1858ACA5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658938B-5198-4593-B85C-33D0C3BB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754880"/>
            <a:ext cx="7991856" cy="7772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Execution can resume at signature. The decision evidence supporting that agreement may no longer be valid.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1ABACA7-620C-4336-A04B-CE4F63A0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EA5D864-67C4-432E-BFCB-38F3728C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006730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1DAEAD2-BE05-43A2-960F-179CE9DF6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8B710A0-3AFA-4214-A6B5-9D48BA03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8997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4DE88D75-B8BE-4882-B05F-2DFEF37A6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Recovery must re-earn permission to sign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7265108C-A41A-46F8-8958-7D01D87BF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Three hours later · bureau expired · fraud signal changed · pricing moved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81C96092-E08A-4271-921C-C4DEE6CDE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A4122F51-A711-47AF-AF25-1F3E7EF58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097280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Restore “await signature”; load evidence A / B / C / D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9C916D0-2459-4F99-A178-61E2B05B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64208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2013BE4F-16AB-44D5-8312-AEDF7F96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64208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Reassess: KYC current; bureau expired; fraud changed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41AD422D-EDE8-4571-9859-51252166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31136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1D2B5C4-4A7F-493D-A5F1-ECD7DE2BC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231136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Policy returns REFRESH; invalidate the v17 agreement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D023A373-2222-4F90-9613-F4A882C4B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98064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EFDC32F3-175E-42CB-AB1D-80840A1A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798064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Re-fetch bureau + fraud; rerun affected underwriting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A3254C8-0F39-4C44-A0FE-0658FAD20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364992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9A12363A-1199-480A-84A6-D3C65D4E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364992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Pull current rate + clauses; generate v18 and a new hash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E971BA4-11CB-458B-B6D6-20A45A293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31920"/>
            <a:ext cx="36576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13181024-61D8-4EA3-8B21-9915D5182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31920"/>
            <a:ext cx="7772400" cy="50292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100" b="0">
                <a:solidFill>
                  <a:srgbClr val="1B2A4A"/>
                </a:solidFill>
              </a:defRPr>
            </a:pPr>
            <a:r>
              <a:t>Expose only v18 for signature; append verification + audit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FD81697-9B08-42F3-AC10-1858ACA5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54864" cy="777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658938B-5198-4593-B85C-33D0C3BB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754880"/>
            <a:ext cx="7991856" cy="7772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Safe continuation means the obsolete 10.25% agreement cannot be signed. Only the regenerated, currently justified offer remains active.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21ABACA7-620C-4336-A04B-CE4F63A0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EA5D864-67C4-432E-BFCB-38F3728C3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0067303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Implementation lessons shape the roadmap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Learning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5156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What the PoC exposed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05156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Next engineering step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2704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Evidence semantics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52704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A value alone is insufficient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52704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Typed provider schemas + hashes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0253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Freshness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0253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TTL is only one invalidator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0253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Events, versions, authorization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78024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Checkpoint placement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478024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Every step is wasteful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478024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Risk-based action boundaries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53512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Dependency refresh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953512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Stale input invalidates outputs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953512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Evidence dependency DAG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2900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Atomicity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42900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Separate commits can diverge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2900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Transactional outbox + HA store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0448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Enforcement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0448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UI guard is not sufficient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0448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Plan-bound backend resume API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7997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Privacy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37997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Evidence may be sensitive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7997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Minimize, encrypt, retain, control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643B7928-3CE8-4E8F-A8E3-5F516083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B7E5F385-78BB-4ABC-9C3E-AD670CA6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1" y="73152"/>
            <a:ext cx="12045695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A67970CD-20C0-43BA-BC80-79111044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Where EGAH does not fit</a:t>
            </a:r>
          </a:p>
        </p:txBody>
      </p:sp>
      <p:sp>
        <p:nvSpPr>
          <p:cNvPr id="5" name="Rounded Rectangle 4">
            <a:extLst xmlns:a="http://schemas.openxmlformats.org/drawingml/2006/main">
              <a:ext uri="{FF2B5EF4-FFF2-40B4-BE49-F238E27FC236}">
                <a16:creationId xmlns:a16="http://schemas.microsoft.com/office/drawing/2014/main" id="{4FA1C39B-D08A-47ED-B8BC-86858DDC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05156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Limitation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572CF-23E8-44A6-8BBD-85914DD1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05156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Current PoC truth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6317C0E-3883-49EA-A890-6C0C1843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05156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1B2A4A"/>
          </a:solidFill>
          <a:ln xmlns:a="http://schemas.openxmlformats.org/drawingml/2006/main" w="10160">
            <a:solidFill>
              <a:srgbClr val="1B2A4A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100" b="1">
                <a:solidFill>
                  <a:srgbClr val="FFFFFF"/>
                </a:solidFill>
              </a:defRPr>
            </a:pPr>
            <a:r>
              <a:t>Why it matters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447820A-A02A-47BB-A1B5-4D374A704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152704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Verification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9370A1B5-A14A-4033-B673-972B22B1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152704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Output length &gt; 10 chars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532F78F-CD20-4AA1-80FE-276206C3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152704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Not factual correctness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8FA0A38-5D1C-4727-9B53-3BE4BF180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00253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Staleness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0AABA01B-6A7A-441D-BFE0-CA6B4A028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00253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Demo aging by step position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773CCFAE-D289-44A5-8661-7AAFA3B56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00253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No live invalidation feed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6B50F723-3306-46A1-A8D4-837605C3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478024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Refresh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3A311E43-85C2-4DD4-83D6-F51BEB136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478024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Recommendation only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8784F7B-7213-4F60-A096-C22AD97A5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478024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No bureau / fraud adapter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4BF2D0B-8090-4232-AD8F-ACC13BF5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2953512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Execution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0A3588E1-A312-401D-B652-F875ACBE2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2953512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Sequential Python loop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CB4D8EE6-05D1-4420-92D3-2C8CA5D657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2953512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LangGraph graph not active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10EE5B96-4373-480B-8A59-08F97ECE9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429000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Persistence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FFA0A262-5462-4D0D-AC27-918529CBA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429000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SQLite; separate commits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12B440EC-86C9-424E-8685-9D1336277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429000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Not HA or crash-atomic</a:t>
            </a:r>
          </a:p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91F535C9-DBAA-4633-9CFC-81D6505F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3904488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Performance</a:t>
            </a:r>
          </a:p>
        </p:txBody>
      </p:sp>
      <p:sp>
        <p:nvSpPr>
          <p:cNvPr id="2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2594ADC0-7088-46C5-B701-C8A2255A2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3904488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+28% median local latency</a:t>
            </a:r>
          </a:p>
        </p:txBody>
      </p:sp>
      <p:sp>
        <p:nvSpPr>
          <p:cNvPr id="25" name="Rounded Rectangle 24">
            <a:extLst xmlns:a="http://schemas.openxmlformats.org/drawingml/2006/main">
              <a:ext uri="{FF2B5EF4-FFF2-40B4-BE49-F238E27FC236}">
                <a16:creationId xmlns:a16="http://schemas.microsoft.com/office/drawing/2014/main" id="{9898C4E4-8155-4E54-8CFC-033AC90CD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3904488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Checkpoint selectively</a:t>
            </a:r>
          </a:p>
        </p:txBody>
      </p:sp>
      <p:sp>
        <p:nvSpPr>
          <p:cNvPr id="26" name="Rounded Rectangle 25">
            <a:extLst xmlns:a="http://schemas.openxmlformats.org/drawingml/2006/main">
              <a:ext uri="{FF2B5EF4-FFF2-40B4-BE49-F238E27FC236}">
                <a16:creationId xmlns:a16="http://schemas.microsoft.com/office/drawing/2014/main" id="{FE1B0433-F840-4787-B867-FED8B2CC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4379976"/>
            <a:ext cx="219456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1">
                <a:solidFill>
                  <a:srgbClr val="1B2A4A"/>
                </a:solidFill>
              </a:defRPr>
            </a:pPr>
            <a:r>
              <a:t>Poor fit</a:t>
            </a:r>
          </a:p>
        </p:txBody>
      </p:sp>
      <p:sp>
        <p:nvSpPr>
          <p:cNvPr id="2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2CB008E-A48F-4836-8CF3-88090F733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379976"/>
            <a:ext cx="292608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AD3DF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546477"/>
                </a:solidFill>
              </a:defRPr>
            </a:pPr>
            <a:r>
              <a:rPr sz="1000" b="0">
                <a:solidFill>
                  <a:srgbClr val="546477"/>
                </a:solidFill>
              </a:rPr>
              <a:t>Short, low-risk, deterministic</a:t>
            </a:r>
          </a:p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23BA557C-A222-469E-B42A-31751D70A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7840" y="4379976"/>
            <a:ext cx="3200400" cy="438912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CEEFF"/>
          </a:solidFill>
          <a:ln xmlns:a="http://schemas.openxmlformats.org/drawingml/2006/main" w="9525">
            <a:solidFill>
              <a:srgbClr val="8AB8D8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1677B8"/>
                </a:solidFill>
              </a:defRPr>
            </a:pPr>
            <a:r>
              <a:rPr sz="1000" b="0">
                <a:solidFill>
                  <a:srgbClr val="1677B8"/>
                </a:solidFill>
              </a:rPr>
              <a:t>Policy/storage may not pay back</a:t>
            </a:r>
          </a:p>
        </p:txBody>
      </p:sp>
      <p:sp>
        <p:nvSpPr>
          <p:cNvPr id="29" name="Rectangle 28">
            <a:extLst xmlns:a="http://schemas.openxmlformats.org/drawingml/2006/main">
              <a:ext uri="{FF2B5EF4-FFF2-40B4-BE49-F238E27FC236}">
                <a16:creationId xmlns:a16="http://schemas.microsoft.com/office/drawing/2014/main" id="{F0E57793-A81F-449F-A75D-D3853FC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0" name="TextBox 29">
            <a:extLst xmlns:a="http://schemas.openxmlformats.org/drawingml/2006/main">
              <a:ext uri="{FF2B5EF4-FFF2-40B4-BE49-F238E27FC236}">
                <a16:creationId xmlns:a16="http://schemas.microsoft.com/office/drawing/2014/main" id="{786E7089-A838-4271-BBDD-11F2010F8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</p:spTree>
    <p:extLst>
      <p:ext uri="{BB962C8B-B14F-4D97-AF65-F5344CB8AC3E}">
        <p14:creationId xmlns:p14="http://schemas.microsoft.com/office/powerpoint/2010/main" val="64764627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D1BC2F7A-70A2-4F45-B0BE-16BDDC277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67116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5C209B6-D134-4424-9BCD-F98C2439E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" y="73152"/>
            <a:ext cx="12045696" cy="868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2A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D27B8E8D-1103-4E6C-8013-FF5418072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1">
                <a:solidFill>
                  <a:srgbClr val="FFFFFF"/>
                </a:solidFill>
              </a:defRPr>
            </a:pPr>
            <a:r>
              <a:t>What this submission proves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EE7D436-ADEB-4DD9-B5E7-60A5F8E80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"/>
            <a:ext cx="68580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100">
                <a:solidFill>
                  <a:srgbClr val="D6EAF8"/>
                </a:solidFill>
              </a:defRPr>
            </a:pPr>
            <a:r>
              <a:t>Objective evidence for a practitioner-focused CFP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015936A-F0A3-4CBB-8E79-6C696AD14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097280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65A390E-6BB5-4AEB-82E7-8D5AFAB87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097280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Problem is precise: resume position ≠ valid decision basis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DA2CBBB-AA02-4C38-8D57-88366945D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27632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751CCF90-FF14-4B87-99A6-294B1AF16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1627632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Distinct gap: complements durable engines and observability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292C8D0-8A83-4EBC-A63D-BB41E3DF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57984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EBE54DF5-238E-4F5F-9516-E15466FC5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157984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Working core: envelopes, verification, recovery plan, audit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30CCFDDC-6609-4F86-89AE-168DF133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88336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3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0E052059-C855-488B-AB61-926C904AE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688336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Repeatable proof: 35/35 tests; 200/200 stale cases blocked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25267EF-F1EE-44EE-909C-C3900F3E8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18688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446C8364-D335-4258-8A5C-F5323FC6F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218688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Measured cost: +28% latency; +3.95 KB logical payload/run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868430E-481F-49B2-9547-F970154C5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49040"/>
            <a:ext cx="36576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2E86C1"/>
          </a:solidFill>
          <a:ln xmlns:a="http://schemas.openxmlformats.org/drawingml/2006/main" w="10160">
            <a:solidFill>
              <a:srgbClr val="2E86C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ctr">
              <a:buNone/>
              <a:defRPr sz="1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82F01EF8-66AE-4B18-8188-A9C95F49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749040"/>
            <a:ext cx="7772400" cy="475488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F5F7FA"/>
          </a:solidFill>
          <a:ln xmlns:a="http://schemas.openxmlformats.org/drawingml/2006/main" w="10160">
            <a:solidFill>
              <a:srgbClr val="D5DBDB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300" b="0">
                <a:solidFill>
                  <a:srgbClr val="1B2A4A"/>
                </a:solidFill>
              </a:defRPr>
            </a:pPr>
            <a:r>
              <a:t>Honest boundary: live refresh, policy/authorization + HA remain</a:t>
            </a:r>
          </a:p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47D0BDC6-C378-4CBA-8D74-BAFB378B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480560"/>
            <a:ext cx="54864" cy="6400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6C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509FFF5F-2D40-4E2B-94D0-65885C1F0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4480560"/>
            <a:ext cx="7991856" cy="64008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D6EAF8"/>
          </a:solidFill>
          <a:ln xmlns:a="http://schemas.openxmlformats.org/drawingml/2006/main" w="10160">
            <a:solidFill>
              <a:srgbClr val="D6EAF8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137160" tIns="73152" rIns="137160" bIns="73152" anchor="ctr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1B2A4A"/>
                </a:solidFill>
              </a:defRPr>
            </a:pPr>
            <a:r>
              <a:t>Evaluate EGAH as a composable evidence-governance layer at consequential recovery boundaries.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4199179-5DE8-4C7E-BEE2-D9A551D8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03520"/>
            <a:ext cx="8046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000" b="0">
                <a:solidFill>
                  <a:srgbClr val="7F8C8D"/>
                </a:solidFill>
              </a:defRPr>
            </a:pPr>
            <a:r>
              <a:t>Reviewer decision: Is the control problem clear, testable and useful to practitioners?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B1E1A003-C387-4C41-9C3A-0D24B1342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" y="6355080"/>
            <a:ext cx="8412480" cy="15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DBDB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0ED38079-9EDB-482B-8C13-E8A3DF610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6446520"/>
            <a:ext cx="64008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800">
                <a:solidFill>
                  <a:srgbClr val="7F8C8D"/>
                </a:solidFill>
              </a:defRPr>
            </a:pPr>
            <a:r>
              <a:t>Evidence-Governed Agent Harnesses  |  Fifth Elephant Hyderabad  |  2026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CF1AAC6-E6B4-4EE0-8BD6-050856EE3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6446520"/>
            <a:ext cx="9144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2E86C1"/>
                </a:solidFill>
              </a:defRPr>
            </a:pPr>
            <a:r>
              <a:t>19 / 19</a:t>
            </a:r>
          </a:p>
        </p:txBody>
      </p:sp>
    </p:spTree>
    <p:extLst>
      <p:ext uri="{BB962C8B-B14F-4D97-AF65-F5344CB8AC3E}">
        <p14:creationId xmlns:p14="http://schemas.microsoft.com/office/powerpoint/2010/main" val="181861828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2026-08-29T11:10:16.0580000Z</dcterms:created>
  <dcterms:modified xsi:type="dcterms:W3CDTF">2026-08-29T11:10:16.0580000Z</dcterms:modified>
</coreProperties>
</file>