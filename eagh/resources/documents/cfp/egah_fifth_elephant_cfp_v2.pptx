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5" r:id="rId4"/>
    <p:sldId id="278" r:id="rId5"/>
    <p:sldId id="261" r:id="rId6"/>
    <p:sldId id="259" r:id="rId7"/>
    <p:sldId id="266" r:id="rId8"/>
    <p:sldId id="269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89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, Khaja {PEP}" userId="af594e6b-185c-4e25-9752-b7d60b545147" providerId="ADAL" clId="{9FF9BD8E-034D-54D7-95B7-843FED4B39B3}"/>
    <pc:docChg chg="custSel addSld delSld modSld">
      <pc:chgData name="Shaik, Khaja {PEP}" userId="af594e6b-185c-4e25-9752-b7d60b545147" providerId="ADAL" clId="{9FF9BD8E-034D-54D7-95B7-843FED4B39B3}" dt="2026-09-01T04:18:53.411" v="278" actId="1037"/>
      <pc:docMkLst>
        <pc:docMk/>
      </pc:docMkLst>
      <pc:sldChg chg="modSp mod">
        <pc:chgData name="Shaik, Khaja {PEP}" userId="af594e6b-185c-4e25-9752-b7d60b545147" providerId="ADAL" clId="{9FF9BD8E-034D-54D7-95B7-843FED4B39B3}" dt="2026-08-31T15:30:56.597" v="157" actId="14100"/>
        <pc:sldMkLst>
          <pc:docMk/>
          <pc:sldMk cId="1170972292" sldId="257"/>
        </pc:sldMkLst>
        <pc:spChg chg="mod">
          <ac:chgData name="Shaik, Khaja {PEP}" userId="af594e6b-185c-4e25-9752-b7d60b545147" providerId="ADAL" clId="{9FF9BD8E-034D-54D7-95B7-843FED4B39B3}" dt="2026-08-31T15:30:56.597" v="157" actId="14100"/>
          <ac:spMkLst>
            <pc:docMk/>
            <pc:sldMk cId="1170972292" sldId="257"/>
            <ac:spMk id="3" creationId="{0C56C832-2B2D-46FF-B57C-6F27594083CF}"/>
          </ac:spMkLst>
        </pc:spChg>
        <pc:spChg chg="mod">
          <ac:chgData name="Shaik, Khaja {PEP}" userId="af594e6b-185c-4e25-9752-b7d60b545147" providerId="ADAL" clId="{9FF9BD8E-034D-54D7-95B7-843FED4B39B3}" dt="2026-08-31T15:30:50.371" v="151" actId="1036"/>
          <ac:spMkLst>
            <pc:docMk/>
            <pc:sldMk cId="1170972292" sldId="257"/>
            <ac:spMk id="20" creationId="{F6845B55-337B-B641-66C4-037351CDB78A}"/>
          </ac:spMkLst>
        </pc:spChg>
        <pc:spChg chg="mod">
          <ac:chgData name="Shaik, Khaja {PEP}" userId="af594e6b-185c-4e25-9752-b7d60b545147" providerId="ADAL" clId="{9FF9BD8E-034D-54D7-95B7-843FED4B39B3}" dt="2026-08-31T15:30:53.701" v="156" actId="1036"/>
          <ac:spMkLst>
            <pc:docMk/>
            <pc:sldMk cId="1170972292" sldId="257"/>
            <ac:spMk id="21" creationId="{6E3A11C7-1155-AA47-5DC4-BCFEE2E954AF}"/>
          </ac:spMkLst>
        </pc:spChg>
        <pc:picChg chg="mod">
          <ac:chgData name="Shaik, Khaja {PEP}" userId="af594e6b-185c-4e25-9752-b7d60b545147" providerId="ADAL" clId="{9FF9BD8E-034D-54D7-95B7-843FED4B39B3}" dt="2026-08-31T15:30:50.371" v="151" actId="1036"/>
          <ac:picMkLst>
            <pc:docMk/>
            <pc:sldMk cId="1170972292" sldId="257"/>
            <ac:picMk id="17" creationId="{6EEE5EDC-D8B6-2A87-7C59-5F6503896C78}"/>
          </ac:picMkLst>
        </pc:picChg>
        <pc:picChg chg="mod">
          <ac:chgData name="Shaik, Khaja {PEP}" userId="af594e6b-185c-4e25-9752-b7d60b545147" providerId="ADAL" clId="{9FF9BD8E-034D-54D7-95B7-843FED4B39B3}" dt="2026-08-31T15:30:43.427" v="146" actId="1036"/>
          <ac:picMkLst>
            <pc:docMk/>
            <pc:sldMk cId="1170972292" sldId="257"/>
            <ac:picMk id="19" creationId="{51F4B8D0-68A0-0A00-7400-558E76843E1B}"/>
          </ac:picMkLst>
        </pc:picChg>
      </pc:sldChg>
      <pc:sldChg chg="modSp">
        <pc:chgData name="Shaik, Khaja {PEP}" userId="af594e6b-185c-4e25-9752-b7d60b545147" providerId="ADAL" clId="{9FF9BD8E-034D-54D7-95B7-843FED4B39B3}" dt="2026-08-31T15:31:55.116" v="165"/>
        <pc:sldMkLst>
          <pc:docMk/>
          <pc:sldMk cId="1737113454" sldId="259"/>
        </pc:sldMkLst>
        <pc:spChg chg="mod">
          <ac:chgData name="Shaik, Khaja {PEP}" userId="af594e6b-185c-4e25-9752-b7d60b545147" providerId="ADAL" clId="{9FF9BD8E-034D-54D7-95B7-843FED4B39B3}" dt="2026-08-31T15:31:55.116" v="165"/>
          <ac:spMkLst>
            <pc:docMk/>
            <pc:sldMk cId="1737113454" sldId="259"/>
            <ac:spMk id="36" creationId="{1EF2D798-150B-D51C-AE99-6E109E1C47AA}"/>
          </ac:spMkLst>
        </pc:spChg>
      </pc:sldChg>
      <pc:sldChg chg="modSp mod">
        <pc:chgData name="Shaik, Khaja {PEP}" userId="af594e6b-185c-4e25-9752-b7d60b545147" providerId="ADAL" clId="{9FF9BD8E-034D-54D7-95B7-843FED4B39B3}" dt="2026-08-31T15:31:32.460" v="162" actId="255"/>
        <pc:sldMkLst>
          <pc:docMk/>
          <pc:sldMk cId="2133374402" sldId="261"/>
        </pc:sldMkLst>
        <pc:spChg chg="mod">
          <ac:chgData name="Shaik, Khaja {PEP}" userId="af594e6b-185c-4e25-9752-b7d60b545147" providerId="ADAL" clId="{9FF9BD8E-034D-54D7-95B7-843FED4B39B3}" dt="2026-08-31T15:31:32.460" v="162" actId="255"/>
          <ac:spMkLst>
            <pc:docMk/>
            <pc:sldMk cId="2133374402" sldId="261"/>
            <ac:spMk id="5" creationId="{69FC6458-DCC4-410B-9525-2093CBA28AA5}"/>
          </ac:spMkLst>
        </pc:spChg>
      </pc:sldChg>
      <pc:sldChg chg="modSp mod">
        <pc:chgData name="Shaik, Khaja {PEP}" userId="af594e6b-185c-4e25-9752-b7d60b545147" providerId="ADAL" clId="{9FF9BD8E-034D-54D7-95B7-843FED4B39B3}" dt="2026-08-31T15:32:04.412" v="166" actId="255"/>
        <pc:sldMkLst>
          <pc:docMk/>
          <pc:sldMk cId="647646276" sldId="266"/>
        </pc:sldMkLst>
        <pc:spChg chg="mod">
          <ac:chgData name="Shaik, Khaja {PEP}" userId="af594e6b-185c-4e25-9752-b7d60b545147" providerId="ADAL" clId="{9FF9BD8E-034D-54D7-95B7-843FED4B39B3}" dt="2026-08-31T15:32:04.412" v="166" actId="255"/>
          <ac:spMkLst>
            <pc:docMk/>
            <pc:sldMk cId="647646276" sldId="266"/>
            <ac:spMk id="34" creationId="{55347E5A-D563-BA6C-942A-2A70F9B4FC2A}"/>
          </ac:spMkLst>
        </pc:spChg>
      </pc:sldChg>
      <pc:sldChg chg="addSp delSp modSp mod">
        <pc:chgData name="Shaik, Khaja {PEP}" userId="af594e6b-185c-4e25-9752-b7d60b545147" providerId="ADAL" clId="{9FF9BD8E-034D-54D7-95B7-843FED4B39B3}" dt="2026-09-01T04:18:53.411" v="278" actId="1037"/>
        <pc:sldMkLst>
          <pc:docMk/>
          <pc:sldMk cId="647646276" sldId="269"/>
        </pc:sldMkLst>
        <pc:picChg chg="add mod">
          <ac:chgData name="Shaik, Khaja {PEP}" userId="af594e6b-185c-4e25-9752-b7d60b545147" providerId="ADAL" clId="{9FF9BD8E-034D-54D7-95B7-843FED4B39B3}" dt="2026-09-01T04:18:53.411" v="278" actId="1037"/>
          <ac:picMkLst>
            <pc:docMk/>
            <pc:sldMk cId="647646276" sldId="269"/>
            <ac:picMk id="6" creationId="{19C349E9-3075-27FA-828B-41A177786B7E}"/>
          </ac:picMkLst>
        </pc:picChg>
        <pc:picChg chg="del">
          <ac:chgData name="Shaik, Khaja {PEP}" userId="af594e6b-185c-4e25-9752-b7d60b545147" providerId="ADAL" clId="{9FF9BD8E-034D-54D7-95B7-843FED4B39B3}" dt="2026-09-01T04:18:32.810" v="268" actId="21"/>
          <ac:picMkLst>
            <pc:docMk/>
            <pc:sldMk cId="647646276" sldId="269"/>
            <ac:picMk id="33" creationId="{08F44D50-DA40-A5E1-F5EC-231AD138E344}"/>
          </ac:picMkLst>
        </pc:picChg>
      </pc:sldChg>
      <pc:sldChg chg="modSp mod">
        <pc:chgData name="Shaik, Khaja {PEP}" userId="af594e6b-185c-4e25-9752-b7d60b545147" providerId="ADAL" clId="{9FF9BD8E-034D-54D7-95B7-843FED4B39B3}" dt="2026-08-31T15:32:12.214" v="167" actId="255"/>
        <pc:sldMkLst>
          <pc:docMk/>
          <pc:sldMk cId="647646276" sldId="272"/>
        </pc:sldMkLst>
        <pc:spChg chg="mod">
          <ac:chgData name="Shaik, Khaja {PEP}" userId="af594e6b-185c-4e25-9752-b7d60b545147" providerId="ADAL" clId="{9FF9BD8E-034D-54D7-95B7-843FED4B39B3}" dt="2026-08-31T15:32:12.214" v="167" actId="255"/>
          <ac:spMkLst>
            <pc:docMk/>
            <pc:sldMk cId="647646276" sldId="272"/>
            <ac:spMk id="43" creationId="{FE62D6E6-F0BF-F341-BEA2-8649FA7B471F}"/>
          </ac:spMkLst>
        </pc:spChg>
      </pc:sldChg>
      <pc:sldChg chg="addSp delSp modSp mod">
        <pc:chgData name="Shaik, Khaja {PEP}" userId="af594e6b-185c-4e25-9752-b7d60b545147" providerId="ADAL" clId="{9FF9BD8E-034D-54D7-95B7-843FED4B39B3}" dt="2026-08-31T15:31:10.487" v="158" actId="255"/>
        <pc:sldMkLst>
          <pc:docMk/>
          <pc:sldMk cId="1285369431" sldId="275"/>
        </pc:sldMkLst>
        <pc:spChg chg="add mod">
          <ac:chgData name="Shaik, Khaja {PEP}" userId="af594e6b-185c-4e25-9752-b7d60b545147" providerId="ADAL" clId="{9FF9BD8E-034D-54D7-95B7-843FED4B39B3}" dt="2026-08-31T15:18:32.172" v="5"/>
          <ac:spMkLst>
            <pc:docMk/>
            <pc:sldMk cId="1285369431" sldId="275"/>
            <ac:spMk id="2" creationId="{3E583977-E391-F06E-FF2E-35A38855AE3D}"/>
          </ac:spMkLst>
        </pc:spChg>
        <pc:spChg chg="add mod">
          <ac:chgData name="Shaik, Khaja {PEP}" userId="af594e6b-185c-4e25-9752-b7d60b545147" providerId="ADAL" clId="{9FF9BD8E-034D-54D7-95B7-843FED4B39B3}" dt="2026-08-31T15:19:45.807" v="49" actId="20577"/>
          <ac:spMkLst>
            <pc:docMk/>
            <pc:sldMk cId="1285369431" sldId="275"/>
            <ac:spMk id="4" creationId="{60142A69-DF0B-C17F-1D28-F8E4D376B3DE}"/>
          </ac:spMkLst>
        </pc:spChg>
        <pc:spChg chg="add mod">
          <ac:chgData name="Shaik, Khaja {PEP}" userId="af594e6b-185c-4e25-9752-b7d60b545147" providerId="ADAL" clId="{9FF9BD8E-034D-54D7-95B7-843FED4B39B3}" dt="2026-08-31T15:31:10.487" v="158" actId="255"/>
          <ac:spMkLst>
            <pc:docMk/>
            <pc:sldMk cId="1285369431" sldId="275"/>
            <ac:spMk id="5" creationId="{E33D3D80-A390-19C4-05B0-E85992994BF1}"/>
          </ac:spMkLst>
        </pc:spChg>
        <pc:picChg chg="del mod">
          <ac:chgData name="Shaik, Khaja {PEP}" userId="af594e6b-185c-4e25-9752-b7d60b545147" providerId="ADAL" clId="{9FF9BD8E-034D-54D7-95B7-843FED4B39B3}" dt="2026-08-31T15:18:31.287" v="4" actId="478"/>
          <ac:picMkLst>
            <pc:docMk/>
            <pc:sldMk cId="1285369431" sldId="275"/>
            <ac:picMk id="3" creationId="{945966D8-38B4-091D-FE2F-8AB34DB83F3B}"/>
          </ac:picMkLst>
        </pc:picChg>
        <pc:picChg chg="add mod">
          <ac:chgData name="Shaik, Khaja {PEP}" userId="af594e6b-185c-4e25-9752-b7d60b545147" providerId="ADAL" clId="{9FF9BD8E-034D-54D7-95B7-843FED4B39B3}" dt="2026-08-31T15:20:34.367" v="139" actId="1036"/>
          <ac:picMkLst>
            <pc:docMk/>
            <pc:sldMk cId="1285369431" sldId="275"/>
            <ac:picMk id="7" creationId="{26010F8D-557E-14C8-CD2B-B6695BB45144}"/>
          </ac:picMkLst>
        </pc:picChg>
      </pc:sldChg>
      <pc:sldChg chg="del">
        <pc:chgData name="Shaik, Khaja {PEP}" userId="af594e6b-185c-4e25-9752-b7d60b545147" providerId="ADAL" clId="{9FF9BD8E-034D-54D7-95B7-843FED4B39B3}" dt="2026-08-31T15:31:23.160" v="160" actId="2696"/>
        <pc:sldMkLst>
          <pc:docMk/>
          <pc:sldMk cId="3439408964" sldId="277"/>
        </pc:sldMkLst>
      </pc:sldChg>
      <pc:sldChg chg="delSp modSp add mod">
        <pc:chgData name="Shaik, Khaja {PEP}" userId="af594e6b-185c-4e25-9752-b7d60b545147" providerId="ADAL" clId="{9FF9BD8E-034D-54D7-95B7-843FED4B39B3}" dt="2026-08-31T15:34:13.751" v="267" actId="20577"/>
        <pc:sldMkLst>
          <pc:docMk/>
          <pc:sldMk cId="2981787337" sldId="278"/>
        </pc:sldMkLst>
        <pc:spChg chg="mod">
          <ac:chgData name="Shaik, Khaja {PEP}" userId="af594e6b-185c-4e25-9752-b7d60b545147" providerId="ADAL" clId="{9FF9BD8E-034D-54D7-95B7-843FED4B39B3}" dt="2026-08-31T15:34:13.751" v="267" actId="20577"/>
          <ac:spMkLst>
            <pc:docMk/>
            <pc:sldMk cId="2981787337" sldId="278"/>
            <ac:spMk id="5" creationId="{8DC4E0AC-716E-4B79-9FE6-3216FCDE540B}"/>
          </ac:spMkLst>
        </pc:spChg>
        <pc:spChg chg="del mod">
          <ac:chgData name="Shaik, Khaja {PEP}" userId="af594e6b-185c-4e25-9752-b7d60b545147" providerId="ADAL" clId="{9FF9BD8E-034D-54D7-95B7-843FED4B39B3}" dt="2026-08-31T15:33:02.613" v="176"/>
          <ac:spMkLst>
            <pc:docMk/>
            <pc:sldMk cId="2981787337" sldId="278"/>
            <ac:spMk id="6" creationId="{F7C9E912-0427-977F-4714-892F607C8FD2}"/>
          </ac:spMkLst>
        </pc:spChg>
        <pc:spChg chg="mod">
          <ac:chgData name="Shaik, Khaja {PEP}" userId="af594e6b-185c-4e25-9752-b7d60b545147" providerId="ADAL" clId="{9FF9BD8E-034D-54D7-95B7-843FED4B39B3}" dt="2026-08-31T15:33:15.155" v="222" actId="1035"/>
          <ac:spMkLst>
            <pc:docMk/>
            <pc:sldMk cId="2981787337" sldId="278"/>
            <ac:spMk id="9" creationId="{D9BC6CA4-DD08-4A28-8752-BFEC53457482}"/>
          </ac:spMkLst>
        </pc:spChg>
        <pc:spChg chg="mod">
          <ac:chgData name="Shaik, Khaja {PEP}" userId="af594e6b-185c-4e25-9752-b7d60b545147" providerId="ADAL" clId="{9FF9BD8E-034D-54D7-95B7-843FED4B39B3}" dt="2026-08-31T15:33:15.155" v="222" actId="1035"/>
          <ac:spMkLst>
            <pc:docMk/>
            <pc:sldMk cId="2981787337" sldId="278"/>
            <ac:spMk id="10" creationId="{95F4184A-B458-4EDC-B98F-96A938AB54FC}"/>
          </ac:spMkLst>
        </pc:spChg>
        <pc:spChg chg="mod">
          <ac:chgData name="Shaik, Khaja {PEP}" userId="af594e6b-185c-4e25-9752-b7d60b545147" providerId="ADAL" clId="{9FF9BD8E-034D-54D7-95B7-843FED4B39B3}" dt="2026-08-31T15:33:15.155" v="222" actId="1035"/>
          <ac:spMkLst>
            <pc:docMk/>
            <pc:sldMk cId="2981787337" sldId="278"/>
            <ac:spMk id="11" creationId="{AE0AEDC0-A987-46AC-ABD9-01586469BC69}"/>
          </ac:spMkLst>
        </pc:spChg>
        <pc:spChg chg="mod">
          <ac:chgData name="Shaik, Khaja {PEP}" userId="af594e6b-185c-4e25-9752-b7d60b545147" providerId="ADAL" clId="{9FF9BD8E-034D-54D7-95B7-843FED4B39B3}" dt="2026-08-31T15:33:15.155" v="222" actId="1035"/>
          <ac:spMkLst>
            <pc:docMk/>
            <pc:sldMk cId="2981787337" sldId="278"/>
            <ac:spMk id="14" creationId="{920E55D7-013A-CC80-EAE1-AC4E06A39D93}"/>
          </ac:spMkLst>
        </pc:spChg>
        <pc:spChg chg="mod">
          <ac:chgData name="Shaik, Khaja {PEP}" userId="af594e6b-185c-4e25-9752-b7d60b545147" providerId="ADAL" clId="{9FF9BD8E-034D-54D7-95B7-843FED4B39B3}" dt="2026-08-31T15:31:40.406" v="164" actId="14100"/>
          <ac:spMkLst>
            <pc:docMk/>
            <pc:sldMk cId="2981787337" sldId="278"/>
            <ac:spMk id="15" creationId="{0757345F-0CB1-716D-F5BE-2A9D67AF7C04}"/>
          </ac:spMkLst>
        </pc:spChg>
        <pc:picChg chg="mod">
          <ac:chgData name="Shaik, Khaja {PEP}" userId="af594e6b-185c-4e25-9752-b7d60b545147" providerId="ADAL" clId="{9FF9BD8E-034D-54D7-95B7-843FED4B39B3}" dt="2026-08-31T15:32:57.337" v="174" actId="14100"/>
          <ac:picMkLst>
            <pc:docMk/>
            <pc:sldMk cId="2981787337" sldId="278"/>
            <ac:picMk id="26" creationId="{B7131605-39F0-046D-8A24-B282A7E4C9C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Timing: 0:45–3:15. Establish the distinction; do not survey frameworks. Selection signal: one narrow production problem, not a grand framework claim.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</a:t>
            </a:r>
            <a:r>
              <a:rPr dirty="0" err="1"/>
              <a:t>README.md</a:t>
            </a:r>
            <a:r>
              <a:rPr dirty="0"/>
              <a:t> — Context and Problem Statement</a:t>
            </a:r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egah</a:t>
            </a:r>
            <a:r>
              <a:rPr dirty="0"/>
              <a:t>/</a:t>
            </a:r>
            <a:r>
              <a:rPr dirty="0" err="1"/>
              <a:t>recovery.py</a:t>
            </a:r>
            <a:r>
              <a:rPr dirty="0"/>
              <a:t> — state-only vs evidence-governed recovery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Timing: 0:45–3:15. Establish the distinction; do not survey frameworks. Selection signal: one narrow production problem, not a grand framework claim.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</a:t>
            </a:r>
            <a:r>
              <a:rPr dirty="0" err="1"/>
              <a:t>README.md</a:t>
            </a:r>
            <a:r>
              <a:rPr dirty="0"/>
              <a:t> — Context and Problem Statement</a:t>
            </a:r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egah</a:t>
            </a:r>
            <a:r>
              <a:rPr dirty="0"/>
              <a:t>/</a:t>
            </a:r>
            <a:r>
              <a:rPr dirty="0" err="1"/>
              <a:t>recovery.py</a:t>
            </a:r>
            <a:r>
              <a:rPr dirty="0"/>
              <a:t> — state-only vs evidence-governed recovery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Timing: 5:45–8:15. Define the minimum evidence envelope. Avoid claiming that every tool result deserves one; emphasize consequential boundaries.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egah</a:t>
            </a:r>
            <a:r>
              <a:rPr dirty="0"/>
              <a:t>/</a:t>
            </a:r>
            <a:r>
              <a:rPr dirty="0" err="1"/>
              <a:t>models.py</a:t>
            </a:r>
            <a:r>
              <a:rPr dirty="0"/>
              <a:t> — </a:t>
            </a:r>
            <a:r>
              <a:rPr dirty="0" err="1"/>
              <a:t>EvidenceEnvelope</a:t>
            </a:r>
            <a:r>
              <a:rPr dirty="0"/>
              <a:t> and </a:t>
            </a:r>
            <a:r>
              <a:rPr dirty="0" err="1"/>
              <a:t>VerificationRecord</a:t>
            </a:r>
            <a:endParaRPr dirty="0"/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egah</a:t>
            </a:r>
            <a:r>
              <a:rPr dirty="0"/>
              <a:t>/</a:t>
            </a:r>
            <a:r>
              <a:rPr dirty="0" err="1"/>
              <a:t>evidence_store.py</a:t>
            </a:r>
            <a:r>
              <a:rPr dirty="0"/>
              <a:t> — durable envelope, verification, and resource records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Capability review, not a hands-on product benchmark. The comparison identifies documented strengths and the domain semantics EGAH adds; it does not claim these tools cannot be extended.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https://</a:t>
            </a:r>
            <a:r>
              <a:rPr dirty="0" err="1"/>
              <a:t>docs.langchain.com</a:t>
            </a:r>
            <a:r>
              <a:rPr dirty="0"/>
              <a:t>/</a:t>
            </a:r>
            <a:r>
              <a:rPr dirty="0" err="1"/>
              <a:t>oss</a:t>
            </a:r>
            <a:r>
              <a:rPr dirty="0"/>
              <a:t>/python/</a:t>
            </a:r>
            <a:r>
              <a:rPr dirty="0" err="1"/>
              <a:t>langgraph</a:t>
            </a:r>
            <a:r>
              <a:rPr dirty="0"/>
              <a:t>/persistence — checkpoints, replay, fault tolerance</a:t>
            </a:r>
          </a:p>
          <a:p>
            <a:r>
              <a:rPr dirty="0"/>
              <a:t>- https://</a:t>
            </a:r>
            <a:r>
              <a:rPr dirty="0" err="1"/>
              <a:t>docs.temporal.io</a:t>
            </a:r>
            <a:r>
              <a:rPr dirty="0"/>
              <a:t>/temporal — durable execution and event history</a:t>
            </a:r>
          </a:p>
          <a:p>
            <a:r>
              <a:rPr dirty="0"/>
              <a:t>- https://</a:t>
            </a:r>
            <a:r>
              <a:rPr dirty="0" err="1"/>
              <a:t>docs.dapr.io</a:t>
            </a:r>
            <a:r>
              <a:rPr dirty="0"/>
              <a:t>/developing-applications/building-blocks/workflow/workflow-overview/ — durable workflows, signed history and history propagation</a:t>
            </a:r>
          </a:p>
          <a:p>
            <a:r>
              <a:rPr dirty="0"/>
              <a:t>- https://</a:t>
            </a:r>
            <a:r>
              <a:rPr dirty="0" err="1"/>
              <a:t>docs.prefect.io</a:t>
            </a:r>
            <a:r>
              <a:rPr dirty="0"/>
              <a:t>/v3/concepts/flows — flow state, retries and observability</a:t>
            </a:r>
          </a:p>
          <a:p>
            <a:r>
              <a:rPr dirty="0"/>
              <a:t>- https://</a:t>
            </a:r>
            <a:r>
              <a:rPr dirty="0" err="1"/>
              <a:t>opentelemetry.io</a:t>
            </a:r>
            <a:r>
              <a:rPr dirty="0"/>
              <a:t>/docs/concepts/signals/ — traces, metrics, logs and baggage</a:t>
            </a:r>
          </a:p>
          <a:p>
            <a:r>
              <a:rPr dirty="0"/>
              <a:t>- https://</a:t>
            </a:r>
            <a:r>
              <a:rPr dirty="0" err="1"/>
              <a:t>langfuse.com</a:t>
            </a:r>
            <a:r>
              <a:rPr dirty="0"/>
              <a:t>/docs/observability/overview — LLM tracing, evaluations, latency and cost</a:t>
            </a:r>
          </a:p>
          <a:p>
            <a:r>
              <a:rPr dirty="0"/>
              <a:t>- https://</a:t>
            </a:r>
            <a:r>
              <a:rPr dirty="0" err="1"/>
              <a:t>arize.com</a:t>
            </a:r>
            <a:r>
              <a:rPr dirty="0"/>
              <a:t>/docs/phoenix/tracing/tutorial — open-source tracing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is an operating-model comparison, not measured production productivity. Instrument a pilot for mean time to identify the invalid dependency, operator touch time, repeat-work ratio, audit-response time, and false-safe-resume rate.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egah</a:t>
            </a:r>
            <a:r>
              <a:rPr dirty="0"/>
              <a:t>/</a:t>
            </a:r>
            <a:r>
              <a:rPr dirty="0" err="1"/>
              <a:t>evidence_store.py</a:t>
            </a:r>
            <a:r>
              <a:rPr dirty="0"/>
              <a:t> — run/evidence/verification/resource records</a:t>
            </a:r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egah</a:t>
            </a:r>
            <a:r>
              <a:rPr dirty="0"/>
              <a:t>/</a:t>
            </a:r>
            <a:r>
              <a:rPr dirty="0" err="1"/>
              <a:t>recovery.py</a:t>
            </a:r>
            <a:r>
              <a:rPr dirty="0"/>
              <a:t> — explicit revalidation plan and reasons</a:t>
            </a:r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/resources/documents/</a:t>
            </a:r>
            <a:r>
              <a:rPr dirty="0" err="1"/>
              <a:t>cfp</a:t>
            </a:r>
            <a:r>
              <a:rPr dirty="0"/>
              <a:t>/</a:t>
            </a:r>
            <a:r>
              <a:rPr dirty="0" err="1"/>
              <a:t>egah_review_preparation_guide.md</a:t>
            </a:r>
            <a:r>
              <a:rPr dirty="0"/>
              <a:t> — operational value and pilot boundary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Each roadmap item follows directly from a prototype limitation observed in the current code and tests.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egah</a:t>
            </a:r>
            <a:r>
              <a:rPr dirty="0"/>
              <a:t>/</a:t>
            </a:r>
            <a:r>
              <a:rPr dirty="0" err="1"/>
              <a:t>models.py</a:t>
            </a:r>
            <a:r>
              <a:rPr dirty="0"/>
              <a:t> — current envelope schema and validity logic</a:t>
            </a:r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egah</a:t>
            </a:r>
            <a:r>
              <a:rPr dirty="0"/>
              <a:t>/</a:t>
            </a:r>
            <a:r>
              <a:rPr dirty="0" err="1"/>
              <a:t>evidence_store.py</a:t>
            </a:r>
            <a:r>
              <a:rPr dirty="0"/>
              <a:t> — separate SQLite commits</a:t>
            </a:r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egah</a:t>
            </a:r>
            <a:r>
              <a:rPr dirty="0"/>
              <a:t>/</a:t>
            </a:r>
            <a:r>
              <a:rPr dirty="0" err="1"/>
              <a:t>recovery.py</a:t>
            </a:r>
            <a:r>
              <a:rPr dirty="0"/>
              <a:t> — plan generation</a:t>
            </a:r>
          </a:p>
          <a:p>
            <a:r>
              <a:rPr dirty="0"/>
              <a:t>- agentic-systems/</a:t>
            </a:r>
            <a:r>
              <a:rPr dirty="0" err="1"/>
              <a:t>eagh</a:t>
            </a:r>
            <a:r>
              <a:rPr dirty="0"/>
              <a:t>/resources/documents/</a:t>
            </a:r>
            <a:r>
              <a:rPr dirty="0" err="1"/>
              <a:t>cfp</a:t>
            </a:r>
            <a:r>
              <a:rPr dirty="0"/>
              <a:t>/</a:t>
            </a:r>
            <a:r>
              <a:rPr dirty="0" err="1"/>
              <a:t>egah_review_preparation_guide.md</a:t>
            </a:r>
            <a:r>
              <a:rPr dirty="0"/>
              <a:t> — production extensions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5F65-17B5-405D-93D4-0ED9173EB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F29F6-159D-4DD9-90B8-BF257376E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A232E-AB8F-4B85-944E-C7CD79F048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B672D-AD3A-4B95-9443-5121994E5A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3B53B-85A9-4F59-87D2-8FE61CAF4A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8E1B-C629-4712-A6E3-4936DA666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F8355-CDF6-4CFC-8846-102EE0B53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842AB-6FEB-48E5-A460-66C8A43B31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BBA6F-FBB9-4EFB-B0F2-8C61C897B2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9189F-1E4A-4D9F-A11F-2786262779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E993A-C29E-4F83-90BD-A1A3D535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8AB84-0CFC-4070-9606-A7FC65C61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DE99D-8979-4C90-8AF5-137BEFED4C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8CEE6-DE87-4331-B295-84ED679B31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45465-7C56-4AFD-A447-F47BBD1290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9D91A-798F-42F3-A579-A34C617A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5BBE-B3A8-4C80-A632-86A47E23C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56F83-6659-4EF8-BB20-0A271728A61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64480-F197-4FD0-AE6D-1EFF918526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D4059-3B28-464A-AE38-05C188B05D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6E317-1433-4453-A270-FB66F6E703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1CB3-8889-4483-933D-1FF521071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7CC93-CFE2-4E7B-A920-1D20827BA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4C8D8-7924-4BB6-88DA-970BDF8AF44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70554-8FB2-4304-9B64-E733327DA43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45BFDB-5877-4ADB-90D1-BB3E6F6DDA9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35186-5A9B-4A59-8CB1-DD7D5B49FC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0B345-53CB-4CC4-9AE0-8ACD0FC7F5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792B08-CCCD-4D3A-82EC-3B57F1B1B6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A1293-8C35-41B9-B931-E1D35C2B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EB2A3-47DD-46A0-9413-29035400E7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F1FDE-A824-4F1D-BCE2-663E759A33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C06BF4-282D-418A-864C-73B013B9A1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4BB840-1A0A-4FB6-A2FC-45208AC096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A3E2E-24F9-4DB9-83A9-E9AFA4ADBB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9ADF3-8A86-43BB-93E6-8E2E5B5B61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ED0F-9137-4680-8B1E-BEA5A76CF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8B507-3089-450B-A20A-FA6851ECD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F7D1D-7CCD-4B43-B21A-A7C3A270C8B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5122E-9210-4B28-BDD5-0B57F2991A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4B6DA-4B35-4565-921A-54700C6DA7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2684-9438-4124-AE95-8E2BEB0F5D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90DEA-B04D-4AB8-918F-120C0D4AC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E15EC6-97C6-4F77-A547-2E6978E21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A7909-38C4-427E-8948-2734F1EC57B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082A9-1B74-446D-83E5-6D423EBAD0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0760C-0B50-4DC6-B6D1-7732AF1814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19F57-9469-4A93-8E06-474AEC4771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6F084-9957-44F2-A1B5-74B699EDE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87CF1-389F-4870-9636-3B5B7FEEE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A079-CA3E-4FA1-9C84-443FCC29DC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7B4D2-B526-4E48-8CFB-0D2E0EA24E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F3D08-55FF-4E6F-8557-B8399C421D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EC19C7-F580-4430-9ECB-ADA2EA4A6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B9404-E724-4DD2-9AB6-3012ADF18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16762-DED2-4F1E-B227-A5EE7C237D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56852-97A7-4D79-9BD6-23AAA41759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2A05B-E1A9-4B0F-B26B-460CE24485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350C2A-7A3A-4A53-9650-ABCFAB73D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B4D7A-1633-4236-8BD4-46DCBE6E0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CD11E-25CB-4BEE-A1E7-B2C492AA34A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9/1/26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6F6AC-E3BF-4586-AC4E-FC7B70B0232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51C55-EEBA-4802-9AFD-53376C4F8C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294BEB-B51A-4807-B67A-63120A6C6974}"/>
              </a:ext>
            </a:extLst>
          </p:cNvPr>
          <p:cNvSpPr>
            <a:spLocks noGrp="1"/>
          </p:cNvSpPr>
          <p:nvPr/>
        </p:nvSpPr>
        <p:spPr>
          <a:xfrm>
            <a:off x="731520" y="1188720"/>
            <a:ext cx="10972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4EEAF-82C3-4FDF-AFAF-1756071ECA49}"/>
              </a:ext>
            </a:extLst>
          </p:cNvPr>
          <p:cNvSpPr>
            <a:spLocks noGrp="1"/>
          </p:cNvSpPr>
          <p:nvPr/>
        </p:nvSpPr>
        <p:spPr>
          <a:xfrm>
            <a:off x="731520" y="1463040"/>
            <a:ext cx="982661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800" b="1">
                <a:solidFill>
                  <a:srgbClr val="FFFFFF"/>
                </a:solidFill>
              </a:defRPr>
            </a:pPr>
            <a:r>
              <a:t>Evidence-Governed Agent Harnesses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690F4D-5F84-450E-8B39-66854ADFDD4E}"/>
              </a:ext>
            </a:extLst>
          </p:cNvPr>
          <p:cNvSpPr>
            <a:spLocks noGrp="1"/>
          </p:cNvSpPr>
          <p:nvPr/>
        </p:nvSpPr>
        <p:spPr>
          <a:xfrm>
            <a:off x="1280160" y="2102048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800" b="0">
                <a:solidFill>
                  <a:srgbClr val="2E86C1"/>
                </a:solidFill>
              </a:defRPr>
            </a:pPr>
            <a:r>
              <a:t>Making Evidence Survive Long-Running Agent Execution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CF9C5-11CB-43B5-B2C8-D0D527CD47AC}"/>
              </a:ext>
            </a:extLst>
          </p:cNvPr>
          <p:cNvSpPr>
            <a:spLocks noGrp="1"/>
          </p:cNvSpPr>
          <p:nvPr/>
        </p:nvSpPr>
        <p:spPr>
          <a:xfrm>
            <a:off x="731519" y="3840480"/>
            <a:ext cx="9465103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buNone/>
              <a:defRPr sz="1400" b="0">
                <a:solidFill>
                  <a:srgbClr val="BDC3C7"/>
                </a:solidFill>
              </a:defRPr>
            </a:pPr>
            <a:r>
              <a:t>What should an agent remember after a crash at step 40 of 60?</a:t>
            </a:r>
          </a:p>
          <a:p>
            <a:pPr>
              <a:spcAft>
                <a:spcPts val="840"/>
              </a:spcAft>
              <a:buNone/>
              <a:defRPr sz="1400" b="0">
                <a:solidFill>
                  <a:srgbClr val="BDC3C7"/>
                </a:solidFill>
              </a:defRPr>
            </a:pPr>
            <a:r>
              <a:t>Not just its state — but what it verified, what it accomplished and what it is still allowed to do.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79041-7B5A-4FFC-B8B4-3126947AEF8D}"/>
              </a:ext>
            </a:extLst>
          </p:cNvPr>
          <p:cNvSpPr>
            <a:spLocks noGrp="1"/>
          </p:cNvSpPr>
          <p:nvPr/>
        </p:nvSpPr>
        <p:spPr>
          <a:xfrm>
            <a:off x="731520" y="5303520"/>
            <a:ext cx="7680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t>Khaja Shaik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042F1-61D4-4F75-92CD-DEE6A141B3F3}"/>
              </a:ext>
            </a:extLst>
          </p:cNvPr>
          <p:cNvSpPr>
            <a:spLocks noGrp="1"/>
          </p:cNvSpPr>
          <p:nvPr/>
        </p:nvSpPr>
        <p:spPr>
          <a:xfrm>
            <a:off x="731520" y="57607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0">
                <a:solidFill>
                  <a:srgbClr val="7F8C8D"/>
                </a:solidFill>
              </a:defRPr>
            </a:pPr>
            <a:r>
              <a:t>Fifth Elephant Hyderabad  | 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D0FFF-FBEB-4CD5-987E-D0EB633E3787}"/>
              </a:ext>
            </a:extLst>
          </p:cNvPr>
          <p:cNvSpPr>
            <a:spLocks noGrp="1"/>
          </p:cNvSpPr>
          <p:nvPr/>
        </p:nvSpPr>
        <p:spPr>
          <a:xfrm>
            <a:off x="73152" y="73152"/>
            <a:ext cx="12118848" cy="6711696"/>
          </a:xfrm>
          <a:prstGeom prst="rect">
            <a:avLst/>
          </a:prstGeom>
          <a:noFill/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7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6" y="0"/>
            <a:ext cx="12179284" cy="686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165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B5615B-89BD-4130-8E82-03B25C8F6E86}"/>
              </a:ext>
            </a:extLst>
          </p:cNvPr>
          <p:cNvSpPr>
            <a:spLocks noGrp="1"/>
          </p:cNvSpPr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6C832-2B2D-46FF-B57C-6F27594083CF}"/>
              </a:ext>
            </a:extLst>
          </p:cNvPr>
          <p:cNvSpPr>
            <a:spLocks noGrp="1"/>
          </p:cNvSpPr>
          <p:nvPr/>
        </p:nvSpPr>
        <p:spPr>
          <a:xfrm>
            <a:off x="105520" y="113612"/>
            <a:ext cx="8522208" cy="78130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5966C-D533-447B-AE24-D5CA3934B9B2}"/>
              </a:ext>
            </a:extLst>
          </p:cNvPr>
          <p:cNvSpPr>
            <a:spLocks noGrp="1"/>
          </p:cNvSpPr>
          <p:nvPr/>
        </p:nvSpPr>
        <p:spPr>
          <a:xfrm>
            <a:off x="228600" y="163808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IN" sz="2400" b="1" dirty="0">
                <a:solidFill>
                  <a:srgbClr val="FFFFFF"/>
                </a:solidFill>
              </a:rPr>
              <a:t>End-to-End Loan Journey</a:t>
            </a: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8CFAF7-6523-4C21-BFEB-50A977DBB5FB}"/>
              </a:ext>
            </a:extLst>
          </p:cNvPr>
          <p:cNvSpPr>
            <a:spLocks noGrp="1"/>
          </p:cNvSpPr>
          <p:nvPr/>
        </p:nvSpPr>
        <p:spPr>
          <a:xfrm>
            <a:off x="184890" y="6375176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97BD8A-9A21-4DE7-B2F5-8ADE3151172B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5BDB4E3-5077-981F-35E1-4C128D77E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9952" y="118872"/>
            <a:ext cx="3342348" cy="66232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EEE5EDC-D8B6-2A87-7C59-5F6503896C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1293678"/>
            <a:ext cx="5448300" cy="889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1F4B8D0-68A0-0A00-7400-558E76843E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360" y="2774575"/>
            <a:ext cx="5461000" cy="3162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4">
            <a:extLst>
              <a:ext uri="{FF2B5EF4-FFF2-40B4-BE49-F238E27FC236}">
                <a16:creationId xmlns:a16="http://schemas.microsoft.com/office/drawing/2014/main" id="{F6845B55-337B-B641-66C4-037351CDB78A}"/>
              </a:ext>
            </a:extLst>
          </p:cNvPr>
          <p:cNvSpPr>
            <a:spLocks noGrp="1"/>
          </p:cNvSpPr>
          <p:nvPr/>
        </p:nvSpPr>
        <p:spPr>
          <a:xfrm>
            <a:off x="228600" y="2381273"/>
            <a:ext cx="921204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0">
                <a:solidFill>
                  <a:srgbClr val="1B2A4A"/>
                </a:solidFill>
              </a:defRPr>
            </a:pPr>
            <a:r>
              <a:rPr lang="en-US" b="1" dirty="0"/>
              <a:t>Can system safely continue with evidence information collected before crash/ restart ?..</a:t>
            </a:r>
            <a:endParaRPr b="1" dirty="0"/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6E3A11C7-1155-AA47-5DC4-BCFEE2E954AF}"/>
              </a:ext>
            </a:extLst>
          </p:cNvPr>
          <p:cNvSpPr>
            <a:spLocks noGrp="1"/>
          </p:cNvSpPr>
          <p:nvPr/>
        </p:nvSpPr>
        <p:spPr>
          <a:xfrm>
            <a:off x="228600" y="894919"/>
            <a:ext cx="921204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300" b="0">
                <a:solidFill>
                  <a:srgbClr val="1B2A4A"/>
                </a:solidFill>
              </a:defRPr>
            </a:pPr>
            <a:r>
              <a:rPr lang="en-US" b="1" dirty="0"/>
              <a:t>Customer must complete entire process successfully to receive disbursed amount.</a:t>
            </a:r>
            <a:endParaRPr b="1" dirty="0"/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0622B134-9260-7DB7-72C7-F3EBA95D242C}"/>
              </a:ext>
            </a:extLst>
          </p:cNvPr>
          <p:cNvSpPr>
            <a:spLocks noGrp="1"/>
          </p:cNvSpPr>
          <p:nvPr/>
        </p:nvSpPr>
        <p:spPr>
          <a:xfrm>
            <a:off x="228600" y="5985078"/>
            <a:ext cx="921204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B2A4A"/>
                </a:solidFill>
              </a:defRPr>
            </a:pPr>
            <a:r>
              <a:rPr lang="en-IN" sz="1300" b="1" dirty="0">
                <a:solidFill>
                  <a:srgbClr val="1B2A4A"/>
                </a:solidFill>
              </a:rPr>
              <a:t>                                 Execution State ≠ Evidence State : Successful State Recovery Does Not Imply Safe Agent Continuation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170972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583977-E391-F06E-FF2E-35A38855AE3D}"/>
              </a:ext>
            </a:extLst>
          </p:cNvPr>
          <p:cNvSpPr>
            <a:spLocks noGrp="1"/>
          </p:cNvSpPr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42A69-DF0B-C17F-1D28-F8E4D376B3DE}"/>
              </a:ext>
            </a:extLst>
          </p:cNvPr>
          <p:cNvSpPr>
            <a:spLocks noGrp="1"/>
          </p:cNvSpPr>
          <p:nvPr/>
        </p:nvSpPr>
        <p:spPr>
          <a:xfrm>
            <a:off x="277334" y="180647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IN" sz="2400" b="1" dirty="0">
                <a:solidFill>
                  <a:srgbClr val="FFFFFF"/>
                </a:solidFill>
              </a:rPr>
              <a:t>Loan Journey Interruption at e-Sign stage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D3D80-A390-19C4-05B0-E85992994BF1}"/>
              </a:ext>
            </a:extLst>
          </p:cNvPr>
          <p:cNvSpPr>
            <a:spLocks noGrp="1"/>
          </p:cNvSpPr>
          <p:nvPr/>
        </p:nvSpPr>
        <p:spPr>
          <a:xfrm>
            <a:off x="548640" y="566928"/>
            <a:ext cx="424058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6EAF8"/>
                </a:solidFill>
              </a:defRPr>
            </a:pPr>
            <a:r>
              <a:rPr lang="en-IN" sz="1200" dirty="0">
                <a:solidFill>
                  <a:srgbClr val="D6EAF8"/>
                </a:solidFill>
              </a:rPr>
              <a:t>Interest rate changed during interruption from 10.25% to 11.25%</a:t>
            </a:r>
            <a:endParaRPr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010F8D-557E-14C8-CD2B-B6695BB45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9" y="1015974"/>
            <a:ext cx="12045696" cy="573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6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B5615B-89BD-4130-8E82-03B25C8F6E86}"/>
              </a:ext>
            </a:extLst>
          </p:cNvPr>
          <p:cNvSpPr>
            <a:spLocks noGrp="1"/>
          </p:cNvSpPr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56C832-2B2D-46FF-B57C-6F27594083CF}"/>
              </a:ext>
            </a:extLst>
          </p:cNvPr>
          <p:cNvSpPr>
            <a:spLocks noGrp="1"/>
          </p:cNvSpPr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5966C-D533-447B-AE24-D5CA3934B9B2}"/>
              </a:ext>
            </a:extLst>
          </p:cNvPr>
          <p:cNvSpPr>
            <a:spLocks noGrp="1"/>
          </p:cNvSpPr>
          <p:nvPr/>
        </p:nvSpPr>
        <p:spPr>
          <a:xfrm>
            <a:off x="277334" y="180647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IN" sz="2400" b="1" dirty="0">
                <a:solidFill>
                  <a:srgbClr val="FFFFFF"/>
                </a:solidFill>
              </a:rPr>
              <a:t>When Resuming Execution Is Not Enough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4E0AC-716E-4B79-9FE6-3216FCDE540B}"/>
              </a:ext>
            </a:extLst>
          </p:cNvPr>
          <p:cNvSpPr>
            <a:spLocks noGrp="1"/>
          </p:cNvSpPr>
          <p:nvPr/>
        </p:nvSpPr>
        <p:spPr>
          <a:xfrm>
            <a:off x="277333" y="1136088"/>
            <a:ext cx="10188839" cy="530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B2A4A"/>
                </a:solidFill>
              </a:defRPr>
            </a:pPr>
            <a:r>
              <a:rPr lang="en-IN" sz="1400" b="1" dirty="0">
                <a:solidFill>
                  <a:srgbClr val="1B2A4A"/>
                </a:solidFill>
              </a:rPr>
              <a:t>What traditional applications address workflow by workflow. EAGH governs consistently through a shared harness layer.</a:t>
            </a:r>
            <a:endParaRPr lang="en-IN" sz="1400" b="1" dirty="0"/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>
              <a:solidFill>
                <a:srgbClr val="1B2A4A"/>
              </a:solidFill>
            </a:endParaRPr>
          </a:p>
          <a:p>
            <a:pPr>
              <a:defRPr sz="1300" b="0">
                <a:solidFill>
                  <a:srgbClr val="1B2A4A"/>
                </a:solidFill>
              </a:defRPr>
            </a:pPr>
            <a:r>
              <a:rPr lang="en-IN" sz="1300" b="1" dirty="0">
                <a:solidFill>
                  <a:srgbClr val="1B2A4A"/>
                </a:solidFill>
              </a:rPr>
              <a:t>EGAH is run-time governance layer that persists/ensures that an AI agent resumes with valid evidence not just recovered state.</a:t>
            </a: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>
              <a:solidFill>
                <a:srgbClr val="1B2A4A"/>
              </a:solidFill>
            </a:endParaRP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>
              <a:solidFill>
                <a:srgbClr val="1B2A4A"/>
              </a:solidFill>
            </a:endParaRP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>
              <a:solidFill>
                <a:srgbClr val="1B2A4A"/>
              </a:solidFill>
            </a:endParaRP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>
              <a:solidFill>
                <a:srgbClr val="1B2A4A"/>
              </a:solidFill>
            </a:endParaRP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>
              <a:solidFill>
                <a:srgbClr val="1B2A4A"/>
              </a:solidFill>
            </a:endParaRP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>
              <a:solidFill>
                <a:srgbClr val="1B2A4A"/>
              </a:solidFill>
            </a:endParaRP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>
              <a:solidFill>
                <a:srgbClr val="1B2A4A"/>
              </a:solidFill>
            </a:endParaRP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>
              <a:solidFill>
                <a:srgbClr val="1B2A4A"/>
              </a:solidFill>
            </a:endParaRPr>
          </a:p>
          <a:p>
            <a:pPr>
              <a:defRPr sz="1300" b="0">
                <a:solidFill>
                  <a:srgbClr val="1B2A4A"/>
                </a:solidFill>
              </a:defRPr>
            </a:pPr>
            <a:r>
              <a:rPr lang="en-IN" sz="1300" b="1" dirty="0"/>
              <a:t>a. Durable Execution State: </a:t>
            </a:r>
            <a:r>
              <a:rPr lang="en-IN" sz="1300" dirty="0"/>
              <a:t>Where are we?</a:t>
            </a: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US" sz="1300" b="1" dirty="0"/>
          </a:p>
          <a:p>
            <a:pPr>
              <a:defRPr sz="1300" b="0">
                <a:solidFill>
                  <a:srgbClr val="1B2A4A"/>
                </a:solidFill>
              </a:defRPr>
            </a:pPr>
            <a:r>
              <a:rPr lang="en-IN" sz="1300" b="1" dirty="0"/>
              <a:t>b. Durable Evidence State: </a:t>
            </a:r>
            <a:r>
              <a:rPr lang="en-IN" sz="1300" dirty="0"/>
              <a:t>What justifies us being here?</a:t>
            </a: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/>
          </a:p>
          <a:p>
            <a:pPr>
              <a:defRPr sz="1300" b="0">
                <a:solidFill>
                  <a:srgbClr val="1B2A4A"/>
                </a:solidFill>
              </a:defRPr>
            </a:pPr>
            <a:r>
              <a:rPr lang="en-IN" sz="1300" b="1" dirty="0"/>
              <a:t>c. Policy / Decision Control: </a:t>
            </a:r>
            <a:r>
              <a:rPr lang="en-IN" sz="1300" dirty="0"/>
              <a:t>What are we allowed to do next?</a:t>
            </a:r>
          </a:p>
          <a:p>
            <a:pPr>
              <a:defRPr sz="1300" b="0">
                <a:solidFill>
                  <a:srgbClr val="1B2A4A"/>
                </a:solidFill>
              </a:defRPr>
            </a:pPr>
            <a:r>
              <a:rPr lang="en-IN" sz="1300" b="1" dirty="0"/>
              <a:t>       </a:t>
            </a:r>
            <a:r>
              <a:rPr lang="en-IN" sz="1300" dirty="0"/>
              <a:t>ACT → REFRESH → ASK → ABSTAIN</a:t>
            </a: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/>
          </a:p>
          <a:p>
            <a:pPr>
              <a:defRPr sz="1300" b="0">
                <a:solidFill>
                  <a:srgbClr val="1B2A4A"/>
                </a:solidFill>
              </a:defRPr>
            </a:pPr>
            <a:r>
              <a:rPr lang="en-IN" sz="1300" b="1" dirty="0"/>
              <a:t>           ACT: </a:t>
            </a:r>
            <a:r>
              <a:rPr lang="en-IN" sz="1300" dirty="0"/>
              <a:t>Evidence is sufficient and valid; proceed</a:t>
            </a: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dirty="0"/>
          </a:p>
          <a:p>
            <a:pPr>
              <a:defRPr sz="1300" b="0">
                <a:solidFill>
                  <a:srgbClr val="1B2A4A"/>
                </a:solidFill>
              </a:defRPr>
            </a:pPr>
            <a:r>
              <a:rPr lang="en-IN" sz="1300" b="1" dirty="0"/>
              <a:t>             REFRESH: </a:t>
            </a:r>
            <a:r>
              <a:rPr lang="en-IN" sz="1300" dirty="0"/>
              <a:t>Evidence exists but is stale or changed; revalidate it</a:t>
            </a: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/>
          </a:p>
          <a:p>
            <a:pPr>
              <a:defRPr sz="1300" b="0">
                <a:solidFill>
                  <a:srgbClr val="1B2A4A"/>
                </a:solidFill>
              </a:defRPr>
            </a:pPr>
            <a:r>
              <a:rPr lang="en-IN" sz="1300" b="1" dirty="0"/>
              <a:t>                ASK: </a:t>
            </a:r>
            <a:r>
              <a:rPr lang="en-IN" sz="1300" dirty="0"/>
              <a:t>Evidence is insufficient or ambiguous; seek clarification or human review</a:t>
            </a:r>
          </a:p>
          <a:p>
            <a:pPr>
              <a:defRPr sz="1300" b="0">
                <a:solidFill>
                  <a:srgbClr val="1B2A4A"/>
                </a:solidFill>
              </a:defRPr>
            </a:pPr>
            <a:endParaRPr lang="en-IN" sz="1300" b="1" dirty="0"/>
          </a:p>
          <a:p>
            <a:pPr>
              <a:defRPr sz="1300" b="0">
                <a:solidFill>
                  <a:srgbClr val="1B2A4A"/>
                </a:solidFill>
              </a:defRPr>
            </a:pPr>
            <a:r>
              <a:rPr lang="en-IN" sz="1300" b="1" dirty="0"/>
              <a:t>                    ABSTAIN: </a:t>
            </a:r>
            <a:r>
              <a:rPr lang="en-IN" sz="1300" dirty="0"/>
              <a:t>Do not act; required evidence/capability/authorization is absent</a:t>
            </a:r>
          </a:p>
          <a:p>
            <a:pPr>
              <a:defRPr sz="1300" b="0">
                <a:solidFill>
                  <a:srgbClr val="1B2A4A"/>
                </a:solidFill>
              </a:defRPr>
            </a:pPr>
            <a:endParaRPr sz="1300" b="1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9BC6CA4-DD08-4A28-8752-BFEC53457482}"/>
              </a:ext>
            </a:extLst>
          </p:cNvPr>
          <p:cNvSpPr>
            <a:spLocks noGrp="1"/>
          </p:cNvSpPr>
          <p:nvPr/>
        </p:nvSpPr>
        <p:spPr>
          <a:xfrm>
            <a:off x="455359" y="2078227"/>
            <a:ext cx="2415624" cy="725123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r>
              <a:rPr lang="en-IN" b="1" dirty="0"/>
              <a:t>WHAT</a:t>
            </a:r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endParaRPr lang="en-IN" dirty="0"/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r>
              <a:rPr lang="en-IN" dirty="0"/>
              <a:t>State can be recovered but decision basis may not still be valid.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F4184A-B458-4EDC-B98F-96A938AB54FC}"/>
              </a:ext>
            </a:extLst>
          </p:cNvPr>
          <p:cNvSpPr>
            <a:spLocks noGrp="1"/>
          </p:cNvSpPr>
          <p:nvPr/>
        </p:nvSpPr>
        <p:spPr>
          <a:xfrm>
            <a:off x="2967148" y="2090358"/>
            <a:ext cx="2560320" cy="725123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r>
              <a:rPr lang="en-US" b="1" dirty="0"/>
              <a:t>WHY</a:t>
            </a:r>
            <a:endParaRPr b="1" dirty="0"/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endParaRPr dirty="0"/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r>
              <a:rPr lang="en-US" dirty="0"/>
              <a:t>Evidence may expire or change while execution is interrupted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E0AEDC0-A987-46AC-ABD9-01586469BC69}"/>
              </a:ext>
            </a:extLst>
          </p:cNvPr>
          <p:cNvSpPr>
            <a:spLocks noGrp="1"/>
          </p:cNvSpPr>
          <p:nvPr/>
        </p:nvSpPr>
        <p:spPr>
          <a:xfrm>
            <a:off x="5599516" y="2106430"/>
            <a:ext cx="2560320" cy="709051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r>
              <a:rPr lang="en-US" b="1" dirty="0"/>
              <a:t>HOW</a:t>
            </a:r>
            <a:endParaRPr b="1" dirty="0"/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endParaRPr dirty="0"/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r>
              <a:rPr lang="en-US" dirty="0"/>
              <a:t>Restore and validate decision basis before continuation</a:t>
            </a:r>
            <a:r>
              <a:rPr dirty="0"/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8CFAF7-6523-4C21-BFEB-50A977DBB5FB}"/>
              </a:ext>
            </a:extLst>
          </p:cNvPr>
          <p:cNvSpPr>
            <a:spLocks noGrp="1"/>
          </p:cNvSpPr>
          <p:nvPr/>
        </p:nvSpPr>
        <p:spPr>
          <a:xfrm>
            <a:off x="236288" y="6374825"/>
            <a:ext cx="6836152" cy="45719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97BD8A-9A21-4DE7-B2F5-8ADE3151172B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20E55D7-013A-CC80-EAE1-AC4E06A39D93}"/>
              </a:ext>
            </a:extLst>
          </p:cNvPr>
          <p:cNvSpPr>
            <a:spLocks noGrp="1"/>
          </p:cNvSpPr>
          <p:nvPr/>
        </p:nvSpPr>
        <p:spPr>
          <a:xfrm>
            <a:off x="8246234" y="2106431"/>
            <a:ext cx="2560320" cy="70905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r>
              <a:rPr lang="en-US" b="1" dirty="0"/>
              <a:t>WHERE/ WHO</a:t>
            </a:r>
            <a:endParaRPr b="1" dirty="0"/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endParaRPr dirty="0"/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r>
              <a:rPr lang="en-US" dirty="0"/>
              <a:t>AI agents &amp; long-running workflows where actions matter</a:t>
            </a:r>
            <a:r>
              <a:rPr dirty="0"/>
              <a:t>.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0757345F-0CB1-716D-F5BE-2A9D67AF7C04}"/>
              </a:ext>
            </a:extLst>
          </p:cNvPr>
          <p:cNvSpPr>
            <a:spLocks noGrp="1"/>
          </p:cNvSpPr>
          <p:nvPr/>
        </p:nvSpPr>
        <p:spPr>
          <a:xfrm>
            <a:off x="548639" y="566928"/>
            <a:ext cx="113660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6EAF8"/>
                </a:solidFill>
              </a:defRPr>
            </a:pPr>
            <a:r>
              <a:rPr lang="en-IN" sz="1200" dirty="0">
                <a:solidFill>
                  <a:srgbClr val="D6EAF8"/>
                </a:solidFill>
              </a:rPr>
              <a:t>WHAT is the problem? → WHY does it matter? → HOW does EGAH address it? → WHERE does it apply? → WHO needs it?.  Harness provides reusable, cross-cutting governance </a:t>
            </a:r>
            <a:endParaRPr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7131605-39F0-046D-8A24-B282A7E4C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012" y="3016252"/>
            <a:ext cx="5145111" cy="368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8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E97DB0-CEF5-476C-954D-3BB28A4A544E}"/>
              </a:ext>
            </a:extLst>
          </p:cNvPr>
          <p:cNvSpPr>
            <a:spLocks noGrp="1"/>
          </p:cNvSpPr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0D8485-7A74-4693-89E4-6DA12DE49F7A}"/>
              </a:ext>
            </a:extLst>
          </p:cNvPr>
          <p:cNvSpPr>
            <a:spLocks noGrp="1"/>
          </p:cNvSpPr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2C46DE-FCE6-40DF-9251-690B12A32737}"/>
              </a:ext>
            </a:extLst>
          </p:cNvPr>
          <p:cNvSpPr>
            <a:spLocks noGrp="1"/>
          </p:cNvSpPr>
          <p:nvPr/>
        </p:nvSpPr>
        <p:spPr>
          <a:xfrm>
            <a:off x="548640" y="1371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C6458-DCC4-410B-9525-2093CBA28AA5}"/>
              </a:ext>
            </a:extLst>
          </p:cNvPr>
          <p:cNvSpPr>
            <a:spLocks noGrp="1"/>
          </p:cNvSpPr>
          <p:nvPr/>
        </p:nvSpPr>
        <p:spPr>
          <a:xfrm>
            <a:off x="1024128" y="545592"/>
            <a:ext cx="68303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6EAF8"/>
                </a:solidFill>
              </a:defRPr>
            </a:pPr>
            <a:r>
              <a:rPr sz="1200" dirty="0"/>
              <a:t>End-to-end </a:t>
            </a:r>
            <a:r>
              <a:rPr lang="en-IN" sz="1200" dirty="0">
                <a:solidFill>
                  <a:srgbClr val="D6EAF8"/>
                </a:solidFill>
              </a:rPr>
              <a:t>evidence-governed control layer between intelligent decision-making and consequential action</a:t>
            </a:r>
            <a:endParaRPr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7D191C-9F4C-4F30-90CD-F58B24D5D192}"/>
              </a:ext>
            </a:extLst>
          </p:cNvPr>
          <p:cNvSpPr>
            <a:spLocks noGrp="1"/>
          </p:cNvSpPr>
          <p:nvPr/>
        </p:nvSpPr>
        <p:spPr>
          <a:xfrm>
            <a:off x="225088" y="6385224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4585D6-FAF1-4AE4-A342-EF388A20E467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BD812F-A468-507B-F981-861CBC733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137" y="1053986"/>
            <a:ext cx="3514192" cy="52857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C494654-E2D3-D8DC-6C0D-BE97051CD919}"/>
              </a:ext>
            </a:extLst>
          </p:cNvPr>
          <p:cNvSpPr>
            <a:spLocks noGrp="1"/>
          </p:cNvSpPr>
          <p:nvPr/>
        </p:nvSpPr>
        <p:spPr>
          <a:xfrm rot="5400000" flipV="1">
            <a:off x="5927951" y="3483301"/>
            <a:ext cx="5037616" cy="45719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303365A-EFC3-BEE2-0DF8-7ED5F360AA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65" y="1015193"/>
            <a:ext cx="7772400" cy="43132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FDF6CA9-9503-EECB-0328-DAE13752F14F}"/>
              </a:ext>
            </a:extLst>
          </p:cNvPr>
          <p:cNvSpPr>
            <a:spLocks noGrp="1"/>
          </p:cNvSpPr>
          <p:nvPr/>
        </p:nvSpPr>
        <p:spPr>
          <a:xfrm>
            <a:off x="167419" y="5512703"/>
            <a:ext cx="2560320" cy="726866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100" b="0">
                <a:solidFill>
                  <a:srgbClr val="1B2A4A"/>
                </a:solidFill>
              </a:defRPr>
            </a:pPr>
            <a:r>
              <a:rPr b="1" dirty="0"/>
              <a:t>EMBEDDED SDK</a:t>
            </a:r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endParaRPr dirty="0"/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r>
              <a:rPr dirty="0"/>
              <a:t>Python library </a:t>
            </a:r>
            <a:r>
              <a:rPr lang="en-IN" dirty="0"/>
              <a:t>around </a:t>
            </a:r>
            <a:r>
              <a:rPr dirty="0"/>
              <a:t>consequential nodes;</a:t>
            </a:r>
            <a:r>
              <a:rPr lang="en-US" dirty="0"/>
              <a:t> </a:t>
            </a:r>
            <a:r>
              <a:rPr dirty="0"/>
              <a:t>store + decide.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4FB771D-79E4-6E2C-344A-1A6E445F03D1}"/>
              </a:ext>
            </a:extLst>
          </p:cNvPr>
          <p:cNvSpPr>
            <a:spLocks noGrp="1"/>
          </p:cNvSpPr>
          <p:nvPr/>
        </p:nvSpPr>
        <p:spPr>
          <a:xfrm>
            <a:off x="2910619" y="5513585"/>
            <a:ext cx="2560320" cy="726867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100" b="0">
                <a:solidFill>
                  <a:srgbClr val="1B2A4A"/>
                </a:solidFill>
              </a:defRPr>
            </a:pPr>
            <a:r>
              <a:rPr b="1" dirty="0"/>
              <a:t>RUNTIME HOOKS</a:t>
            </a:r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endParaRPr dirty="0"/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r>
              <a:rPr dirty="0" err="1"/>
              <a:t>LangGraph</a:t>
            </a:r>
            <a:r>
              <a:rPr dirty="0"/>
              <a:t>, Temporal,</a:t>
            </a:r>
            <a:r>
              <a:rPr lang="en-US" dirty="0"/>
              <a:t> </a:t>
            </a:r>
            <a:r>
              <a:rPr dirty="0" err="1"/>
              <a:t>Dapr</a:t>
            </a:r>
            <a:r>
              <a:rPr dirty="0"/>
              <a:t> or Prefect; SQL/NoSQL evidence stores.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CA930B8-6DC0-AA2E-50DF-FD928265C69F}"/>
              </a:ext>
            </a:extLst>
          </p:cNvPr>
          <p:cNvSpPr>
            <a:spLocks noGrp="1"/>
          </p:cNvSpPr>
          <p:nvPr/>
        </p:nvSpPr>
        <p:spPr>
          <a:xfrm>
            <a:off x="5675617" y="5487282"/>
            <a:ext cx="2560320" cy="72686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100" b="0">
                <a:solidFill>
                  <a:srgbClr val="1B2A4A"/>
                </a:solidFill>
              </a:defRPr>
            </a:pPr>
            <a:r>
              <a:rPr b="1" dirty="0"/>
              <a:t>SERVICE + EVENTS</a:t>
            </a:r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endParaRPr dirty="0"/>
          </a:p>
          <a:p>
            <a:pPr algn="l">
              <a:buNone/>
              <a:defRPr sz="1100" b="0">
                <a:solidFill>
                  <a:srgbClr val="1B2A4A"/>
                </a:solidFill>
              </a:defRPr>
            </a:pPr>
            <a:r>
              <a:rPr dirty="0"/>
              <a:t>REST/</a:t>
            </a:r>
            <a:r>
              <a:rPr dirty="0" err="1"/>
              <a:t>gRPC</a:t>
            </a:r>
            <a:r>
              <a:rPr dirty="0"/>
              <a:t>; </a:t>
            </a:r>
            <a:r>
              <a:rPr dirty="0" err="1"/>
              <a:t>OTel</a:t>
            </a:r>
            <a:r>
              <a:rPr dirty="0"/>
              <a:t> export;</a:t>
            </a:r>
            <a:r>
              <a:rPr lang="en-US" dirty="0"/>
              <a:t> </a:t>
            </a:r>
            <a:r>
              <a:rPr dirty="0"/>
              <a:t>OPA/Cedar; bureau, </a:t>
            </a:r>
            <a:r>
              <a:rPr dirty="0" err="1"/>
              <a:t>KYC,fraud</a:t>
            </a:r>
            <a:r>
              <a:rPr dirty="0"/>
              <a:t> and pricing adapters.</a:t>
            </a:r>
          </a:p>
        </p:txBody>
      </p:sp>
    </p:spTree>
    <p:extLst>
      <p:ext uri="{BB962C8B-B14F-4D97-AF65-F5344CB8AC3E}">
        <p14:creationId xmlns:p14="http://schemas.microsoft.com/office/powerpoint/2010/main" val="213337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2EEDC2-4563-4137-AEA8-BECD75FEA5E9}"/>
              </a:ext>
            </a:extLst>
          </p:cNvPr>
          <p:cNvSpPr>
            <a:spLocks noGrp="1"/>
          </p:cNvSpPr>
          <p:nvPr/>
        </p:nvSpPr>
        <p:spPr>
          <a:xfrm>
            <a:off x="73151" y="73152"/>
            <a:ext cx="12045695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698831-B365-4B7A-A24A-7DCE0B42DD5D}"/>
              </a:ext>
            </a:extLst>
          </p:cNvPr>
          <p:cNvSpPr>
            <a:spLocks noGrp="1"/>
          </p:cNvSpPr>
          <p:nvPr/>
        </p:nvSpPr>
        <p:spPr>
          <a:xfrm>
            <a:off x="73152" y="73152"/>
            <a:ext cx="12045696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D1E93-264B-4AFB-899C-36278D72E090}"/>
              </a:ext>
            </a:extLst>
          </p:cNvPr>
          <p:cNvSpPr>
            <a:spLocks noGrp="1"/>
          </p:cNvSpPr>
          <p:nvPr/>
        </p:nvSpPr>
        <p:spPr>
          <a:xfrm>
            <a:off x="548640" y="13716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lang="en-US" dirty="0"/>
              <a:t>Observability vs EGAH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BC9C41-1897-4148-A16E-0460FF66508D}"/>
              </a:ext>
            </a:extLst>
          </p:cNvPr>
          <p:cNvSpPr>
            <a:spLocks noGrp="1"/>
          </p:cNvSpPr>
          <p:nvPr/>
        </p:nvSpPr>
        <p:spPr>
          <a:xfrm>
            <a:off x="288885" y="2132241"/>
            <a:ext cx="1386166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lang="en-US" dirty="0"/>
              <a:t>Primary question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9B7836F-9C4D-4DDD-B89F-3639E483716C}"/>
              </a:ext>
            </a:extLst>
          </p:cNvPr>
          <p:cNvSpPr>
            <a:spLocks noGrp="1"/>
          </p:cNvSpPr>
          <p:nvPr/>
        </p:nvSpPr>
        <p:spPr>
          <a:xfrm>
            <a:off x="1715114" y="2124149"/>
            <a:ext cx="2055773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dirty="0"/>
              <a:t>What happened ?.</a:t>
            </a: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45AF4C-CAD0-4BA1-AB5B-0A0E0F7F2ED9}"/>
              </a:ext>
            </a:extLst>
          </p:cNvPr>
          <p:cNvSpPr>
            <a:spLocks noGrp="1"/>
          </p:cNvSpPr>
          <p:nvPr/>
        </p:nvSpPr>
        <p:spPr>
          <a:xfrm>
            <a:off x="288885" y="2644305"/>
            <a:ext cx="1386166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lang="en-US" dirty="0"/>
              <a:t>Focus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72A0C82-A9E0-4CE4-924F-77E85A8D6E54}"/>
              </a:ext>
            </a:extLst>
          </p:cNvPr>
          <p:cNvSpPr>
            <a:spLocks noGrp="1"/>
          </p:cNvSpPr>
          <p:nvPr/>
        </p:nvSpPr>
        <p:spPr>
          <a:xfrm>
            <a:off x="1715114" y="2636213"/>
            <a:ext cx="2055773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dirty="0"/>
              <a:t>Execution visibility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E27B25-D286-41B1-8D71-29CBCCEA2D1D}"/>
              </a:ext>
            </a:extLst>
          </p:cNvPr>
          <p:cNvSpPr>
            <a:spLocks noGrp="1"/>
          </p:cNvSpPr>
          <p:nvPr/>
        </p:nvSpPr>
        <p:spPr>
          <a:xfrm>
            <a:off x="288885" y="3156369"/>
            <a:ext cx="1386166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lang="en-US" dirty="0"/>
              <a:t>Tracks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F549B60-876F-4129-83A9-007F78A14D87}"/>
              </a:ext>
            </a:extLst>
          </p:cNvPr>
          <p:cNvSpPr>
            <a:spLocks noGrp="1"/>
          </p:cNvSpPr>
          <p:nvPr/>
        </p:nvSpPr>
        <p:spPr>
          <a:xfrm>
            <a:off x="1715115" y="3148277"/>
            <a:ext cx="2055774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dirty="0"/>
              <a:t>Logs, traces, metrics, events</a:t>
            </a:r>
            <a:endParaRPr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5C0E510-C5DA-4EF7-A4A5-02B02D89483F}"/>
              </a:ext>
            </a:extLst>
          </p:cNvPr>
          <p:cNvSpPr>
            <a:spLocks noGrp="1"/>
          </p:cNvSpPr>
          <p:nvPr/>
        </p:nvSpPr>
        <p:spPr>
          <a:xfrm>
            <a:off x="288885" y="3668433"/>
            <a:ext cx="1386166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lang="en-US" dirty="0"/>
              <a:t>After a crash</a:t>
            </a:r>
            <a:endParaRPr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A922898-DEDE-4B67-AF6B-BBA4EA38D5F4}"/>
              </a:ext>
            </a:extLst>
          </p:cNvPr>
          <p:cNvSpPr>
            <a:spLocks noGrp="1"/>
          </p:cNvSpPr>
          <p:nvPr/>
        </p:nvSpPr>
        <p:spPr>
          <a:xfrm>
            <a:off x="1715113" y="3660341"/>
            <a:ext cx="2055774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dirty="0"/>
              <a:t>Where did workflow stop?.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CE44ED2-2083-4B68-93CA-14FE9EEBF7C6}"/>
              </a:ext>
            </a:extLst>
          </p:cNvPr>
          <p:cNvSpPr>
            <a:spLocks noGrp="1"/>
          </p:cNvSpPr>
          <p:nvPr/>
        </p:nvSpPr>
        <p:spPr>
          <a:xfrm>
            <a:off x="288885" y="4180497"/>
            <a:ext cx="1386166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lang="en-US" dirty="0"/>
              <a:t>Detects</a:t>
            </a:r>
            <a:endParaRPr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7AA80C3-2330-4B04-AFF6-7878C4C8B3D4}"/>
              </a:ext>
            </a:extLst>
          </p:cNvPr>
          <p:cNvSpPr>
            <a:spLocks noGrp="1"/>
          </p:cNvSpPr>
          <p:nvPr/>
        </p:nvSpPr>
        <p:spPr>
          <a:xfrm>
            <a:off x="1715114" y="4172405"/>
            <a:ext cx="2055773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dirty="0"/>
              <a:t>Failures and anomalies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C150238-A2DB-4D7F-BAB1-866F28EFD7CC}"/>
              </a:ext>
            </a:extLst>
          </p:cNvPr>
          <p:cNvSpPr>
            <a:spLocks noGrp="1"/>
          </p:cNvSpPr>
          <p:nvPr/>
        </p:nvSpPr>
        <p:spPr>
          <a:xfrm>
            <a:off x="288885" y="4692561"/>
            <a:ext cx="1386166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lang="en-US" dirty="0"/>
              <a:t>Recovery role</a:t>
            </a:r>
            <a:endParaRPr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3E760A0-1F8E-4142-8629-B7C168DD646A}"/>
              </a:ext>
            </a:extLst>
          </p:cNvPr>
          <p:cNvSpPr>
            <a:spLocks noGrp="1"/>
          </p:cNvSpPr>
          <p:nvPr/>
        </p:nvSpPr>
        <p:spPr>
          <a:xfrm>
            <a:off x="1715114" y="4684469"/>
            <a:ext cx="2055773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dirty="0"/>
              <a:t>Helps diagnose and restore</a:t>
            </a:r>
            <a:endParaRPr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5145591-A8E1-4C31-B667-27A8AA1E5424}"/>
              </a:ext>
            </a:extLst>
          </p:cNvPr>
          <p:cNvSpPr>
            <a:spLocks noGrp="1"/>
          </p:cNvSpPr>
          <p:nvPr/>
        </p:nvSpPr>
        <p:spPr>
          <a:xfrm>
            <a:off x="288885" y="5204625"/>
            <a:ext cx="1386166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lang="en-US" dirty="0"/>
              <a:t>Output</a:t>
            </a:r>
            <a:endParaRPr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E2EB09A-21D0-4940-AC4C-2823E2592574}"/>
              </a:ext>
            </a:extLst>
          </p:cNvPr>
          <p:cNvSpPr>
            <a:spLocks noGrp="1"/>
          </p:cNvSpPr>
          <p:nvPr/>
        </p:nvSpPr>
        <p:spPr>
          <a:xfrm>
            <a:off x="1715114" y="5196533"/>
            <a:ext cx="2055773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dirty="0"/>
              <a:t>Insight/ Visibility</a:t>
            </a:r>
            <a:endParaRPr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364F65-C1C1-4B72-A25C-76A713A8C272}"/>
              </a:ext>
            </a:extLst>
          </p:cNvPr>
          <p:cNvSpPr>
            <a:spLocks noGrp="1"/>
          </p:cNvSpPr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08C161-3687-4BCE-BADA-6272DC21A4A3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98FEAB1-3552-2EEC-BBAC-D6A3332EB37F}"/>
              </a:ext>
            </a:extLst>
          </p:cNvPr>
          <p:cNvSpPr>
            <a:spLocks noGrp="1"/>
          </p:cNvSpPr>
          <p:nvPr/>
        </p:nvSpPr>
        <p:spPr>
          <a:xfrm>
            <a:off x="288885" y="1615325"/>
            <a:ext cx="1386166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lang="en-US" dirty="0"/>
              <a:t>Type</a:t>
            </a:r>
            <a:endParaRPr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BBCDCF8-41B4-91B6-4770-8004A9ECFEB6}"/>
              </a:ext>
            </a:extLst>
          </p:cNvPr>
          <p:cNvSpPr>
            <a:spLocks noGrp="1"/>
          </p:cNvSpPr>
          <p:nvPr/>
        </p:nvSpPr>
        <p:spPr>
          <a:xfrm>
            <a:off x="1715113" y="1609981"/>
            <a:ext cx="2055773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lang="en-US" dirty="0"/>
              <a:t>Observability</a:t>
            </a:r>
            <a:endParaRPr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F324684-4B93-0F4B-10C5-93FD217310AE}"/>
              </a:ext>
            </a:extLst>
          </p:cNvPr>
          <p:cNvSpPr>
            <a:spLocks noGrp="1"/>
          </p:cNvSpPr>
          <p:nvPr/>
        </p:nvSpPr>
        <p:spPr>
          <a:xfrm>
            <a:off x="3819038" y="1609981"/>
            <a:ext cx="2573669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lang="en-US" dirty="0"/>
              <a:t>EGAH</a:t>
            </a:r>
            <a:endParaRPr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FB3849C-3961-D9A6-E570-63AA1E009C45}"/>
              </a:ext>
            </a:extLst>
          </p:cNvPr>
          <p:cNvSpPr>
            <a:spLocks noGrp="1"/>
          </p:cNvSpPr>
          <p:nvPr/>
        </p:nvSpPr>
        <p:spPr>
          <a:xfrm>
            <a:off x="3819039" y="2147107"/>
            <a:ext cx="2581761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dirty="0"/>
              <a:t>Can we safely continue ?.</a:t>
            </a:r>
            <a:endParaRPr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5A938F7-9A7C-E426-68E1-8557A0B09FAF}"/>
              </a:ext>
            </a:extLst>
          </p:cNvPr>
          <p:cNvSpPr>
            <a:spLocks noGrp="1"/>
          </p:cNvSpPr>
          <p:nvPr/>
        </p:nvSpPr>
        <p:spPr>
          <a:xfrm>
            <a:off x="3819039" y="2659171"/>
            <a:ext cx="2573669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dirty="0"/>
              <a:t>Evidence-governed action</a:t>
            </a:r>
            <a:endParaRPr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81332A8-DAF2-2908-4823-C83C1353575D}"/>
              </a:ext>
            </a:extLst>
          </p:cNvPr>
          <p:cNvSpPr>
            <a:spLocks noGrp="1"/>
          </p:cNvSpPr>
          <p:nvPr/>
        </p:nvSpPr>
        <p:spPr>
          <a:xfrm>
            <a:off x="3810948" y="3171235"/>
            <a:ext cx="258176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sz="1150" dirty="0"/>
              <a:t>Evidence, validity, provenance</a:t>
            </a:r>
            <a:endParaRPr sz="1150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3EFB829-ABDD-D58E-6CC2-5B78B53B78C6}"/>
              </a:ext>
            </a:extLst>
          </p:cNvPr>
          <p:cNvSpPr>
            <a:spLocks noGrp="1"/>
          </p:cNvSpPr>
          <p:nvPr/>
        </p:nvSpPr>
        <p:spPr>
          <a:xfrm>
            <a:off x="3819039" y="3683299"/>
            <a:ext cx="2573670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dirty="0"/>
              <a:t>Is previous decision still valid?.</a:t>
            </a:r>
            <a:endParaRPr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8699776-A8CA-1F94-56F2-FD0554883A2A}"/>
              </a:ext>
            </a:extLst>
          </p:cNvPr>
          <p:cNvSpPr>
            <a:spLocks noGrp="1"/>
          </p:cNvSpPr>
          <p:nvPr/>
        </p:nvSpPr>
        <p:spPr>
          <a:xfrm>
            <a:off x="3819039" y="4195363"/>
            <a:ext cx="2573669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dirty="0"/>
              <a:t>Valid, Stale/Invalid or insufficient</a:t>
            </a:r>
            <a:endParaRPr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1D8555B-EFF0-8807-D39E-D6466B33F022}"/>
              </a:ext>
            </a:extLst>
          </p:cNvPr>
          <p:cNvSpPr>
            <a:spLocks noGrp="1"/>
          </p:cNvSpPr>
          <p:nvPr/>
        </p:nvSpPr>
        <p:spPr>
          <a:xfrm>
            <a:off x="3819039" y="4707427"/>
            <a:ext cx="2573669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dirty="0"/>
              <a:t>Controls continuation allowed?</a:t>
            </a:r>
            <a:endParaRPr dirty="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D329331-1033-11F8-DBFE-014C6C93A029}"/>
              </a:ext>
            </a:extLst>
          </p:cNvPr>
          <p:cNvSpPr>
            <a:spLocks noGrp="1"/>
          </p:cNvSpPr>
          <p:nvPr/>
        </p:nvSpPr>
        <p:spPr>
          <a:xfrm>
            <a:off x="3819039" y="5219491"/>
            <a:ext cx="2573669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sz="1100" dirty="0"/>
              <a:t>ALLOW/ REFRESH/ RECOMPUTE/ BLOCK</a:t>
            </a:r>
            <a:endParaRPr sz="1100" dirty="0"/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1EF2D798-150B-D51C-AE99-6E109E1C47AA}"/>
              </a:ext>
            </a:extLst>
          </p:cNvPr>
          <p:cNvSpPr>
            <a:spLocks noGrp="1"/>
          </p:cNvSpPr>
          <p:nvPr/>
        </p:nvSpPr>
        <p:spPr>
          <a:xfrm>
            <a:off x="1155542" y="547988"/>
            <a:ext cx="101133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6EAF8"/>
                </a:solidFill>
              </a:defRPr>
            </a:pPr>
            <a:r>
              <a:rPr lang="en-US" sz="1400" dirty="0"/>
              <a:t>Knowing What Happened to Governing What’s Next. </a:t>
            </a:r>
            <a:r>
              <a:rPr lang="en-US" sz="1200" dirty="0">
                <a:solidFill>
                  <a:srgbClr val="D6EAF8"/>
                </a:solidFill>
              </a:rPr>
              <a:t>Telemetry gives EGAH inputs which leverages verified information into runtime governance state.</a:t>
            </a:r>
            <a:endParaRPr lang="en-US" sz="1400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CB97443-0CB2-0CF8-DFD7-C98A06E15F95}"/>
              </a:ext>
            </a:extLst>
          </p:cNvPr>
          <p:cNvSpPr>
            <a:spLocks noGrp="1"/>
          </p:cNvSpPr>
          <p:nvPr/>
        </p:nvSpPr>
        <p:spPr>
          <a:xfrm>
            <a:off x="280793" y="5743852"/>
            <a:ext cx="1386166" cy="475488"/>
          </a:xfrm>
          <a:prstGeom prst="roundRect">
            <a:avLst>
              <a:gd name="adj" fmla="val 5000"/>
            </a:avLst>
          </a:prstGeom>
          <a:solidFill>
            <a:srgbClr val="2E86C1"/>
          </a:solidFill>
          <a:ln w="1016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lang="en-US" dirty="0"/>
              <a:t>Output</a:t>
            </a:r>
            <a:endParaRPr dirty="0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6F2DBC4-5E14-72BE-FCC1-A1AE7E448D1F}"/>
              </a:ext>
            </a:extLst>
          </p:cNvPr>
          <p:cNvSpPr>
            <a:spLocks noGrp="1"/>
          </p:cNvSpPr>
          <p:nvPr/>
        </p:nvSpPr>
        <p:spPr>
          <a:xfrm>
            <a:off x="1707022" y="5735760"/>
            <a:ext cx="2055773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sz="1100" dirty="0"/>
              <a:t>System failed/recovered during e-sign stage</a:t>
            </a:r>
            <a:endParaRPr sz="1100" dirty="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F7BC0AD-DB38-568A-6DB1-20EB4AF597E4}"/>
              </a:ext>
            </a:extLst>
          </p:cNvPr>
          <p:cNvSpPr>
            <a:spLocks noGrp="1"/>
          </p:cNvSpPr>
          <p:nvPr/>
        </p:nvSpPr>
        <p:spPr>
          <a:xfrm>
            <a:off x="3810947" y="5758718"/>
            <a:ext cx="2573669" cy="475488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200" b="0">
                <a:solidFill>
                  <a:srgbClr val="1B2A4A"/>
                </a:solidFill>
              </a:defRPr>
            </a:pPr>
            <a:r>
              <a:rPr lang="en-US" sz="1100" dirty="0"/>
              <a:t>Validate before allowing continuation</a:t>
            </a:r>
            <a:endParaRPr sz="11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4BB27FC-C8EA-12A3-E416-B28914559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683" y="1021558"/>
            <a:ext cx="2832100" cy="25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56FBAEE-A89F-6335-26E0-72CA42B53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19" y="3740688"/>
            <a:ext cx="3403600" cy="2438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4" name="TextBox 4">
            <a:extLst>
              <a:ext uri="{FF2B5EF4-FFF2-40B4-BE49-F238E27FC236}">
                <a16:creationId xmlns:a16="http://schemas.microsoft.com/office/drawing/2014/main" id="{0B75082C-2A5B-0DF1-0392-01D497CB2B73}"/>
              </a:ext>
            </a:extLst>
          </p:cNvPr>
          <p:cNvSpPr>
            <a:spLocks noGrp="1"/>
          </p:cNvSpPr>
          <p:nvPr/>
        </p:nvSpPr>
        <p:spPr>
          <a:xfrm>
            <a:off x="280793" y="1151627"/>
            <a:ext cx="8046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EAGH sits on top of observability, leveraging traces/telemetry with evidence to validate outcome/ continuation.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737113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3B7928-3CE8-4E8F-A8E3-5F51608373C7}"/>
              </a:ext>
            </a:extLst>
          </p:cNvPr>
          <p:cNvSpPr>
            <a:spLocks noGrp="1"/>
          </p:cNvSpPr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E5F385-78BB-4ABC-9C3E-AD670CA69445}"/>
              </a:ext>
            </a:extLst>
          </p:cNvPr>
          <p:cNvSpPr>
            <a:spLocks noGrp="1"/>
          </p:cNvSpPr>
          <p:nvPr/>
        </p:nvSpPr>
        <p:spPr>
          <a:xfrm>
            <a:off x="73151" y="73152"/>
            <a:ext cx="12045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970CD-20C0-43BA-BC80-791110442B42}"/>
              </a:ext>
            </a:extLst>
          </p:cNvPr>
          <p:cNvSpPr>
            <a:spLocks noGrp="1"/>
          </p:cNvSpPr>
          <p:nvPr/>
        </p:nvSpPr>
        <p:spPr>
          <a:xfrm>
            <a:off x="548640" y="13716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dirty="0"/>
              <a:t>EGAH complements OSS stack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A1C39B-D08A-47ED-B8BC-86858DDC0270}"/>
              </a:ext>
            </a:extLst>
          </p:cNvPr>
          <p:cNvSpPr>
            <a:spLocks noGrp="1"/>
          </p:cNvSpPr>
          <p:nvPr/>
        </p:nvSpPr>
        <p:spPr>
          <a:xfrm>
            <a:off x="365760" y="2301136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100" b="1">
                <a:solidFill>
                  <a:srgbClr val="FFFFFF"/>
                </a:solidFill>
              </a:defRPr>
            </a:pPr>
            <a:r>
              <a:t>Capability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1572CF-23E8-44A6-8BBD-85914DD15D84}"/>
              </a:ext>
            </a:extLst>
          </p:cNvPr>
          <p:cNvSpPr>
            <a:spLocks noGrp="1"/>
          </p:cNvSpPr>
          <p:nvPr/>
        </p:nvSpPr>
        <p:spPr>
          <a:xfrm>
            <a:off x="2606040" y="2301136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100" b="1">
                <a:solidFill>
                  <a:srgbClr val="FFFFFF"/>
                </a:solidFill>
              </a:defRPr>
            </a:pPr>
            <a:r>
              <a:rPr dirty="0"/>
              <a:t>Existing OSS</a:t>
            </a:r>
            <a:r>
              <a:rPr lang="en-US" dirty="0"/>
              <a:t>(</a:t>
            </a:r>
            <a:r>
              <a:rPr lang="en-IN" sz="1100" b="1" dirty="0">
                <a:solidFill>
                  <a:srgbClr val="FFFFFF"/>
                </a:solidFill>
              </a:rPr>
              <a:t>Open Source Software)</a:t>
            </a:r>
            <a:r>
              <a:rPr dirty="0"/>
              <a:t> strength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317C0E-3883-49EA-A890-6C0C1843C392}"/>
              </a:ext>
            </a:extLst>
          </p:cNvPr>
          <p:cNvSpPr>
            <a:spLocks noGrp="1"/>
          </p:cNvSpPr>
          <p:nvPr/>
        </p:nvSpPr>
        <p:spPr>
          <a:xfrm>
            <a:off x="5577840" y="2301136"/>
            <a:ext cx="5013120" cy="43891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100" b="1">
                <a:solidFill>
                  <a:srgbClr val="FFFFFF"/>
                </a:solidFill>
              </a:defRPr>
            </a:pPr>
            <a:r>
              <a:rPr lang="en-US" dirty="0"/>
              <a:t>Why it is Not Sufficient Alone</a:t>
            </a: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447820A-A02A-47BB-A1B5-4D374A704A55}"/>
              </a:ext>
            </a:extLst>
          </p:cNvPr>
          <p:cNvSpPr>
            <a:spLocks noGrp="1"/>
          </p:cNvSpPr>
          <p:nvPr/>
        </p:nvSpPr>
        <p:spPr>
          <a:xfrm>
            <a:off x="365760" y="2776624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1">
                <a:solidFill>
                  <a:srgbClr val="1B2A4A"/>
                </a:solidFill>
              </a:defRPr>
            </a:pPr>
            <a:r>
              <a:t>LangGraph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370A1B5-A14A-4033-B673-972B22B1D2EA}"/>
              </a:ext>
            </a:extLst>
          </p:cNvPr>
          <p:cNvSpPr>
            <a:spLocks noGrp="1"/>
          </p:cNvSpPr>
          <p:nvPr/>
        </p:nvSpPr>
        <p:spPr>
          <a:xfrm>
            <a:off x="2606040" y="2776624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0">
                <a:solidFill>
                  <a:srgbClr val="546477"/>
                </a:solidFill>
              </a:defRPr>
            </a:pPr>
            <a:r>
              <a:rPr sz="1000" b="0" dirty="0">
                <a:solidFill>
                  <a:srgbClr val="546477"/>
                </a:solidFill>
              </a:rPr>
              <a:t>Graph checkpoints, replay, HIL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32F78F-CD20-4AA1-80FE-276206C39FD2}"/>
              </a:ext>
            </a:extLst>
          </p:cNvPr>
          <p:cNvSpPr>
            <a:spLocks noGrp="1"/>
          </p:cNvSpPr>
          <p:nvPr/>
        </p:nvSpPr>
        <p:spPr>
          <a:xfrm>
            <a:off x="5577839" y="2776624"/>
            <a:ext cx="5013123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1677B8"/>
                </a:solidFill>
              </a:defRPr>
            </a:pPr>
            <a:r>
              <a:rPr lang="en-IN" sz="1000" dirty="0">
                <a:solidFill>
                  <a:srgbClr val="1677B8"/>
                </a:solidFill>
              </a:rPr>
              <a:t>Restores workflow state, but does not explicitly govern whether prior evidence is still valid</a:t>
            </a:r>
            <a:endParaRPr sz="1000" b="0" dirty="0">
              <a:solidFill>
                <a:srgbClr val="1677B8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8FA0A38-5D1C-4727-9B53-3BE4BF180699}"/>
              </a:ext>
            </a:extLst>
          </p:cNvPr>
          <p:cNvSpPr>
            <a:spLocks noGrp="1"/>
          </p:cNvSpPr>
          <p:nvPr/>
        </p:nvSpPr>
        <p:spPr>
          <a:xfrm>
            <a:off x="365760" y="3252112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1">
                <a:solidFill>
                  <a:srgbClr val="1B2A4A"/>
                </a:solidFill>
              </a:defRPr>
            </a:pPr>
            <a:r>
              <a:t>Temporal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AABA01B-6A7A-441D-BFE0-CA6B4A02858E}"/>
              </a:ext>
            </a:extLst>
          </p:cNvPr>
          <p:cNvSpPr>
            <a:spLocks noGrp="1"/>
          </p:cNvSpPr>
          <p:nvPr/>
        </p:nvSpPr>
        <p:spPr>
          <a:xfrm>
            <a:off x="2606040" y="3252112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0">
                <a:solidFill>
                  <a:srgbClr val="546477"/>
                </a:solidFill>
              </a:defRPr>
            </a:pPr>
            <a:r>
              <a:rPr sz="1000" b="0">
                <a:solidFill>
                  <a:srgbClr val="546477"/>
                </a:solidFill>
              </a:rPr>
              <a:t>Durable history and replay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73CCFAE-D289-44A5-8661-7AAFA3B56BDE}"/>
              </a:ext>
            </a:extLst>
          </p:cNvPr>
          <p:cNvSpPr>
            <a:spLocks noGrp="1"/>
          </p:cNvSpPr>
          <p:nvPr/>
        </p:nvSpPr>
        <p:spPr>
          <a:xfrm>
            <a:off x="5577840" y="3252112"/>
            <a:ext cx="5013122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1677B8"/>
                </a:solidFill>
              </a:defRPr>
            </a:pPr>
            <a:r>
              <a:rPr lang="en-IN" sz="1000" dirty="0">
                <a:solidFill>
                  <a:srgbClr val="1677B8"/>
                </a:solidFill>
              </a:rPr>
              <a:t>Knows execution history, but not whether external facts have become stale</a:t>
            </a:r>
            <a:endParaRPr sz="1000" b="0" dirty="0">
              <a:solidFill>
                <a:srgbClr val="1677B8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B50F723-3306-46A1-A8D4-837605C30F63}"/>
              </a:ext>
            </a:extLst>
          </p:cNvPr>
          <p:cNvSpPr>
            <a:spLocks noGrp="1"/>
          </p:cNvSpPr>
          <p:nvPr/>
        </p:nvSpPr>
        <p:spPr>
          <a:xfrm>
            <a:off x="365760" y="3727600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1">
                <a:solidFill>
                  <a:srgbClr val="1B2A4A"/>
                </a:solidFill>
              </a:defRPr>
            </a:pPr>
            <a:r>
              <a:t>Dapr Workflow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A311E43-85C2-4DD4-83D6-F51BEB136D13}"/>
              </a:ext>
            </a:extLst>
          </p:cNvPr>
          <p:cNvSpPr>
            <a:spLocks noGrp="1"/>
          </p:cNvSpPr>
          <p:nvPr/>
        </p:nvSpPr>
        <p:spPr>
          <a:xfrm>
            <a:off x="2606040" y="3727600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0">
                <a:solidFill>
                  <a:srgbClr val="546477"/>
                </a:solidFill>
              </a:defRPr>
            </a:pPr>
            <a:r>
              <a:rPr sz="1000" b="0">
                <a:solidFill>
                  <a:srgbClr val="546477"/>
                </a:solidFill>
              </a:rPr>
              <a:t>Retries; signed history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8784F7B-7213-4F60-A096-C22AD97A507D}"/>
              </a:ext>
            </a:extLst>
          </p:cNvPr>
          <p:cNvSpPr>
            <a:spLocks noGrp="1"/>
          </p:cNvSpPr>
          <p:nvPr/>
        </p:nvSpPr>
        <p:spPr>
          <a:xfrm>
            <a:off x="5577840" y="3727600"/>
            <a:ext cx="5013122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1677B8"/>
                </a:solidFill>
              </a:defRPr>
            </a:pPr>
            <a:r>
              <a:rPr lang="en-IN" sz="1000" dirty="0">
                <a:solidFill>
                  <a:srgbClr val="1677B8"/>
                </a:solidFill>
              </a:rPr>
              <a:t>Handles execution recovery, but not the lifecycle of evidence behind a decision</a:t>
            </a:r>
            <a:endParaRPr sz="1000" b="0" dirty="0">
              <a:solidFill>
                <a:srgbClr val="1677B8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4BF2D0B-8090-4232-AD8F-ACC13BF5D526}"/>
              </a:ext>
            </a:extLst>
          </p:cNvPr>
          <p:cNvSpPr>
            <a:spLocks noGrp="1"/>
          </p:cNvSpPr>
          <p:nvPr/>
        </p:nvSpPr>
        <p:spPr>
          <a:xfrm>
            <a:off x="365760" y="4203088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1">
                <a:solidFill>
                  <a:srgbClr val="1B2A4A"/>
                </a:solidFill>
              </a:defRPr>
            </a:pPr>
            <a:r>
              <a:t>Prefect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A3588E1-A312-401D-B652-F875ACBE2A63}"/>
              </a:ext>
            </a:extLst>
          </p:cNvPr>
          <p:cNvSpPr>
            <a:spLocks noGrp="1"/>
          </p:cNvSpPr>
          <p:nvPr/>
        </p:nvSpPr>
        <p:spPr>
          <a:xfrm>
            <a:off x="2606040" y="4203088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0">
                <a:solidFill>
                  <a:srgbClr val="546477"/>
                </a:solidFill>
              </a:defRPr>
            </a:pPr>
            <a:r>
              <a:rPr sz="1000" b="0">
                <a:solidFill>
                  <a:srgbClr val="546477"/>
                </a:solidFill>
              </a:rPr>
              <a:t>Flow/task state and retries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B4D8EE6-05D1-4420-92D3-2C8CA5D657EB}"/>
              </a:ext>
            </a:extLst>
          </p:cNvPr>
          <p:cNvSpPr>
            <a:spLocks noGrp="1"/>
          </p:cNvSpPr>
          <p:nvPr/>
        </p:nvSpPr>
        <p:spPr>
          <a:xfrm>
            <a:off x="5577840" y="4203088"/>
            <a:ext cx="5013122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1677B8"/>
                </a:solidFill>
              </a:defRPr>
            </a:pPr>
            <a:r>
              <a:rPr lang="en-IN" sz="1000" dirty="0">
                <a:solidFill>
                  <a:srgbClr val="1677B8"/>
                </a:solidFill>
              </a:rPr>
              <a:t>Can resume execution, but continuation may require renewed authorization</a:t>
            </a:r>
            <a:endParaRPr sz="1000" b="0" dirty="0">
              <a:solidFill>
                <a:srgbClr val="1677B8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0EE5B96-4373-480B-8A59-08F97ECE91A5}"/>
              </a:ext>
            </a:extLst>
          </p:cNvPr>
          <p:cNvSpPr>
            <a:spLocks noGrp="1"/>
          </p:cNvSpPr>
          <p:nvPr/>
        </p:nvSpPr>
        <p:spPr>
          <a:xfrm>
            <a:off x="365760" y="4678576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1">
                <a:solidFill>
                  <a:srgbClr val="1B2A4A"/>
                </a:solidFill>
              </a:defRPr>
            </a:pPr>
            <a:r>
              <a:t>OpenTelemetry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FA0A262-5462-4D0D-AC27-918529CBA8D1}"/>
              </a:ext>
            </a:extLst>
          </p:cNvPr>
          <p:cNvSpPr>
            <a:spLocks noGrp="1"/>
          </p:cNvSpPr>
          <p:nvPr/>
        </p:nvSpPr>
        <p:spPr>
          <a:xfrm>
            <a:off x="2606040" y="4678576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0">
                <a:solidFill>
                  <a:srgbClr val="546477"/>
                </a:solidFill>
              </a:defRPr>
            </a:pPr>
            <a:r>
              <a:rPr sz="1000" b="0">
                <a:solidFill>
                  <a:srgbClr val="546477"/>
                </a:solidFill>
              </a:rPr>
              <a:t>Traces, metrics, logs, baggage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2B440EC-86C9-424E-8685-9D1336277708}"/>
              </a:ext>
            </a:extLst>
          </p:cNvPr>
          <p:cNvSpPr>
            <a:spLocks noGrp="1"/>
          </p:cNvSpPr>
          <p:nvPr/>
        </p:nvSpPr>
        <p:spPr>
          <a:xfrm>
            <a:off x="5577839" y="4678576"/>
            <a:ext cx="5013121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1677B8"/>
                </a:solidFill>
              </a:defRPr>
            </a:pPr>
            <a:r>
              <a:rPr lang="en-IN" sz="1000" dirty="0">
                <a:solidFill>
                  <a:srgbClr val="1677B8"/>
                </a:solidFill>
              </a:rPr>
              <a:t>Observes what happened, but does not decide whether it is safe to continue</a:t>
            </a:r>
            <a:endParaRPr sz="1000" b="0" dirty="0">
              <a:solidFill>
                <a:srgbClr val="1677B8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1F535C9-DBAA-4633-9CFC-81D6505FCAF3}"/>
              </a:ext>
            </a:extLst>
          </p:cNvPr>
          <p:cNvSpPr>
            <a:spLocks noGrp="1"/>
          </p:cNvSpPr>
          <p:nvPr/>
        </p:nvSpPr>
        <p:spPr>
          <a:xfrm>
            <a:off x="365760" y="5154064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1">
                <a:solidFill>
                  <a:srgbClr val="1B2A4A"/>
                </a:solidFill>
              </a:defRPr>
            </a:pPr>
            <a:r>
              <a:t>Langfuse / Phoenix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594ADC0-7088-46C5-B701-C8A2255A278E}"/>
              </a:ext>
            </a:extLst>
          </p:cNvPr>
          <p:cNvSpPr>
            <a:spLocks noGrp="1"/>
          </p:cNvSpPr>
          <p:nvPr/>
        </p:nvSpPr>
        <p:spPr>
          <a:xfrm>
            <a:off x="2606040" y="5154064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0">
                <a:solidFill>
                  <a:srgbClr val="546477"/>
                </a:solidFill>
              </a:defRPr>
            </a:pPr>
            <a:r>
              <a:rPr sz="1000" b="0">
                <a:solidFill>
                  <a:srgbClr val="546477"/>
                </a:solidFill>
              </a:rPr>
              <a:t>LLM traces, evals, cost, latency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898C4E4-8155-4E54-8CFC-033AC90CD8E2}"/>
              </a:ext>
            </a:extLst>
          </p:cNvPr>
          <p:cNvSpPr>
            <a:spLocks noGrp="1"/>
          </p:cNvSpPr>
          <p:nvPr/>
        </p:nvSpPr>
        <p:spPr>
          <a:xfrm>
            <a:off x="5577840" y="5154064"/>
            <a:ext cx="5013120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1677B8"/>
                </a:solidFill>
              </a:defRPr>
            </a:pPr>
            <a:r>
              <a:rPr lang="en-IN" sz="1000" dirty="0">
                <a:solidFill>
                  <a:srgbClr val="1677B8"/>
                </a:solidFill>
              </a:rPr>
              <a:t>Provides observability, but does not maintain durable dependencies between evidence and consequential decisions</a:t>
            </a:r>
            <a:endParaRPr sz="1000" b="0" dirty="0">
              <a:solidFill>
                <a:srgbClr val="1677B8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E1B0433-F840-4787-B867-FED8B2CCFA72}"/>
              </a:ext>
            </a:extLst>
          </p:cNvPr>
          <p:cNvSpPr>
            <a:spLocks noGrp="1"/>
          </p:cNvSpPr>
          <p:nvPr/>
        </p:nvSpPr>
        <p:spPr>
          <a:xfrm>
            <a:off x="365760" y="5629552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1">
                <a:solidFill>
                  <a:srgbClr val="1B2A4A"/>
                </a:solidFill>
              </a:defRPr>
            </a:pPr>
            <a:r>
              <a:t>EGAH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2CB008E-A48F-4836-8CF3-88090F733AE6}"/>
              </a:ext>
            </a:extLst>
          </p:cNvPr>
          <p:cNvSpPr>
            <a:spLocks noGrp="1"/>
          </p:cNvSpPr>
          <p:nvPr/>
        </p:nvSpPr>
        <p:spPr>
          <a:xfrm>
            <a:off x="2606040" y="5629552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0">
                <a:solidFill>
                  <a:srgbClr val="546477"/>
                </a:solidFill>
              </a:defRPr>
            </a:pPr>
            <a:r>
              <a:rPr sz="1000" b="0">
                <a:solidFill>
                  <a:srgbClr val="546477"/>
                </a:solidFill>
              </a:rPr>
              <a:t>Composes above any runtime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3BA557C-A222-469E-B42A-31751D70A715}"/>
              </a:ext>
            </a:extLst>
          </p:cNvPr>
          <p:cNvSpPr>
            <a:spLocks noGrp="1"/>
          </p:cNvSpPr>
          <p:nvPr/>
        </p:nvSpPr>
        <p:spPr>
          <a:xfrm>
            <a:off x="5577840" y="5629552"/>
            <a:ext cx="5013120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l">
              <a:buNone/>
              <a:defRPr sz="1000" b="0">
                <a:solidFill>
                  <a:srgbClr val="1677B8"/>
                </a:solidFill>
              </a:defRPr>
            </a:pPr>
            <a:r>
              <a:rPr sz="1000" b="0">
                <a:solidFill>
                  <a:srgbClr val="1677B8"/>
                </a:solidFill>
              </a:rPr>
              <a:t>ACT · REFRESH · ASK · ABSTAIN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E57793-A81F-449F-A75D-D3853FCD640C}"/>
              </a:ext>
            </a:extLst>
          </p:cNvPr>
          <p:cNvSpPr>
            <a:spLocks noGrp="1"/>
          </p:cNvSpPr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6E7089-A838-4271-BBDD-11F2010F8323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4A24DCDE-AB93-E343-4280-CF353BD4C459}"/>
              </a:ext>
            </a:extLst>
          </p:cNvPr>
          <p:cNvSpPr>
            <a:spLocks noGrp="1"/>
          </p:cNvSpPr>
          <p:nvPr/>
        </p:nvSpPr>
        <p:spPr>
          <a:xfrm>
            <a:off x="365760" y="1044577"/>
            <a:ext cx="8046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Existing frameworks answer</a:t>
            </a:r>
          </a:p>
          <a:p>
            <a:r>
              <a:rPr lang="en-IN" sz="1200" b="1" dirty="0"/>
              <a:t>               Can the workflow resume?</a:t>
            </a:r>
          </a:p>
          <a:p>
            <a:endParaRPr lang="en-IN" sz="1200" dirty="0"/>
          </a:p>
          <a:p>
            <a:r>
              <a:rPr lang="en-IN" sz="1200" dirty="0"/>
              <a:t>EAGH additionally answers</a:t>
            </a:r>
          </a:p>
          <a:p>
            <a:r>
              <a:rPr lang="en-IN" sz="1200" b="1" dirty="0"/>
              <a:t>                 Should the workflow resume, based on evidence that is still valid, fresh, authorized and sufficient?</a:t>
            </a:r>
            <a:endParaRPr lang="en-IN" sz="1200" dirty="0"/>
          </a:p>
        </p:txBody>
      </p:sp>
      <p:sp>
        <p:nvSpPr>
          <p:cNvPr id="34" name="TextBox 4">
            <a:extLst>
              <a:ext uri="{FF2B5EF4-FFF2-40B4-BE49-F238E27FC236}">
                <a16:creationId xmlns:a16="http://schemas.microsoft.com/office/drawing/2014/main" id="{55347E5A-D563-BA6C-942A-2A70F9B4FC2A}"/>
              </a:ext>
            </a:extLst>
          </p:cNvPr>
          <p:cNvSpPr>
            <a:spLocks noGrp="1"/>
          </p:cNvSpPr>
          <p:nvPr/>
        </p:nvSpPr>
        <p:spPr>
          <a:xfrm>
            <a:off x="1155542" y="547988"/>
            <a:ext cx="555017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6EAF8"/>
                </a:solidFill>
              </a:defRPr>
            </a:pPr>
            <a:r>
              <a:rPr lang="en-IN" sz="1200" dirty="0">
                <a:solidFill>
                  <a:srgbClr val="D6EAF8"/>
                </a:solidFill>
              </a:rPr>
              <a:t>EAGH makes the </a:t>
            </a:r>
            <a:r>
              <a:rPr lang="en-IN" sz="1200" b="1" dirty="0">
                <a:solidFill>
                  <a:srgbClr val="D6EAF8"/>
                </a:solidFill>
              </a:rPr>
              <a:t>decision to continue itself evidence-governed and policy-controlled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647646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3B7928-3CE8-4E8F-A8E3-5F51608373C7}"/>
              </a:ext>
            </a:extLst>
          </p:cNvPr>
          <p:cNvSpPr>
            <a:spLocks noGrp="1"/>
          </p:cNvSpPr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E5F385-78BB-4ABC-9C3E-AD670CA69445}"/>
              </a:ext>
            </a:extLst>
          </p:cNvPr>
          <p:cNvSpPr>
            <a:spLocks noGrp="1"/>
          </p:cNvSpPr>
          <p:nvPr/>
        </p:nvSpPr>
        <p:spPr>
          <a:xfrm>
            <a:off x="73151" y="73152"/>
            <a:ext cx="12045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970CD-20C0-43BA-BC80-791110442B42}"/>
              </a:ext>
            </a:extLst>
          </p:cNvPr>
          <p:cNvSpPr>
            <a:spLocks noGrp="1"/>
          </p:cNvSpPr>
          <p:nvPr/>
        </p:nvSpPr>
        <p:spPr>
          <a:xfrm>
            <a:off x="548640" y="13716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lang="en-US" dirty="0"/>
              <a:t>Impact: Operations &amp; Risk Outcomes</a:t>
            </a:r>
            <a:endParaRPr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E57793-A81F-449F-A75D-D3853FCD640C}"/>
              </a:ext>
            </a:extLst>
          </p:cNvPr>
          <p:cNvSpPr>
            <a:spLocks noGrp="1"/>
          </p:cNvSpPr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6E7089-A838-4271-BBDD-11F2010F8323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0C9D17C6-62AD-AADA-769A-C52EBE78224D}"/>
              </a:ext>
            </a:extLst>
          </p:cNvPr>
          <p:cNvSpPr>
            <a:spLocks noGrp="1"/>
          </p:cNvSpPr>
          <p:nvPr/>
        </p:nvSpPr>
        <p:spPr>
          <a:xfrm>
            <a:off x="1155542" y="547988"/>
            <a:ext cx="29785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1100">
                <a:solidFill>
                  <a:srgbClr val="D6EAF8"/>
                </a:solidFill>
              </a:defRPr>
            </a:pPr>
            <a:r>
              <a:rPr lang="en-US" sz="1200" dirty="0"/>
              <a:t>State-only vs EAGH enabled operating model</a:t>
            </a:r>
            <a:endParaRPr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C349E9-3075-27FA-828B-41A177786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56" y="1005840"/>
            <a:ext cx="11959358" cy="527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646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3B7928-3CE8-4E8F-A8E3-5F51608373C7}"/>
              </a:ext>
            </a:extLst>
          </p:cNvPr>
          <p:cNvSpPr>
            <a:spLocks noGrp="1"/>
          </p:cNvSpPr>
          <p:nvPr/>
        </p:nvSpPr>
        <p:spPr>
          <a:xfrm>
            <a:off x="73152" y="73152"/>
            <a:ext cx="12045696" cy="6711696"/>
          </a:xfrm>
          <a:prstGeom prst="rect">
            <a:avLst/>
          </a:prstGeom>
          <a:noFill/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E5F385-78BB-4ABC-9C3E-AD670CA69445}"/>
              </a:ext>
            </a:extLst>
          </p:cNvPr>
          <p:cNvSpPr>
            <a:spLocks noGrp="1"/>
          </p:cNvSpPr>
          <p:nvPr/>
        </p:nvSpPr>
        <p:spPr>
          <a:xfrm>
            <a:off x="73151" y="73152"/>
            <a:ext cx="12045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970CD-20C0-43BA-BC80-791110442B42}"/>
              </a:ext>
            </a:extLst>
          </p:cNvPr>
          <p:cNvSpPr>
            <a:spLocks noGrp="1"/>
          </p:cNvSpPr>
          <p:nvPr/>
        </p:nvSpPr>
        <p:spPr>
          <a:xfrm>
            <a:off x="457200" y="149105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IN" sz="2400" b="1" dirty="0">
                <a:solidFill>
                  <a:srgbClr val="FFFFFF"/>
                </a:solidFill>
              </a:rPr>
              <a:t>Learnings &amp; Limitations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A1C39B-D08A-47ED-B8BC-86858DDC0270}"/>
              </a:ext>
            </a:extLst>
          </p:cNvPr>
          <p:cNvSpPr>
            <a:spLocks noGrp="1"/>
          </p:cNvSpPr>
          <p:nvPr/>
        </p:nvSpPr>
        <p:spPr>
          <a:xfrm>
            <a:off x="365760" y="1488841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100" b="1">
                <a:solidFill>
                  <a:srgbClr val="FFFFFF"/>
                </a:solidFill>
              </a:defRPr>
            </a:pPr>
            <a:r>
              <a:rPr dirty="0"/>
              <a:t>Learning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1572CF-23E8-44A6-8BBD-85914DD15D84}"/>
              </a:ext>
            </a:extLst>
          </p:cNvPr>
          <p:cNvSpPr>
            <a:spLocks noGrp="1"/>
          </p:cNvSpPr>
          <p:nvPr/>
        </p:nvSpPr>
        <p:spPr>
          <a:xfrm>
            <a:off x="2606040" y="1488841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100" b="1">
                <a:solidFill>
                  <a:srgbClr val="FFFFFF"/>
                </a:solidFill>
              </a:defRPr>
            </a:pPr>
            <a:r>
              <a:t>What the PoC exposed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317C0E-3883-49EA-A890-6C0C1843C392}"/>
              </a:ext>
            </a:extLst>
          </p:cNvPr>
          <p:cNvSpPr>
            <a:spLocks noGrp="1"/>
          </p:cNvSpPr>
          <p:nvPr/>
        </p:nvSpPr>
        <p:spPr>
          <a:xfrm>
            <a:off x="5577840" y="1488841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100" b="1">
                <a:solidFill>
                  <a:srgbClr val="FFFFFF"/>
                </a:solidFill>
              </a:defRPr>
            </a:pPr>
            <a:r>
              <a:t>Next engineering step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447820A-A02A-47BB-A1B5-4D374A704A55}"/>
              </a:ext>
            </a:extLst>
          </p:cNvPr>
          <p:cNvSpPr>
            <a:spLocks noGrp="1"/>
          </p:cNvSpPr>
          <p:nvPr/>
        </p:nvSpPr>
        <p:spPr>
          <a:xfrm>
            <a:off x="365760" y="1964329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1">
                <a:solidFill>
                  <a:srgbClr val="1B2A4A"/>
                </a:solidFill>
              </a:defRPr>
            </a:pPr>
            <a:r>
              <a:rPr lang="en-IN" sz="1000" b="1" dirty="0">
                <a:solidFill>
                  <a:srgbClr val="1B2A4A"/>
                </a:solidFill>
              </a:rPr>
              <a:t>Evidence Freshness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370A1B5-A14A-4033-B673-972B22B1D2EA}"/>
              </a:ext>
            </a:extLst>
          </p:cNvPr>
          <p:cNvSpPr>
            <a:spLocks noGrp="1"/>
          </p:cNvSpPr>
          <p:nvPr/>
        </p:nvSpPr>
        <p:spPr>
          <a:xfrm>
            <a:off x="2606040" y="1964329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546477"/>
                </a:solidFill>
              </a:defRPr>
            </a:pPr>
            <a:r>
              <a:rPr lang="en-IN" sz="1000" dirty="0">
                <a:solidFill>
                  <a:srgbClr val="546477"/>
                </a:solidFill>
              </a:rPr>
              <a:t>TTL alone cannot determine validity</a:t>
            </a:r>
            <a:endParaRPr sz="1000" b="0" dirty="0">
              <a:solidFill>
                <a:srgbClr val="546477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32F78F-CD20-4AA1-80FE-276206C39FD2}"/>
              </a:ext>
            </a:extLst>
          </p:cNvPr>
          <p:cNvSpPr>
            <a:spLocks noGrp="1"/>
          </p:cNvSpPr>
          <p:nvPr/>
        </p:nvSpPr>
        <p:spPr>
          <a:xfrm>
            <a:off x="5577840" y="1964329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1677B8"/>
                </a:solidFill>
              </a:defRPr>
            </a:pPr>
            <a:r>
              <a:rPr lang="en-IN" sz="1000" dirty="0">
                <a:solidFill>
                  <a:srgbClr val="1677B8"/>
                </a:solidFill>
              </a:rPr>
              <a:t>Support events, versions and authorization checks</a:t>
            </a:r>
            <a:endParaRPr sz="1000" b="0" dirty="0">
              <a:solidFill>
                <a:srgbClr val="1677B8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8FA0A38-5D1C-4727-9B53-3BE4BF180699}"/>
              </a:ext>
            </a:extLst>
          </p:cNvPr>
          <p:cNvSpPr>
            <a:spLocks noGrp="1"/>
          </p:cNvSpPr>
          <p:nvPr/>
        </p:nvSpPr>
        <p:spPr>
          <a:xfrm>
            <a:off x="365760" y="2439817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1">
                <a:solidFill>
                  <a:srgbClr val="1B2A4A"/>
                </a:solidFill>
              </a:defRPr>
            </a:pPr>
            <a:r>
              <a:rPr lang="en-IN" sz="1000" b="1" dirty="0">
                <a:solidFill>
                  <a:srgbClr val="1B2A4A"/>
                </a:solidFill>
              </a:rPr>
              <a:t>Selective Checkpointing</a:t>
            </a:r>
            <a:endParaRPr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AABA01B-6A7A-441D-BFE0-CA6B4A02858E}"/>
              </a:ext>
            </a:extLst>
          </p:cNvPr>
          <p:cNvSpPr>
            <a:spLocks noGrp="1"/>
          </p:cNvSpPr>
          <p:nvPr/>
        </p:nvSpPr>
        <p:spPr>
          <a:xfrm>
            <a:off x="2606040" y="2439817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546477"/>
                </a:solidFill>
              </a:defRPr>
            </a:pPr>
            <a:r>
              <a:rPr lang="en-IN" sz="1000" dirty="0">
                <a:solidFill>
                  <a:srgbClr val="546477"/>
                </a:solidFill>
              </a:rPr>
              <a:t>Checkpointing every step is wasteful</a:t>
            </a:r>
            <a:endParaRPr sz="1000" b="0" dirty="0">
              <a:solidFill>
                <a:srgbClr val="546477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73CCFAE-D289-44A5-8661-7AAFA3B56BDE}"/>
              </a:ext>
            </a:extLst>
          </p:cNvPr>
          <p:cNvSpPr>
            <a:spLocks noGrp="1"/>
          </p:cNvSpPr>
          <p:nvPr/>
        </p:nvSpPr>
        <p:spPr>
          <a:xfrm>
            <a:off x="5577840" y="2439817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1677B8"/>
                </a:solidFill>
              </a:defRPr>
            </a:pPr>
            <a:r>
              <a:rPr lang="en-IN" sz="1000" dirty="0">
                <a:solidFill>
                  <a:srgbClr val="1677B8"/>
                </a:solidFill>
              </a:rPr>
              <a:t>Place at consequential decision boundaries</a:t>
            </a:r>
            <a:endParaRPr sz="1000" b="0" dirty="0">
              <a:solidFill>
                <a:srgbClr val="1677B8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B50F723-3306-46A1-A8D4-837605C30F63}"/>
              </a:ext>
            </a:extLst>
          </p:cNvPr>
          <p:cNvSpPr>
            <a:spLocks noGrp="1"/>
          </p:cNvSpPr>
          <p:nvPr/>
        </p:nvSpPr>
        <p:spPr>
          <a:xfrm>
            <a:off x="365760" y="2915305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1">
                <a:solidFill>
                  <a:srgbClr val="1B2A4A"/>
                </a:solidFill>
              </a:defRPr>
            </a:pPr>
            <a:r>
              <a:rPr lang="en-IN" sz="1000" b="1" dirty="0">
                <a:solidFill>
                  <a:srgbClr val="1B2A4A"/>
                </a:solidFill>
              </a:rPr>
              <a:t>Dependency Awareness</a:t>
            </a:r>
            <a:endParaRPr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A311E43-85C2-4DD4-83D6-F51BEB136D13}"/>
              </a:ext>
            </a:extLst>
          </p:cNvPr>
          <p:cNvSpPr>
            <a:spLocks noGrp="1"/>
          </p:cNvSpPr>
          <p:nvPr/>
        </p:nvSpPr>
        <p:spPr>
          <a:xfrm>
            <a:off x="2606040" y="2915305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546477"/>
                </a:solidFill>
              </a:defRPr>
            </a:pPr>
            <a:r>
              <a:rPr lang="en-IN" sz="1000" dirty="0">
                <a:solidFill>
                  <a:srgbClr val="546477"/>
                </a:solidFill>
              </a:rPr>
              <a:t>Stale inputs invalidate downstream decisions</a:t>
            </a:r>
            <a:endParaRPr sz="1000" b="0" dirty="0">
              <a:solidFill>
                <a:srgbClr val="546477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8784F7B-7213-4F60-A096-C22AD97A507D}"/>
              </a:ext>
            </a:extLst>
          </p:cNvPr>
          <p:cNvSpPr>
            <a:spLocks noGrp="1"/>
          </p:cNvSpPr>
          <p:nvPr/>
        </p:nvSpPr>
        <p:spPr>
          <a:xfrm>
            <a:off x="5577840" y="2915305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1677B8"/>
                </a:solidFill>
              </a:defRPr>
            </a:pPr>
            <a:r>
              <a:rPr lang="en-IN" sz="1000" dirty="0">
                <a:solidFill>
                  <a:srgbClr val="1677B8"/>
                </a:solidFill>
              </a:rPr>
              <a:t>Maintain evidence dependency relationships</a:t>
            </a:r>
            <a:endParaRPr sz="1000" b="0" dirty="0">
              <a:solidFill>
                <a:srgbClr val="1677B8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E57793-A81F-449F-A75D-D3853FCD640C}"/>
              </a:ext>
            </a:extLst>
          </p:cNvPr>
          <p:cNvSpPr>
            <a:spLocks noGrp="1"/>
          </p:cNvSpPr>
          <p:nvPr/>
        </p:nvSpPr>
        <p:spPr>
          <a:xfrm>
            <a:off x="365760" y="6355080"/>
            <a:ext cx="8412480" cy="15240"/>
          </a:xfrm>
          <a:prstGeom prst="rect">
            <a:avLst/>
          </a:prstGeom>
          <a:solidFill>
            <a:srgbClr val="D5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6E7089-A838-4271-BBDD-11F2010F8323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  <a:defRPr sz="800">
                <a:solidFill>
                  <a:srgbClr val="7F8C8D"/>
                </a:solidFill>
              </a:defRPr>
            </a:pPr>
            <a:r>
              <a:t>Evidence-Governed Agent Harnesses  |  Fifth Elephant Hyderabad  |  2026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5654418-7973-B6D2-E3FF-0FC20895F6FE}"/>
              </a:ext>
            </a:extLst>
          </p:cNvPr>
          <p:cNvSpPr>
            <a:spLocks noGrp="1"/>
          </p:cNvSpPr>
          <p:nvPr/>
        </p:nvSpPr>
        <p:spPr>
          <a:xfrm>
            <a:off x="365760" y="4075176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100" b="1">
                <a:solidFill>
                  <a:srgbClr val="FFFFFF"/>
                </a:solidFill>
              </a:defRPr>
            </a:pPr>
            <a:r>
              <a:rPr lang="en-US" dirty="0"/>
              <a:t>Limitations</a:t>
            </a:r>
            <a:endParaRPr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ACFE0B8-C128-5F12-FF03-A3F33F0D8AF6}"/>
              </a:ext>
            </a:extLst>
          </p:cNvPr>
          <p:cNvSpPr>
            <a:spLocks noGrp="1"/>
          </p:cNvSpPr>
          <p:nvPr/>
        </p:nvSpPr>
        <p:spPr>
          <a:xfrm>
            <a:off x="2606040" y="4075176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100" b="1">
                <a:solidFill>
                  <a:srgbClr val="FFFFFF"/>
                </a:solidFill>
              </a:defRPr>
            </a:pPr>
            <a:r>
              <a:t>What the PoC exposed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D626B5E-FFB8-F223-8811-F1D438EDD44C}"/>
              </a:ext>
            </a:extLst>
          </p:cNvPr>
          <p:cNvSpPr>
            <a:spLocks noGrp="1"/>
          </p:cNvSpPr>
          <p:nvPr/>
        </p:nvSpPr>
        <p:spPr>
          <a:xfrm>
            <a:off x="5577840" y="4075176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016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 algn="ctr">
              <a:buNone/>
              <a:defRPr sz="1100" b="1">
                <a:solidFill>
                  <a:srgbClr val="FFFFFF"/>
                </a:solidFill>
              </a:defRPr>
            </a:pPr>
            <a:r>
              <a:t>Next engineering step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1D6CE73-E73D-8E9A-6C40-12E6235EC7E8}"/>
              </a:ext>
            </a:extLst>
          </p:cNvPr>
          <p:cNvSpPr>
            <a:spLocks noGrp="1"/>
          </p:cNvSpPr>
          <p:nvPr/>
        </p:nvSpPr>
        <p:spPr>
          <a:xfrm>
            <a:off x="365760" y="4550664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1">
                <a:solidFill>
                  <a:srgbClr val="1B2A4A"/>
                </a:solidFill>
              </a:defRPr>
            </a:pPr>
            <a:r>
              <a:rPr lang="en-IN" sz="1000" b="1" dirty="0">
                <a:solidFill>
                  <a:srgbClr val="1B2A4A"/>
                </a:solidFill>
              </a:rPr>
              <a:t>Live Staleness Detection</a:t>
            </a:r>
            <a:endParaRPr dirty="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5B0EA3C-BF5A-7E91-90E6-7A6B10C7ED9C}"/>
              </a:ext>
            </a:extLst>
          </p:cNvPr>
          <p:cNvSpPr>
            <a:spLocks noGrp="1"/>
          </p:cNvSpPr>
          <p:nvPr/>
        </p:nvSpPr>
        <p:spPr>
          <a:xfrm>
            <a:off x="2606040" y="4550664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546477"/>
                </a:solidFill>
              </a:defRPr>
            </a:pPr>
            <a:r>
              <a:rPr lang="en-IN" sz="1000" dirty="0">
                <a:solidFill>
                  <a:srgbClr val="546477"/>
                </a:solidFill>
              </a:rPr>
              <a:t>Aging simulated by workflow position</a:t>
            </a:r>
            <a:endParaRPr sz="1000" b="0" dirty="0">
              <a:solidFill>
                <a:srgbClr val="546477"/>
              </a:solidFill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95A0930-2FC4-3F35-BEF9-0400071F2F20}"/>
              </a:ext>
            </a:extLst>
          </p:cNvPr>
          <p:cNvSpPr>
            <a:spLocks noGrp="1"/>
          </p:cNvSpPr>
          <p:nvPr/>
        </p:nvSpPr>
        <p:spPr>
          <a:xfrm>
            <a:off x="5577840" y="4550664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1677B8"/>
                </a:solidFill>
              </a:defRPr>
            </a:pPr>
            <a:r>
              <a:rPr lang="en-IN" sz="1000" dirty="0">
                <a:solidFill>
                  <a:srgbClr val="1677B8"/>
                </a:solidFill>
              </a:rPr>
              <a:t>No real-time invalidation from providers</a:t>
            </a:r>
            <a:endParaRPr sz="1000" b="0" dirty="0">
              <a:solidFill>
                <a:srgbClr val="1677B8"/>
              </a:solidFill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0CAFD69-C214-D7C6-8F28-466F9B13025C}"/>
              </a:ext>
            </a:extLst>
          </p:cNvPr>
          <p:cNvSpPr>
            <a:spLocks noGrp="1"/>
          </p:cNvSpPr>
          <p:nvPr/>
        </p:nvSpPr>
        <p:spPr>
          <a:xfrm>
            <a:off x="365760" y="5026152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1">
                <a:solidFill>
                  <a:srgbClr val="1B2A4A"/>
                </a:solidFill>
              </a:defRPr>
            </a:pPr>
            <a:r>
              <a:rPr lang="en-IN" sz="1000" b="1" dirty="0">
                <a:solidFill>
                  <a:srgbClr val="1B2A4A"/>
                </a:solidFill>
              </a:rPr>
              <a:t>Performance</a:t>
            </a:r>
            <a:endParaRPr dirty="0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95E800E-E33D-41A1-15CD-02E8E40BA51F}"/>
              </a:ext>
            </a:extLst>
          </p:cNvPr>
          <p:cNvSpPr>
            <a:spLocks noGrp="1"/>
          </p:cNvSpPr>
          <p:nvPr/>
        </p:nvSpPr>
        <p:spPr>
          <a:xfrm>
            <a:off x="2606040" y="5026152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546477"/>
                </a:solidFill>
              </a:defRPr>
            </a:pPr>
            <a:r>
              <a:rPr lang="en-IN" sz="1000" dirty="0">
                <a:solidFill>
                  <a:srgbClr val="546477"/>
                </a:solidFill>
              </a:rPr>
              <a:t>~28% median latency overhead</a:t>
            </a:r>
            <a:endParaRPr sz="1000" b="0" dirty="0">
              <a:solidFill>
                <a:srgbClr val="546477"/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3CF09AC-2ADE-01D0-207A-EB54D67074E9}"/>
              </a:ext>
            </a:extLst>
          </p:cNvPr>
          <p:cNvSpPr>
            <a:spLocks noGrp="1"/>
          </p:cNvSpPr>
          <p:nvPr/>
        </p:nvSpPr>
        <p:spPr>
          <a:xfrm>
            <a:off x="5577840" y="5026152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1677B8"/>
                </a:solidFill>
              </a:defRPr>
            </a:pPr>
            <a:r>
              <a:rPr lang="en-IN" sz="1000" dirty="0">
                <a:solidFill>
                  <a:srgbClr val="1677B8"/>
                </a:solidFill>
              </a:rPr>
              <a:t>Checkpointing must remain selective</a:t>
            </a:r>
            <a:endParaRPr sz="1000" b="0" dirty="0">
              <a:solidFill>
                <a:srgbClr val="1677B8"/>
              </a:solidFill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76B6453-237D-BCF5-6A68-B0EA1BFA1BB0}"/>
              </a:ext>
            </a:extLst>
          </p:cNvPr>
          <p:cNvSpPr>
            <a:spLocks noGrp="1"/>
          </p:cNvSpPr>
          <p:nvPr/>
        </p:nvSpPr>
        <p:spPr>
          <a:xfrm>
            <a:off x="365760" y="5501640"/>
            <a:ext cx="2194560" cy="43891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016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1">
                <a:solidFill>
                  <a:srgbClr val="1B2A4A"/>
                </a:solidFill>
              </a:defRPr>
            </a:pPr>
            <a:r>
              <a:rPr lang="en-IN" sz="1000" b="1" dirty="0">
                <a:solidFill>
                  <a:srgbClr val="1B2A4A"/>
                </a:solidFill>
              </a:rPr>
              <a:t>Scope Fit</a:t>
            </a:r>
            <a:endParaRPr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2709D1C-D7BD-CC6D-6E07-C021A854CAFD}"/>
              </a:ext>
            </a:extLst>
          </p:cNvPr>
          <p:cNvSpPr>
            <a:spLocks noGrp="1"/>
          </p:cNvSpPr>
          <p:nvPr/>
        </p:nvSpPr>
        <p:spPr>
          <a:xfrm>
            <a:off x="2606040" y="5501640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AD3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546477"/>
                </a:solidFill>
              </a:defRPr>
            </a:pPr>
            <a:r>
              <a:rPr lang="en-IN" sz="1000" dirty="0">
                <a:solidFill>
                  <a:srgbClr val="546477"/>
                </a:solidFill>
              </a:rPr>
              <a:t>Best for deterministic/predictable risky work-flows</a:t>
            </a:r>
            <a:endParaRPr sz="1000" b="0" dirty="0">
              <a:solidFill>
                <a:srgbClr val="546477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79160E0-4B31-4267-9D80-6DCA9A708BAD}"/>
              </a:ext>
            </a:extLst>
          </p:cNvPr>
          <p:cNvSpPr>
            <a:spLocks noGrp="1"/>
          </p:cNvSpPr>
          <p:nvPr/>
        </p:nvSpPr>
        <p:spPr>
          <a:xfrm>
            <a:off x="5577840" y="5501640"/>
            <a:ext cx="3200400" cy="438912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9525">
            <a:solidFill>
              <a:srgbClr val="8AB8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anchor="ctr"/>
          <a:lstStyle/>
          <a:p>
            <a:pPr>
              <a:defRPr sz="1000" b="0">
                <a:solidFill>
                  <a:srgbClr val="1677B8"/>
                </a:solidFill>
              </a:defRPr>
            </a:pPr>
            <a:r>
              <a:rPr lang="en-IN" sz="1000" dirty="0">
                <a:solidFill>
                  <a:srgbClr val="1677B8"/>
                </a:solidFill>
              </a:rPr>
              <a:t>Low-risk workflows may not justify EAGH overhead</a:t>
            </a:r>
            <a:endParaRPr sz="1000" b="0" dirty="0">
              <a:solidFill>
                <a:srgbClr val="1677B8"/>
              </a:solidFill>
            </a:endParaRPr>
          </a:p>
        </p:txBody>
      </p:sp>
      <p:sp>
        <p:nvSpPr>
          <p:cNvPr id="43" name="TextBox 4">
            <a:extLst>
              <a:ext uri="{FF2B5EF4-FFF2-40B4-BE49-F238E27FC236}">
                <a16:creationId xmlns:a16="http://schemas.microsoft.com/office/drawing/2014/main" id="{FE62D6E6-F0BF-F341-BEA2-8649FA7B471F}"/>
              </a:ext>
            </a:extLst>
          </p:cNvPr>
          <p:cNvSpPr>
            <a:spLocks noGrp="1"/>
          </p:cNvSpPr>
          <p:nvPr/>
        </p:nvSpPr>
        <p:spPr>
          <a:xfrm>
            <a:off x="1245977" y="567705"/>
            <a:ext cx="45318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6EAF8"/>
                </a:solidFill>
              </a:defRPr>
            </a:pPr>
            <a:r>
              <a:rPr lang="en-IN" sz="1200" dirty="0">
                <a:solidFill>
                  <a:srgbClr val="D6EAF8"/>
                </a:solidFill>
              </a:rPr>
              <a:t>Key insights gained, current limitations, and areas for future evolution</a:t>
            </a:r>
            <a:endParaRPr sz="12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DB94D59-92A4-1A33-4B83-6B27C645D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990" y="2915305"/>
            <a:ext cx="30353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646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1490</Words>
  <Application>Microsoft Macintosh PowerPoint</Application>
  <DocSecurity>0</DocSecurity>
  <PresentationFormat>Widescreen</PresentationFormat>
  <Paragraphs>202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Shaik, Khaja {PEP}</cp:lastModifiedBy>
  <cp:revision>1</cp:revision>
  <dcterms:created xsi:type="dcterms:W3CDTF">2026-08-29T11:10:16Z</dcterms:created>
  <dcterms:modified xsi:type="dcterms:W3CDTF">2026-09-01T04:18:58Z</dcterms:modified>
</cp:coreProperties>
</file>