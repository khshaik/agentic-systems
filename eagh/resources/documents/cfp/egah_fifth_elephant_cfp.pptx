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connect directly to the CFP's step-40-of-60 framing. State the central proposition: execution state alone is insufficient for long-running consequential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gap: conventional checkpoints can restore computational state, but may not preserve why the next action is safe or still justified.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EGAH distinction from the source: traditional recovery restores execution state; evidence-governed recovery also restores evidence state and verification continuity.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source calls this an Evidence-Enhanced Execution Graph: Plan → Evidence Checkpoint → Tool → Verification → Evidence Update →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source's evidence-envelope concepts. Stress that evidence is represented as a runtime object with provenance, timing, verification and applicability semantics.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state categories. This is where the talk should feel like production engineering, not abstract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source's three classes: within-boundary, boundary-near, beyond-boundary. The point is task-specific evidence, not universal model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resource-outcome accounting from the source. Consumption is measured, but decisions are grounded in verified outcome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is not maximum governance. Verification should be proportionate to consequence, uncertainty, and the cost of being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four technical evaluation dimensions in the source: checkpoint overhead, recovery correctness, capability-boundary enforcement, ROI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practitioner takeaways. Keep each one concrete and relate it back to the step-40-of-60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credibility slide: the source describes implementation and production validation as subsequent phases. Be explicit about that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evidence as another engineering primitive in the production stack. It does not replace the harness, observability, or recovery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central thesis. Invite questions around what evidence should become first-class state in the audience's own agent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92D46"/>
                </a:solidFill>
                <a:latin typeface="Aptos Display"/>
              </a:defRPr>
            </a:pPr>
            <a:r>
              <a:t>Evidence-Governed</a:t>
            </a:r>
            <a:br/>
            <a:r>
              <a:t>Agent Harnesses</a:t>
            </a:r>
          </a:p>
          <a:p>
            <a:pPr>
              <a:spcBef>
                <a:spcPts val="1200"/>
              </a:spcBef>
              <a:defRPr sz="2200">
                <a:solidFill>
                  <a:srgbClr val="465564"/>
                </a:solidFill>
                <a:latin typeface="Aptos"/>
              </a:defRPr>
            </a:pPr>
            <a:r>
              <a:t>Making Evidence Survive Long-Running Agent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886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3746"/>
                </a:solidFill>
                <a:latin typeface="Aptos"/>
              </a:defRPr>
            </a:pPr>
            <a:r>
              <a:t>What should an agent remember after a crash at step 40 of 60?</a:t>
            </a:r>
            <a:br/>
            <a:r>
              <a:t>Not just its state—but what it verified, what it accomplished, and what it is still allowed to 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  <a:latin typeface="Aptos"/>
              </a:defRPr>
            </a:pPr>
            <a:r>
              <a:t>Evidence-Governed Agent Harnesses  |  Fifth Elephant Hyderabad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6"/>
                </a:solidFill>
                <a:latin typeface="Aptos Display"/>
              </a:defRPr>
            </a:pPr>
            <a:r>
              <a:t>The production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F6E"/>
                </a:solidFill>
                <a:latin typeface="Aptos"/>
              </a:defRPr>
            </a:pPr>
            <a:r>
              <a:t>Execution state is not the same as evidence state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57400" cy="914400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3241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1828800"/>
            <a:ext cx="2057400" cy="914400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3241"/>
                </a:solidFill>
                <a:latin typeface="Aptos"/>
              </a:defRPr>
            </a:pPr>
            <a:r>
              <a:t>Tool 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828800"/>
            <a:ext cx="2057400" cy="914400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3241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828800"/>
            <a:ext cx="2057400" cy="914400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3241"/>
                </a:solidFill>
                <a:latin typeface="Aptos"/>
              </a:defRPr>
            </a:pPr>
            <a:r>
              <a:t>Next Step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88920" y="2286000"/>
            <a:ext cx="274319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2286000"/>
            <a:ext cx="274319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52360" y="2286000"/>
            <a:ext cx="274320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88920" y="3657600"/>
            <a:ext cx="5486400" cy="960120"/>
          </a:xfrm>
          <a:prstGeom prst="roundRect">
            <a:avLst/>
          </a:prstGeom>
          <a:solidFill>
            <a:srgbClr val="FFEED2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33241"/>
                </a:solidFill>
                <a:latin typeface="Aptos"/>
              </a:defRPr>
            </a:pPr>
            <a:r>
              <a:t>Crash at Step 40 of 60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20640"/>
            <a:ext cx="2834640" cy="731520"/>
          </a:xfrm>
          <a:prstGeom prst="roundRect">
            <a:avLst/>
          </a:prstGeom>
          <a:solidFill>
            <a:srgbClr val="E8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241"/>
                </a:solidFill>
                <a:latin typeface="Aptos"/>
              </a:defRPr>
            </a:pPr>
            <a:r>
              <a:t>What was verified?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5120640"/>
            <a:ext cx="2834640" cy="731520"/>
          </a:xfrm>
          <a:prstGeom prst="roundRect">
            <a:avLst/>
          </a:prstGeom>
          <a:solidFill>
            <a:srgbClr val="E8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241"/>
                </a:solidFill>
                <a:latin typeface="Aptos"/>
              </a:defRPr>
            </a:pPr>
            <a:r>
              <a:t>What is still valid?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5120640"/>
            <a:ext cx="2834640" cy="731520"/>
          </a:xfrm>
          <a:prstGeom prst="roundRect">
            <a:avLst/>
          </a:prstGeom>
          <a:solidFill>
            <a:srgbClr val="E8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241"/>
                </a:solidFill>
                <a:latin typeface="Aptos"/>
              </a:defRPr>
            </a:pPr>
            <a:r>
              <a:t>What is still authorized?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  <a:latin typeface="Aptos"/>
              </a:defRPr>
            </a:pPr>
            <a:r>
              <a:t>Evidence-Governed Agent Harnesses  |  Fifth Elephant Hyderabad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6"/>
                </a:solidFill>
                <a:latin typeface="Aptos Display"/>
              </a:defRPr>
            </a:pPr>
            <a:r>
              <a:t>From state recovery to evidence-governed recovery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2194560" cy="914400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3241"/>
                </a:solidFill>
                <a:latin typeface="Aptos"/>
              </a:defRPr>
            </a:pPr>
            <a:r>
              <a:t>Execution State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194560" cy="914400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3241"/>
                </a:solidFill>
                <a:latin typeface="Aptos"/>
              </a:defRPr>
            </a:pPr>
            <a:r>
              <a:t>Checkpoint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45920"/>
            <a:ext cx="2194560" cy="914400"/>
          </a:xfrm>
          <a:prstGeom prst="roundRect">
            <a:avLst/>
          </a:prstGeom>
          <a:solidFill>
            <a:srgbClr val="FFEED2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3241"/>
                </a:solidFill>
                <a:latin typeface="Aptos"/>
              </a:defRPr>
            </a:pPr>
            <a:r>
              <a:t>Crash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645920"/>
            <a:ext cx="2194560" cy="914400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3241"/>
                </a:solidFill>
                <a:latin typeface="Aptos"/>
              </a:defRPr>
            </a:pPr>
            <a:r>
              <a:t>Resume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80360" y="2103120"/>
            <a:ext cx="594360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0" y="2103120"/>
            <a:ext cx="594360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58200" y="2103120"/>
            <a:ext cx="594360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" y="3246120"/>
            <a:ext cx="2194560" cy="914400"/>
          </a:xfrm>
          <a:prstGeom prst="roundRect">
            <a:avLst/>
          </a:prstGeom>
          <a:solidFill>
            <a:srgbClr val="E1FF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3241"/>
                </a:solidFill>
                <a:latin typeface="Aptos"/>
              </a:defRPr>
            </a:pPr>
            <a:r>
              <a:t>Evidence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3246120"/>
            <a:ext cx="2194560" cy="914400"/>
          </a:xfrm>
          <a:prstGeom prst="roundRect">
            <a:avLst/>
          </a:prstGeom>
          <a:solidFill>
            <a:srgbClr val="E1FF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241"/>
                </a:solidFill>
                <a:latin typeface="Aptos"/>
              </a:defRPr>
            </a:pPr>
            <a:r>
              <a:t>Verification</a:t>
            </a:r>
            <a:br/>
            <a:r>
              <a:t>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246120"/>
            <a:ext cx="2194560" cy="914400"/>
          </a:xfrm>
          <a:prstGeom prst="roundRect">
            <a:avLst/>
          </a:prstGeom>
          <a:solidFill>
            <a:srgbClr val="E1FF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241"/>
                </a:solidFill>
                <a:latin typeface="Aptos"/>
              </a:defRPr>
            </a:pPr>
            <a:r>
              <a:t>Outcome /</a:t>
            </a:r>
            <a:br/>
            <a:r>
              <a:t>Authorization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3246120"/>
            <a:ext cx="2194560" cy="914400"/>
          </a:xfrm>
          <a:prstGeom prst="roundRect">
            <a:avLst/>
          </a:prstGeom>
          <a:solidFill>
            <a:srgbClr val="E1FF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241"/>
                </a:solidFill>
                <a:latin typeface="Aptos"/>
              </a:defRPr>
            </a:pPr>
            <a:r>
              <a:t>Evidence-aware</a:t>
            </a:r>
            <a:br/>
            <a:r>
              <a:t>Resume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80360" y="3703320"/>
            <a:ext cx="594360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669280" y="3703320"/>
            <a:ext cx="594360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58200" y="3703320"/>
            <a:ext cx="594360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148840" y="4892040"/>
            <a:ext cx="7909560" cy="822960"/>
          </a:xfrm>
          <a:prstGeom prst="roundRect">
            <a:avLst/>
          </a:prstGeom>
          <a:solidFill>
            <a:srgbClr val="F0E6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33241"/>
                </a:solidFill>
                <a:latin typeface="Aptos"/>
              </a:defRPr>
            </a:pPr>
            <a:r>
              <a:t>Recovery = execution continuity + evidentiary continuity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  <a:latin typeface="Aptos"/>
              </a:defRPr>
            </a:pPr>
            <a:r>
              <a:t>Evidence-Governed Agent Harnesses  |  Fifth Elephant Hyderabad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6"/>
                </a:solidFill>
                <a:latin typeface="Aptos Display"/>
              </a:defRPr>
            </a:pPr>
            <a:r>
              <a:t>The core execution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F6E"/>
                </a:solidFill>
                <a:latin typeface="Aptos"/>
              </a:defRPr>
            </a:pPr>
            <a:r>
              <a:t>Evidence becomes part of the graph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103120"/>
            <a:ext cx="1572768" cy="1051560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3241"/>
                </a:solidFill>
                <a:latin typeface="Aptos"/>
              </a:defRPr>
            </a:pPr>
            <a:r>
              <a:t>Plan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84248" y="2624328"/>
            <a:ext cx="274320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50008" y="2103120"/>
            <a:ext cx="1572768" cy="1051560"/>
          </a:xfrm>
          <a:prstGeom prst="roundRect">
            <a:avLst/>
          </a:prstGeom>
          <a:solidFill>
            <a:srgbClr val="E1FF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3241"/>
                </a:solidFill>
                <a:latin typeface="Aptos"/>
              </a:defRPr>
            </a:pPr>
            <a:r>
              <a:t>Evidence</a:t>
            </a:r>
            <a:br/>
            <a:r>
              <a:t>Checkpoint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22776" y="2624328"/>
            <a:ext cx="274320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88536" y="2103120"/>
            <a:ext cx="1572768" cy="1051560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3241"/>
                </a:solidFill>
                <a:latin typeface="Aptos"/>
              </a:defRPr>
            </a:pPr>
            <a:r>
              <a:t>Tool Call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61304" y="2624328"/>
            <a:ext cx="274320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27064" y="2103120"/>
            <a:ext cx="1572768" cy="1051560"/>
          </a:xfrm>
          <a:prstGeom prst="roundRect">
            <a:avLst/>
          </a:prstGeom>
          <a:solidFill>
            <a:srgbClr val="E1FF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3241"/>
                </a:solidFill>
                <a:latin typeface="Aptos"/>
              </a:defRPr>
            </a:pPr>
            <a:r>
              <a:t>Result</a:t>
            </a:r>
            <a:br/>
            <a:r>
              <a:t>Verification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99832" y="2624328"/>
            <a:ext cx="274320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65592" y="2103120"/>
            <a:ext cx="1572768" cy="1051560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3241"/>
                </a:solidFill>
                <a:latin typeface="Aptos"/>
              </a:defRPr>
            </a:pPr>
            <a:r>
              <a:t>Evidence</a:t>
            </a:r>
            <a:br/>
            <a:r>
              <a:t>Update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738360" y="2624328"/>
            <a:ext cx="274320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04120" y="2103120"/>
            <a:ext cx="1572768" cy="1051560"/>
          </a:xfrm>
          <a:prstGeom prst="roundRect">
            <a:avLst/>
          </a:prstGeom>
          <a:solidFill>
            <a:srgbClr val="E1FF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3241"/>
                </a:solidFill>
                <a:latin typeface="Aptos"/>
              </a:defRPr>
            </a:pPr>
            <a:r>
              <a:t>Next 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4069080"/>
            <a:ext cx="8503920" cy="914400"/>
          </a:xfrm>
          <a:prstGeom prst="roundRect">
            <a:avLst/>
          </a:prstGeom>
          <a:solidFill>
            <a:srgbClr val="FFF4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3241"/>
                </a:solidFill>
                <a:latin typeface="Aptos"/>
              </a:defRPr>
            </a:pPr>
            <a:r>
              <a:t>Not every step needs the same verification — consequential boundaries get stronger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  <a:latin typeface="Aptos"/>
              </a:defRPr>
            </a:pPr>
            <a:r>
              <a:t>Evidence-Governed Agent Harnesses  |  Fifth Elephant Hyderabad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6"/>
                </a:solidFill>
                <a:latin typeface="Aptos Display"/>
              </a:defRPr>
            </a:pPr>
            <a:r>
              <a:t>Evidence as first-class runtime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F6E"/>
                </a:solidFill>
                <a:latin typeface="Aptos"/>
              </a:defRPr>
            </a:pPr>
            <a:r>
              <a:t>An evidence envelope carries more than a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4754880" cy="713232"/>
          </a:xfrm>
          <a:prstGeom prst="roundRect">
            <a:avLst/>
          </a:prstGeom>
          <a:solidFill>
            <a:srgbClr val="EBF6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241"/>
                </a:solidFill>
                <a:latin typeface="Aptos"/>
              </a:defRPr>
            </a:pPr>
            <a:r>
              <a:t>Identity / provenance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4754880" cy="713232"/>
          </a:xfrm>
          <a:prstGeom prst="roundRect">
            <a:avLst/>
          </a:prstGeom>
          <a:solidFill>
            <a:srgbClr val="EFFFE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241"/>
                </a:solidFill>
                <a:latin typeface="Aptos"/>
              </a:defRPr>
            </a:pPr>
            <a:r>
              <a:t>Observation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429000"/>
            <a:ext cx="4754880" cy="713232"/>
          </a:xfrm>
          <a:prstGeom prst="roundRect">
            <a:avLst/>
          </a:prstGeom>
          <a:solidFill>
            <a:srgbClr val="EBF6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241"/>
                </a:solidFill>
                <a:latin typeface="Aptos"/>
              </a:defRPr>
            </a:pPr>
            <a:r>
              <a:t>Evidence 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389120"/>
            <a:ext cx="4754880" cy="713232"/>
          </a:xfrm>
          <a:prstGeom prst="roundRect">
            <a:avLst/>
          </a:prstGeom>
          <a:solidFill>
            <a:srgbClr val="EFFFE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241"/>
                </a:solidFill>
                <a:latin typeface="Aptos"/>
              </a:defRPr>
            </a:pPr>
            <a:r>
              <a:t>Verification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08760"/>
            <a:ext cx="4754880" cy="713232"/>
          </a:xfrm>
          <a:prstGeom prst="roundRect">
            <a:avLst/>
          </a:prstGeom>
          <a:solidFill>
            <a:srgbClr val="EBF6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241"/>
                </a:solidFill>
                <a:latin typeface="Aptos"/>
              </a:defRPr>
            </a:pPr>
            <a:r>
              <a:t>Validity / applicability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468880"/>
            <a:ext cx="4754880" cy="713232"/>
          </a:xfrm>
          <a:prstGeom prst="roundRect">
            <a:avLst/>
          </a:prstGeom>
          <a:solidFill>
            <a:srgbClr val="EFFFE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241"/>
                </a:solidFill>
                <a:latin typeface="Aptos"/>
              </a:defRPr>
            </a:pPr>
            <a:r>
              <a:t>Resource consumption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429000"/>
            <a:ext cx="4754880" cy="713232"/>
          </a:xfrm>
          <a:prstGeom prst="roundRect">
            <a:avLst/>
          </a:prstGeom>
          <a:solidFill>
            <a:srgbClr val="EBF6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241"/>
                </a:solidFill>
                <a:latin typeface="Aptos"/>
              </a:defRPr>
            </a:pPr>
            <a:r>
              <a:t>Outcome attribution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89120"/>
            <a:ext cx="4754880" cy="713232"/>
          </a:xfrm>
          <a:prstGeom prst="roundRect">
            <a:avLst/>
          </a:prstGeom>
          <a:solidFill>
            <a:srgbClr val="EFFFE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241"/>
                </a:solidFill>
                <a:latin typeface="Aptos"/>
              </a:defRPr>
            </a:pPr>
            <a:r>
              <a:t>Verification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5532120"/>
            <a:ext cx="8412480" cy="594360"/>
          </a:xfrm>
          <a:prstGeom prst="roundRect">
            <a:avLst/>
          </a:prstGeom>
          <a:solidFill>
            <a:srgbClr val="F0E6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3241"/>
                </a:solidFill>
                <a:latin typeface="Aptos"/>
              </a:defRPr>
            </a:pPr>
            <a:r>
              <a:t>From “I have a value” → “I have evidence that is traceable, verified and applicable”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  <a:latin typeface="Aptos"/>
              </a:defRPr>
            </a:pPr>
            <a:r>
              <a:t>Evidence-Governed Agent Harnesses  |  Fifth Elephant Hyderabad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6"/>
                </a:solidFill>
                <a:latin typeface="Aptos Display"/>
              </a:defRPr>
            </a:pPr>
            <a:r>
              <a:t>What survives a crash at step 40?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F6E"/>
                </a:solidFill>
                <a:latin typeface="Aptos"/>
              </a:defRPr>
            </a:pPr>
            <a:r>
              <a:t>A production harness needs semantic continuity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743200" cy="640080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3241"/>
                </a:solidFill>
                <a:latin typeface="Aptos"/>
              </a:defRPr>
            </a:pPr>
            <a:r>
              <a:t>Execution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1325880"/>
            <a:ext cx="7223760" cy="640080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241"/>
                </a:solidFill>
                <a:latin typeface="Aptos"/>
              </a:defRPr>
            </a:pPr>
            <a:r>
              <a:t>Where was the agent?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743200" cy="640080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3241"/>
                </a:solidFill>
                <a:latin typeface="Aptos"/>
              </a:defRPr>
            </a:pPr>
            <a:r>
              <a:t>Evidence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2194560"/>
            <a:ext cx="7223760" cy="640080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241"/>
                </a:solidFill>
                <a:latin typeface="Aptos"/>
              </a:defRPr>
            </a:pPr>
            <a:r>
              <a:t>What did it know and verify?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63239"/>
            <a:ext cx="2743200" cy="640080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3241"/>
                </a:solidFill>
                <a:latin typeface="Aptos"/>
              </a:defRPr>
            </a:pPr>
            <a:r>
              <a:t>Verification History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3063239"/>
            <a:ext cx="7223760" cy="640080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241"/>
                </a:solidFill>
                <a:latin typeface="Aptos"/>
              </a:defRPr>
            </a:pPr>
            <a:r>
              <a:t>What checks already ran?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2743200" cy="640080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3241"/>
                </a:solidFill>
                <a:latin typeface="Aptos"/>
              </a:defRPr>
            </a:pPr>
            <a:r>
              <a:t>Outcome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3931920"/>
            <a:ext cx="7223760" cy="640080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241"/>
                </a:solidFill>
                <a:latin typeface="Aptos"/>
              </a:defRPr>
            </a:pPr>
            <a:r>
              <a:t>What was actually accomplished?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00600"/>
            <a:ext cx="2743200" cy="640080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3241"/>
                </a:solidFill>
                <a:latin typeface="Aptos"/>
              </a:defRPr>
            </a:pPr>
            <a:r>
              <a:t>Authorization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4800600"/>
            <a:ext cx="7223760" cy="640080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241"/>
                </a:solidFill>
                <a:latin typeface="Aptos"/>
              </a:defRPr>
            </a:pPr>
            <a:r>
              <a:t>What is the agent still permitted to do?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5715000"/>
            <a:ext cx="8229600" cy="502920"/>
          </a:xfrm>
          <a:prstGeom prst="roundRect">
            <a:avLst/>
          </a:prstGeom>
          <a:solidFill>
            <a:srgbClr val="FFEED2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241"/>
                </a:solidFill>
                <a:latin typeface="Aptos"/>
              </a:defRPr>
            </a:pPr>
            <a:r>
              <a:t>Resume only when the next action still has sufficient evidence and authorization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  <a:latin typeface="Aptos"/>
              </a:defRPr>
            </a:pPr>
            <a:r>
              <a:t>Evidence-Governed Agent Harnesses  |  Fifth Elephant Hyderabad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6"/>
                </a:solidFill>
                <a:latin typeface="Aptos Display"/>
              </a:defRPr>
            </a:pPr>
            <a:r>
              <a:t>Small models: don't ask “Is 8B good enough?”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F6E"/>
                </a:solidFill>
                <a:latin typeface="Aptos"/>
              </a:defRPr>
            </a:pPr>
            <a:r>
              <a:t>Ask where the model has an evidence-backed capability boundary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94560"/>
            <a:ext cx="1828800" cy="914400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3241"/>
                </a:solidFill>
                <a:latin typeface="Aptos"/>
              </a:defRPr>
            </a:pPr>
            <a:r>
              <a:t>Incoming</a:t>
            </a:r>
            <a:br/>
            <a:r>
              <a:t>Task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23160" y="2651760"/>
            <a:ext cx="640080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063240" y="2194560"/>
            <a:ext cx="2011680" cy="914400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241"/>
                </a:solidFill>
                <a:latin typeface="Aptos"/>
              </a:defRPr>
            </a:pPr>
            <a:r>
              <a:t>Evidence +</a:t>
            </a:r>
            <a:br/>
            <a:r>
              <a:t>Task Complexity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74920" y="2651760"/>
            <a:ext cx="548640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623560" y="1234440"/>
            <a:ext cx="1828800" cy="914400"/>
          </a:xfrm>
          <a:prstGeom prst="roundRect">
            <a:avLst/>
          </a:prstGeom>
          <a:solidFill>
            <a:srgbClr val="E1FF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241"/>
                </a:solidFill>
                <a:latin typeface="Aptos"/>
              </a:defRPr>
            </a:pPr>
            <a:r>
              <a:t>Within</a:t>
            </a:r>
            <a:br/>
            <a:r>
              <a:t>Boundary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2423160"/>
            <a:ext cx="1828800" cy="914400"/>
          </a:xfrm>
          <a:prstGeom prst="roundRect">
            <a:avLst/>
          </a:prstGeom>
          <a:solidFill>
            <a:srgbClr val="FFF4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241"/>
                </a:solidFill>
                <a:latin typeface="Aptos"/>
              </a:defRPr>
            </a:pPr>
            <a:r>
              <a:t>Boundary-Near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3611880"/>
            <a:ext cx="1828800" cy="914400"/>
          </a:xfrm>
          <a:prstGeom prst="roundRect">
            <a:avLst/>
          </a:prstGeom>
          <a:solidFill>
            <a:srgbClr val="FFE1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241"/>
                </a:solidFill>
                <a:latin typeface="Aptos"/>
              </a:defRPr>
            </a:pPr>
            <a:r>
              <a:t>Beyond</a:t>
            </a:r>
            <a:br/>
            <a:r>
              <a:t>Boundary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91640"/>
            <a:ext cx="777240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52360" y="2880360"/>
            <a:ext cx="777240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52360" y="4069080"/>
            <a:ext cx="777240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0" y="1234440"/>
            <a:ext cx="2560320" cy="914400"/>
          </a:xfrm>
          <a:prstGeom prst="roundRect">
            <a:avLst/>
          </a:prstGeom>
          <a:solidFill>
            <a:srgbClr val="E1FF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3241"/>
                </a:solidFill>
                <a:latin typeface="Aptos"/>
              </a:defRPr>
            </a:pPr>
            <a:r>
              <a:t>Small model /</a:t>
            </a:r>
            <a:br/>
            <a:r>
              <a:t>autonomous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423160"/>
            <a:ext cx="2560320" cy="914400"/>
          </a:xfrm>
          <a:prstGeom prst="roundRect">
            <a:avLst/>
          </a:prstGeom>
          <a:solidFill>
            <a:srgbClr val="FFF4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3241"/>
                </a:solidFill>
                <a:latin typeface="Aptos"/>
              </a:defRPr>
            </a:pPr>
            <a:r>
              <a:t>Verify / human</a:t>
            </a:r>
            <a:br/>
            <a:r>
              <a:t>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611880"/>
            <a:ext cx="2560320" cy="914400"/>
          </a:xfrm>
          <a:prstGeom prst="roundRect">
            <a:avLst/>
          </a:prstGeom>
          <a:solidFill>
            <a:srgbClr val="FFE1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3241"/>
                </a:solidFill>
                <a:latin typeface="Aptos"/>
              </a:defRPr>
            </a:pPr>
            <a:r>
              <a:t>Larger model /</a:t>
            </a:r>
            <a:br/>
            <a:r>
              <a:t>escalation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  <a:latin typeface="Aptos"/>
              </a:defRPr>
            </a:pPr>
            <a:r>
              <a:t>Evidence-Governed Agent Harnesses  |  Fifth Elephant Hyderabad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6"/>
                </a:solidFill>
                <a:latin typeface="Aptos Display"/>
              </a:defRPr>
            </a:pPr>
            <a:r>
              <a:t>Resource and outcome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F6E"/>
                </a:solidFill>
                <a:latin typeface="Aptos"/>
              </a:defRPr>
            </a:pPr>
            <a:r>
              <a:t>Cost reduction is not success if the outcome degrades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11680" cy="914400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3241"/>
                </a:solidFill>
                <a:latin typeface="Aptos"/>
              </a:defRPr>
            </a:pPr>
            <a:r>
              <a:t>Resource</a:t>
            </a:r>
            <a:br/>
            <a:r>
              <a:t>Consumption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011680" cy="914400"/>
          </a:xfrm>
          <a:prstGeom prst="roundRect">
            <a:avLst/>
          </a:prstGeom>
          <a:solidFill>
            <a:srgbClr val="E1FF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3241"/>
                </a:solidFill>
                <a:latin typeface="Aptos"/>
              </a:defRPr>
            </a:pPr>
            <a:r>
              <a:t>Verified</a:t>
            </a:r>
            <a:br/>
            <a:r>
              <a:t>Outcome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2286000"/>
            <a:ext cx="457200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715000" y="1828800"/>
            <a:ext cx="2011680" cy="914400"/>
          </a:xfrm>
          <a:prstGeom prst="roundRect">
            <a:avLst/>
          </a:prstGeom>
          <a:solidFill>
            <a:srgbClr val="F0E6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241"/>
                </a:solidFill>
                <a:latin typeface="Aptos"/>
              </a:defRPr>
            </a:pPr>
            <a:r>
              <a:t>Outcome-Value</a:t>
            </a:r>
            <a:br/>
            <a:r>
              <a:t>Attribution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12080" y="2286000"/>
            <a:ext cx="502920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29600" y="1828800"/>
            <a:ext cx="2011680" cy="914400"/>
          </a:xfrm>
          <a:prstGeom prst="roundRect">
            <a:avLst/>
          </a:prstGeom>
          <a:solidFill>
            <a:srgbClr val="FFF4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241"/>
                </a:solidFill>
                <a:latin typeface="Aptos"/>
              </a:defRPr>
            </a:pPr>
            <a:r>
              <a:t>Model / Resource</a:t>
            </a:r>
            <a:br/>
            <a:r>
              <a:t>Decision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26679" y="2286000"/>
            <a:ext cx="502921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28800" y="3886200"/>
            <a:ext cx="2926080" cy="777240"/>
          </a:xfrm>
          <a:prstGeom prst="roundRect">
            <a:avLst/>
          </a:prstGeom>
          <a:solidFill>
            <a:srgbClr val="E1FF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241"/>
                </a:solidFill>
                <a:latin typeface="Aptos"/>
              </a:defRPr>
            </a:pPr>
            <a:r>
              <a:t>Small model</a:t>
            </a:r>
            <a:br/>
            <a:r>
              <a:t>Lower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3886200"/>
            <a:ext cx="2926080" cy="777240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241"/>
                </a:solidFill>
                <a:latin typeface="Aptos"/>
              </a:defRPr>
            </a:pPr>
            <a:r>
              <a:t>Frontier model</a:t>
            </a:r>
            <a:br/>
            <a:r>
              <a:t>Higher 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5074920"/>
            <a:ext cx="3383280" cy="640080"/>
          </a:xfrm>
          <a:prstGeom prst="roundRect">
            <a:avLst/>
          </a:prstGeom>
          <a:solidFill>
            <a:srgbClr val="FFF4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3241"/>
                </a:solidFill>
                <a:latin typeface="Aptos"/>
              </a:defRPr>
            </a:pPr>
            <a:r>
              <a:t>Compare on verified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  <a:latin typeface="Aptos"/>
              </a:defRPr>
            </a:pPr>
            <a:r>
              <a:t>Evidence-Governed Agent Harnesses  |  Fifth Elephant Hyderabad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6"/>
                </a:solidFill>
                <a:latin typeface="Aptos Display"/>
              </a:defRPr>
            </a:pPr>
            <a:r>
              <a:t>Where verification belongs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F6E"/>
                </a:solidFill>
                <a:latin typeface="Aptos"/>
              </a:defRPr>
            </a:pPr>
            <a:r>
              <a:t>Useful infrastructure vs ceremony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657600" cy="731520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3241"/>
                </a:solidFill>
                <a:latin typeface="Aptos"/>
              </a:defRPr>
            </a:pPr>
            <a:r>
              <a:t>Not every step needs heavyweight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423160"/>
            <a:ext cx="3108960" cy="530352"/>
          </a:xfrm>
          <a:prstGeom prst="roundRect">
            <a:avLst/>
          </a:prstGeom>
          <a:solidFill>
            <a:srgbClr val="EBF6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33241"/>
                </a:solidFill>
                <a:latin typeface="Aptos"/>
              </a:defRPr>
            </a:pPr>
            <a:r>
              <a:t>Low-risk / reversible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154680"/>
            <a:ext cx="3108960" cy="530352"/>
          </a:xfrm>
          <a:prstGeom prst="roundRect">
            <a:avLst/>
          </a:prstGeom>
          <a:solidFill>
            <a:srgbClr val="EBF6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33241"/>
                </a:solidFill>
                <a:latin typeface="Aptos"/>
              </a:defRPr>
            </a:pPr>
            <a:r>
              <a:t>Routine internal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886200"/>
            <a:ext cx="3108960" cy="530352"/>
          </a:xfrm>
          <a:prstGeom prst="roundRect">
            <a:avLst/>
          </a:prstGeom>
          <a:solidFill>
            <a:srgbClr val="FFF4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33241"/>
                </a:solidFill>
                <a:latin typeface="Aptos"/>
              </a:defRPr>
            </a:pPr>
            <a:r>
              <a:t>High-impact tool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617720"/>
            <a:ext cx="3108960" cy="530352"/>
          </a:xfrm>
          <a:prstGeom prst="roundRect">
            <a:avLst/>
          </a:prstGeom>
          <a:solidFill>
            <a:srgbClr val="FFF4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33241"/>
                </a:solidFill>
                <a:latin typeface="Aptos"/>
              </a:defRPr>
            </a:pPr>
            <a:r>
              <a:t>Authorization-sensitive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417320"/>
            <a:ext cx="6309360" cy="731520"/>
          </a:xfrm>
          <a:prstGeom prst="roundRect">
            <a:avLst/>
          </a:prstGeom>
          <a:solidFill>
            <a:srgbClr val="F0E6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3241"/>
                </a:solidFill>
                <a:latin typeface="Aptos"/>
              </a:defRPr>
            </a:pPr>
            <a:r>
              <a:t>Verification intensity should follow consequence and uncertainty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2423160"/>
            <a:ext cx="2240280" cy="530352"/>
          </a:xfrm>
          <a:prstGeom prst="roundRect">
            <a:avLst/>
          </a:prstGeom>
          <a:solidFill>
            <a:srgbClr val="E1FF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3241"/>
                </a:solidFill>
                <a:latin typeface="Aptos"/>
              </a:defRPr>
            </a:pPr>
            <a:r>
              <a:t>Continue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35240" y="2688336"/>
            <a:ext cx="365760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94960" y="3154680"/>
            <a:ext cx="2240280" cy="530352"/>
          </a:xfrm>
          <a:prstGeom prst="roundRect">
            <a:avLst/>
          </a:prstGeom>
          <a:solidFill>
            <a:srgbClr val="FFF4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3241"/>
                </a:solidFill>
                <a:latin typeface="Aptos"/>
              </a:defRPr>
            </a:pPr>
            <a:r>
              <a:t>Refresh evidence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35240" y="3419856"/>
            <a:ext cx="365760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94960" y="3886200"/>
            <a:ext cx="2240280" cy="530352"/>
          </a:xfrm>
          <a:prstGeom prst="roundRect">
            <a:avLst/>
          </a:prstGeom>
          <a:solidFill>
            <a:srgbClr val="EBF6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3241"/>
                </a:solidFill>
                <a:latin typeface="Aptos"/>
              </a:defRPr>
            </a:pPr>
            <a:r>
              <a:t>Ask / human review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35240" y="4151376"/>
            <a:ext cx="365760" cy="0"/>
          </a:xfrm>
          <a:prstGeom prst="line">
            <a:avLst/>
          </a:prstGeom>
          <a:ln w="22860">
            <a:solidFill>
              <a:srgbClr val="5A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394960" y="4617720"/>
            <a:ext cx="2240280" cy="530352"/>
          </a:xfrm>
          <a:prstGeom prst="roundRect">
            <a:avLst/>
          </a:prstGeom>
          <a:solidFill>
            <a:srgbClr val="FFE1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3241"/>
                </a:solidFill>
                <a:latin typeface="Aptos"/>
              </a:defRPr>
            </a:pPr>
            <a:r>
              <a:t>Abstain / escalate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  <a:latin typeface="Aptos"/>
              </a:defRPr>
            </a:pPr>
            <a:r>
              <a:t>Evidence-Governed Agent Harnesses  |  Fifth Elephant Hyderabad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6"/>
                </a:solidFill>
                <a:latin typeface="Aptos Display"/>
              </a:defRPr>
            </a:pPr>
            <a:r>
              <a:t>What to evaluate before calling it production-ready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F6E"/>
                </a:solidFill>
                <a:latin typeface="Aptos"/>
              </a:defRPr>
            </a:pPr>
            <a:r>
              <a:t>Measure the trade-offs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2377440" cy="1051560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3241"/>
                </a:solidFill>
                <a:latin typeface="Aptos"/>
              </a:defRPr>
            </a:pPr>
            <a:r>
              <a:t>Checkpoint overhead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508760"/>
            <a:ext cx="2377440" cy="1051560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33241"/>
                </a:solidFill>
                <a:latin typeface="Aptos"/>
              </a:defRPr>
            </a:pPr>
            <a:r>
              <a:t>Latency / throughput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2377440" cy="1051560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3241"/>
                </a:solidFill>
                <a:latin typeface="Aptos"/>
              </a:defRPr>
            </a:pPr>
            <a:r>
              <a:t>Recovery correctness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508760"/>
            <a:ext cx="2377440" cy="1051560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33241"/>
                </a:solidFill>
                <a:latin typeface="Aptos"/>
              </a:defRPr>
            </a:pPr>
            <a:r>
              <a:t>Evidence + execution restored consistently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74720"/>
            <a:ext cx="2377440" cy="1051560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3241"/>
                </a:solidFill>
                <a:latin typeface="Aptos"/>
              </a:defRPr>
            </a:pPr>
            <a:r>
              <a:t>Capability boundaries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474720"/>
            <a:ext cx="2377440" cy="1051560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33241"/>
                </a:solidFill>
                <a:latin typeface="Aptos"/>
              </a:defRPr>
            </a:pPr>
            <a:r>
              <a:t>Small-model task classification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474720"/>
            <a:ext cx="2377440" cy="1051560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3241"/>
                </a:solidFill>
                <a:latin typeface="Aptos"/>
              </a:defRPr>
            </a:pPr>
            <a:r>
              <a:t>Outcome / ROI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3474720"/>
            <a:ext cx="2377440" cy="1051560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33241"/>
                </a:solidFill>
                <a:latin typeface="Aptos"/>
              </a:defRPr>
            </a:pPr>
            <a:r>
              <a:t>Consumption linked to verified outcomes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5532120"/>
            <a:ext cx="8412480" cy="548640"/>
          </a:xfrm>
          <a:prstGeom prst="roundRect">
            <a:avLst/>
          </a:prstGeom>
          <a:solidFill>
            <a:srgbClr val="FFF4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241"/>
                </a:solidFill>
                <a:latin typeface="Aptos"/>
              </a:defRPr>
            </a:pPr>
            <a:r>
              <a:t>Goal: enough verification to improve reliability — without turning the harness into ceremony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  <a:latin typeface="Aptos"/>
              </a:defRPr>
            </a:pPr>
            <a:r>
              <a:t>Evidence-Governed Agent Harnesses  |  Fifth Elephant Hyderabad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6"/>
                </a:solidFill>
                <a:latin typeface="Aptos Display"/>
              </a:defRPr>
            </a:pPr>
            <a:r>
              <a:t>What the engineering approach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F6E"/>
                </a:solidFill>
                <a:latin typeface="Aptos"/>
              </a:defRPr>
            </a:pPr>
            <a:r>
              <a:t>Six practical principles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5074920" cy="1005840"/>
          </a:xfrm>
          <a:prstGeom prst="roundRect">
            <a:avLst/>
          </a:prstGeom>
          <a:solidFill>
            <a:srgbClr val="EBF6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241"/>
                </a:solidFill>
                <a:latin typeface="Aptos"/>
              </a:defRPr>
            </a:pPr>
            <a:r>
              <a:t>State is not the same as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5074920" cy="1005840"/>
          </a:xfrm>
          <a:prstGeom prst="roundRect">
            <a:avLst/>
          </a:prstGeom>
          <a:solidFill>
            <a:srgbClr val="EFFFE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241"/>
                </a:solidFill>
                <a:latin typeface="Aptos"/>
              </a:defRPr>
            </a:pPr>
            <a:r>
              <a:t>Evidence needs lifecycle semantics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34639"/>
            <a:ext cx="5074920" cy="1005840"/>
          </a:xfrm>
          <a:prstGeom prst="roundRect">
            <a:avLst/>
          </a:prstGeom>
          <a:solidFill>
            <a:srgbClr val="EBF6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241"/>
                </a:solidFill>
                <a:latin typeface="Aptos"/>
              </a:defRPr>
            </a:pPr>
            <a:r>
              <a:t>Verification belongs near consequential boundaries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834639"/>
            <a:ext cx="5074920" cy="1005840"/>
          </a:xfrm>
          <a:prstGeom prst="roundRect">
            <a:avLst/>
          </a:prstGeom>
          <a:solidFill>
            <a:srgbClr val="EFFFE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241"/>
                </a:solidFill>
                <a:latin typeface="Aptos"/>
              </a:defRPr>
            </a:pPr>
            <a:r>
              <a:t>Small models need capability boundaries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343400"/>
            <a:ext cx="5074920" cy="1005840"/>
          </a:xfrm>
          <a:prstGeom prst="roundRect">
            <a:avLst/>
          </a:prstGeom>
          <a:solidFill>
            <a:srgbClr val="EBF6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241"/>
                </a:solidFill>
                <a:latin typeface="Aptos"/>
              </a:defRPr>
            </a:pPr>
            <a:r>
              <a:t>Recovery needs semantic continuity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343400"/>
            <a:ext cx="5074920" cy="1005840"/>
          </a:xfrm>
          <a:prstGeom prst="roundRect">
            <a:avLst/>
          </a:prstGeom>
          <a:solidFill>
            <a:srgbClr val="EFFFE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241"/>
                </a:solidFill>
                <a:latin typeface="Aptos"/>
              </a:defRPr>
            </a:pPr>
            <a:r>
              <a:t>Governance should earn its place in the harness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  <a:latin typeface="Aptos"/>
              </a:defRPr>
            </a:pPr>
            <a:r>
              <a:t>Evidence-Governed Agent Harnesses  |  Fifth Elephant Hyderabad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6"/>
                </a:solidFill>
                <a:latin typeface="Aptos Display"/>
              </a:defRPr>
            </a:pPr>
            <a:r>
              <a:t>What is demonstrated vs what remains to be validated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731520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3241"/>
                </a:solidFill>
                <a:latin typeface="Aptos"/>
              </a:defRPr>
            </a:pPr>
            <a:r>
              <a:t>Research / design foundation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371600"/>
            <a:ext cx="3291840" cy="731520"/>
          </a:xfrm>
          <a:prstGeom prst="roundRect">
            <a:avLst/>
          </a:prstGeom>
          <a:solidFill>
            <a:srgbClr val="FFF4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3241"/>
                </a:solidFill>
                <a:latin typeface="Aptos"/>
              </a:defRPr>
            </a:pPr>
            <a:r>
              <a:t>Implementation experiments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291840" cy="731520"/>
          </a:xfrm>
          <a:prstGeom prst="roundRect">
            <a:avLst/>
          </a:prstGeom>
          <a:solidFill>
            <a:srgbClr val="FFE1E1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3241"/>
                </a:solidFill>
                <a:latin typeface="Aptos"/>
              </a:defRPr>
            </a:pPr>
            <a:r>
              <a:t>Production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377440"/>
            <a:ext cx="3017520" cy="438912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33241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971800"/>
            <a:ext cx="3017520" cy="438912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33241"/>
                </a:solidFill>
                <a:latin typeface="Aptos"/>
              </a:defRPr>
            </a:pPr>
            <a:r>
              <a:t>Evidence-state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566160"/>
            <a:ext cx="3017520" cy="438912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33241"/>
                </a:solidFill>
                <a:latin typeface="Aptos"/>
              </a:defRPr>
            </a:pPr>
            <a:r>
              <a:t>Execution 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160520"/>
            <a:ext cx="3017520" cy="438912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33241"/>
                </a:solidFill>
                <a:latin typeface="Aptos"/>
              </a:defRPr>
            </a:pPr>
            <a:r>
              <a:t>Capability-boundary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754880"/>
            <a:ext cx="3017520" cy="438912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33241"/>
                </a:solidFill>
                <a:latin typeface="Aptos"/>
              </a:defRPr>
            </a:pPr>
            <a:r>
              <a:t>Resource/outcome accounting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377440"/>
            <a:ext cx="3017520" cy="530352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33241"/>
                </a:solidFill>
                <a:latin typeface="Aptos"/>
              </a:defRPr>
            </a:pPr>
            <a:r>
              <a:t>LangGraph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108960"/>
            <a:ext cx="3017520" cy="530352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33241"/>
                </a:solidFill>
                <a:latin typeface="Aptos"/>
              </a:defRPr>
            </a:pPr>
            <a:r>
              <a:t>8B boundary testing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840480"/>
            <a:ext cx="3017520" cy="530352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33241"/>
                </a:solidFill>
                <a:latin typeface="Aptos"/>
              </a:defRPr>
            </a:pPr>
            <a:r>
              <a:t>Crash / resume experiments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4572000"/>
            <a:ext cx="3017520" cy="530352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33241"/>
                </a:solidFill>
                <a:latin typeface="Aptos"/>
              </a:defRPr>
            </a:pPr>
            <a:r>
              <a:t>Overhead measurement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377440"/>
            <a:ext cx="3017520" cy="530352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33241"/>
                </a:solidFill>
                <a:latin typeface="Aptos"/>
              </a:defRPr>
            </a:pPr>
            <a:r>
              <a:t>Real production workloads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3108960"/>
            <a:ext cx="3017520" cy="530352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33241"/>
                </a:solidFill>
                <a:latin typeface="Aptos"/>
              </a:defRPr>
            </a:pPr>
            <a:r>
              <a:t>Independent evaluation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3840480"/>
            <a:ext cx="3017520" cy="530352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33241"/>
                </a:solidFill>
                <a:latin typeface="Aptos"/>
              </a:defRPr>
            </a:pPr>
            <a:r>
              <a:t>Longitudinal evidence validity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4572000"/>
            <a:ext cx="3017520" cy="530352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33241"/>
                </a:solidFill>
                <a:latin typeface="Aptos"/>
              </a:defRPr>
            </a:pPr>
            <a:r>
              <a:t>Operational failure modes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5532120"/>
            <a:ext cx="8503920" cy="548640"/>
          </a:xfrm>
          <a:prstGeom prst="roundRect">
            <a:avLst/>
          </a:prstGeom>
          <a:solidFill>
            <a:srgbClr val="F0E6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241"/>
                </a:solidFill>
                <a:latin typeface="Aptos"/>
              </a:defRPr>
            </a:pPr>
            <a:r>
              <a:t>Do not turn a research design into a production claim — validate the failure modes first.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  <a:latin typeface="Aptos"/>
              </a:defRPr>
            </a:pPr>
            <a:r>
              <a:t>Evidence-Governed Agent Harnesses  |  Fifth Elephant Hyderabad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6"/>
                </a:solidFill>
                <a:latin typeface="Aptos Display"/>
              </a:defRPr>
            </a:pPr>
            <a:r>
              <a:t>The broader production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F6E"/>
                </a:solidFill>
                <a:latin typeface="Aptos"/>
              </a:defRPr>
            </a:pPr>
            <a:r>
              <a:t>Evidence sits alongside the harness, not above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2377440" cy="621792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3241"/>
                </a:solidFill>
                <a:latin typeface="Aptos"/>
              </a:defRPr>
            </a:pPr>
            <a:r>
              <a:t>Agent /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1234440"/>
            <a:ext cx="7315200" cy="621792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33241"/>
                </a:solidFill>
                <a:latin typeface="Aptos"/>
              </a:defRPr>
            </a:pPr>
            <a:r>
              <a:t>Planning • generation • small / frontier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30552"/>
            <a:ext cx="2377440" cy="621792"/>
          </a:xfrm>
          <a:prstGeom prst="roundRect">
            <a:avLst/>
          </a:prstGeom>
          <a:solidFill>
            <a:srgbClr val="EFFFE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3241"/>
                </a:solidFill>
                <a:latin typeface="Aptos"/>
              </a:defRPr>
            </a:pPr>
            <a:r>
              <a:t>Harness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2130552"/>
            <a:ext cx="7315200" cy="621792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33241"/>
                </a:solidFill>
                <a:latin typeface="Aptos"/>
              </a:defRPr>
            </a:pPr>
            <a:r>
              <a:t>Graph • loop • tools • permissions • retries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26664"/>
            <a:ext cx="2377440" cy="621792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3241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3026664"/>
            <a:ext cx="7315200" cy="621792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33241"/>
                </a:solidFill>
                <a:latin typeface="Aptos"/>
              </a:defRPr>
            </a:pPr>
            <a:r>
              <a:t>Provenance • validity • verification • outcome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22776"/>
            <a:ext cx="2377440" cy="621792"/>
          </a:xfrm>
          <a:prstGeom prst="roundRect">
            <a:avLst/>
          </a:prstGeom>
          <a:solidFill>
            <a:srgbClr val="EFFFE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3241"/>
                </a:solidFill>
                <a:latin typeface="Aptos"/>
              </a:defRPr>
            </a:pPr>
            <a:r>
              <a:t>Observability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3922776"/>
            <a:ext cx="7315200" cy="621792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33241"/>
                </a:solidFill>
                <a:latin typeface="Aptos"/>
              </a:defRPr>
            </a:pPr>
            <a:r>
              <a:t>Telemetry • traces • cost • latency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18888"/>
            <a:ext cx="2377440" cy="621792"/>
          </a:xfrm>
          <a:prstGeom prst="roundRect">
            <a:avLst/>
          </a:prstGeom>
          <a:solidFill>
            <a:srgbClr val="E1F5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3241"/>
                </a:solidFill>
                <a:latin typeface="Aptos"/>
              </a:defRPr>
            </a:pPr>
            <a:r>
              <a:t>Recovery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4818888"/>
            <a:ext cx="7315200" cy="621792"/>
          </a:xfrm>
          <a:prstGeom prst="roundRect">
            <a:avLst/>
          </a:prstGeom>
          <a:solidFill>
            <a:srgbClr val="F8F8F8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33241"/>
                </a:solidFill>
                <a:latin typeface="Aptos"/>
              </a:defRPr>
            </a:pPr>
            <a:r>
              <a:t>Checkpoint • durable state • replay • escalation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  <a:latin typeface="Aptos"/>
              </a:defRPr>
            </a:pPr>
            <a:r>
              <a:t>Evidence-Governed Agent Harnesses  |  Fifth Elephant Hyderabad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6"/>
                </a:solidFill>
                <a:latin typeface="Aptos Display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F6E"/>
                </a:solidFill>
                <a:latin typeface="Aptos"/>
              </a:defRPr>
            </a:pPr>
            <a:r>
              <a:t>What practitioners should leave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• Treat evidence as first-class runtime state in long-running agents.</a:t>
            </a:r>
          </a:p>
          <a:p>
            <a:pPr>
              <a:spcAft>
                <a:spcPts val="11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• Preserve evidence and verification history alongside execution checkpoints.</a:t>
            </a:r>
          </a:p>
          <a:p>
            <a:pPr>
              <a:spcAft>
                <a:spcPts val="11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• Revalidate evidence at consequential boundaries instead of validating everything.</a:t>
            </a:r>
          </a:p>
          <a:p>
            <a:pPr>
              <a:spcAft>
                <a:spcPts val="11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• Use evidence-backed capability boundaries to decide when smaller models are sufficient.</a:t>
            </a:r>
          </a:p>
          <a:p>
            <a:pPr>
              <a:spcAft>
                <a:spcPts val="11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• Link model/resource consumption to verified outcomes, not cost alone.</a:t>
            </a:r>
          </a:p>
          <a:p>
            <a:pPr>
              <a:spcAft>
                <a:spcPts val="11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• Measure the overhead and reliability benefit before adding another harness abstraction.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715000"/>
            <a:ext cx="8412480" cy="502920"/>
          </a:xfrm>
          <a:prstGeom prst="roundRect">
            <a:avLst/>
          </a:prstGeom>
          <a:solidFill>
            <a:srgbClr val="F0E6FF"/>
          </a:solidFill>
          <a:ln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3241"/>
                </a:solidFill>
                <a:latin typeface="Aptos"/>
              </a:defRPr>
            </a:pPr>
            <a:r>
              <a:t>The harness should remember not only where the agent was — but why it was allowed to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  <a:latin typeface="Aptos"/>
              </a:defRPr>
            </a:pPr>
            <a:r>
              <a:t>Evidence-Governed Agent Harnesses  |  Fifth Elephant Hyderabad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92D46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560320"/>
            <a:ext cx="9966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D4150"/>
                </a:solidFill>
                <a:latin typeface="Aptos Display"/>
              </a:defRPr>
            </a:pPr>
            <a:r>
              <a:t>Evidence-Governed Agent Harnesses</a:t>
            </a:r>
          </a:p>
          <a:p>
            <a:pPr algn="ctr">
              <a:spcBef>
                <a:spcPts val="1200"/>
              </a:spcBef>
              <a:defRPr sz="2000">
                <a:solidFill>
                  <a:srgbClr val="505F6E"/>
                </a:solidFill>
                <a:latin typeface="Aptos"/>
              </a:defRPr>
            </a:pPr>
            <a:r>
              <a:t>Making Evidence Survive Long-Running Agent Execution</a:t>
            </a:r>
          </a:p>
          <a:p>
            <a:pPr algn="ctr">
              <a:spcBef>
                <a:spcPts val="2000"/>
              </a:spcBef>
              <a:defRPr sz="1500">
                <a:solidFill>
                  <a:srgbClr val="646E78"/>
                </a:solidFill>
                <a:latin typeface="Aptos"/>
              </a:defRPr>
            </a:pPr>
            <a:r>
              <a:t>Fifth Elephant Hyderabad — Agent Harnesses &amp; Small Models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  <a:latin typeface="Aptos"/>
              </a:defRPr>
            </a:pPr>
            <a:r>
              <a:t>Evidence-Governed Agent Harnesses  |  Fifth Elephant Hyderabad  |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