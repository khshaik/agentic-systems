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3" roundtripDataSignature="AMtx7mgI7k52OebdjYeTQXW2lHrKDSFTw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22" Type="http://schemas.openxmlformats.org/officeDocument/2006/relationships/slide" Target="slides/slide18.xml"/><Relationship Id="rId10" Type="http://schemas.openxmlformats.org/officeDocument/2006/relationships/slide" Target="slides/slide6.xml"/><Relationship Id="rId21" Type="http://schemas.openxmlformats.org/officeDocument/2006/relationships/slide" Target="slides/slide17.xml"/><Relationship Id="rId13" Type="http://schemas.openxmlformats.org/officeDocument/2006/relationships/slide" Target="slides/slide9.xml"/><Relationship Id="rId12" Type="http://schemas.openxmlformats.org/officeDocument/2006/relationships/slide" Target="slides/slide8.xml"/><Relationship Id="rId23" Type="http://customschemas.google.com/relationships/presentationmetadata" Target="meta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 name="Shape 12"/>
        <p:cNvGrpSpPr/>
        <p:nvPr/>
      </p:nvGrpSpPr>
      <p:grpSpPr>
        <a:xfrm>
          <a:off x="0" y="0"/>
          <a:ext cx="0" cy="0"/>
          <a:chOff x="0" y="0"/>
          <a:chExt cx="0" cy="0"/>
        </a:xfrm>
      </p:grpSpPr>
      <p:sp>
        <p:nvSpPr>
          <p:cNvPr id="13" name="Google Shape;1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 name="Google Shape;1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Welcome. Full-day, terminal-first workshop on goose. We go bottom-up: agent fundamentals, then goose itself, then every major feature, then architecture, then two live labs, then where the project is heading with GDK. Everything we cover maps to goose-docs.ai/docs/category/guides.</a:t>
            </a:r>
            <a:endParaRPr/>
          </a:p>
        </p:txBody>
      </p:sp>
      <p:sp>
        <p:nvSpPr>
          <p:cNvPr id="15" name="Google Shape;15;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 name="Google Shape;2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Land the point that the model is only one of four layers. Ask the room: who has written a for-loop around an LLM call? That is an agent in embryo. Everything else in goose is hardening that loop.</a:t>
            </a:r>
            <a:endParaRPr/>
          </a:p>
        </p:txBody>
      </p:sp>
      <p:sp>
        <p:nvSpPr>
          <p:cNvPr id="29" name="Google Shape;2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 name="Google Shape;5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Emphasise: local-first and open source. The agent runs on your laptop, your keys stay in your keyring, and nothing forces you onto one model vendor. Mention the AAIF move (April 2026) — this is now foundation-governed, not a single-company project.</a:t>
            </a:r>
            <a:endParaRPr/>
          </a:p>
        </p:txBody>
      </p:sp>
      <p:sp>
        <p:nvSpPr>
          <p:cNvPr id="56" name="Google Shape;5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 name="Google Shape;8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Be fair here — this is not a takedown. The honest differentiator for goose is that it is open source, model-agnostic and embeddable. Note the deprecation: CLI providers are backward-compat only, ACP providers are the supported path and they preserve MCP extensions.</a:t>
            </a:r>
            <a:endParaRPr/>
          </a:p>
        </p:txBody>
      </p:sp>
      <p:sp>
        <p:nvSpPr>
          <p:cNvPr id="82" name="Google Shape;8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Lab checkpoint: everyone should have goose running and a provider configured before we move on. Free options: Google Gemini free tier, or Ollama for fully local. Windows users — decline the keyring prompt and use environment variables if you hit keyring errors.</a:t>
            </a:r>
            <a:endParaRPr/>
          </a:p>
        </p:txBody>
      </p:sp>
      <p:sp>
        <p:nvSpPr>
          <p:cNvPr id="148" name="Google Shape;14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Open the config file live and walk it. Point out that extensions are just YAML entries with a type: builtin, platform, stdio, streamable_http, frontend, inline_python. Show available_tools as a token-saving filter.</a:t>
            </a:r>
            <a:endParaRPr/>
          </a:p>
        </p:txBody>
      </p:sp>
      <p:sp>
        <p:nvSpPr>
          <p:cNvPr id="173" name="Google Shape;17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doom-spiral point is the practical one. Long sessions accumulate contradictory context; the model starts fighting its own history. New task, new session — treat it like a clean branch.</a:t>
            </a:r>
            <a:endParaRPr/>
          </a:p>
        </p:txBody>
      </p:sp>
      <p:sp>
        <p:nvSpPr>
          <p:cNvPr id="194" name="Google Shape;19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slide to slow down on. Context engineering is where practitioners get the biggest wins. Demo: add a .goosehints file with build commands and coding conventions, then show the difference in a fresh session.</a:t>
            </a:r>
            <a:endParaRPr/>
          </a:p>
        </p:txBody>
      </p:sp>
      <p:sp>
        <p:nvSpPr>
          <p:cNvPr id="221" name="Google Shape;221;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 name="Google Shape;25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Frame recipes as the unit of team scale. One engineer figures out a workflow; a recipe turns that into something the rest of the team runs without rediscovering it. Show the Recipe Cookbook and the deeplink generator on the docs site.</a:t>
            </a:r>
            <a:endParaRPr/>
          </a:p>
        </p:txBody>
      </p:sp>
      <p:sp>
        <p:nvSpPr>
          <p:cNvPr id="258" name="Google Shape;25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3" name="Google Shape;28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Workshop guidance: start everyone in smart_approve. Let them feel the prompts, then explain why auto mode belongs in a container or a disposable branch, never on a machine with production credentials loaded.</a:t>
            </a:r>
            <a:endParaRPr/>
          </a:p>
        </p:txBody>
      </p:sp>
      <p:sp>
        <p:nvSpPr>
          <p:cNvPr id="284" name="Google Shape;28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8" name="Google Shape;31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Make the supply-chain point concretely: an MCP server runs on your machine with your credentials. The threat model is not the model going rogue, it is a poisoned tool description or a malicious README instructing your agent.</a:t>
            </a:r>
            <a:endParaRPr/>
          </a:p>
        </p:txBody>
      </p:sp>
      <p:sp>
        <p:nvSpPr>
          <p:cNvPr id="319" name="Google Shape;319;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3" name="Google Shape;34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Do not read this slide line by line. Point at it, say these exist, and flag the three that matter most for this audience: multi-model config for cost, remote server for heavy runs, and run tasks for CI integration.</a:t>
            </a:r>
            <a:endParaRPr/>
          </a:p>
        </p:txBody>
      </p:sp>
      <p:sp>
        <p:nvSpPr>
          <p:cNvPr id="344" name="Google Shape;344;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2" name="Google Shape;392;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LSP analogy lands well with engineers. Before LSP, every editor implemented every language. ACP is the same bet for agents: implement the protocol once and any compliant client can drive any compliant agent.</a:t>
            </a:r>
            <a:endParaRPr/>
          </a:p>
        </p:txBody>
      </p:sp>
      <p:sp>
        <p:nvSpPr>
          <p:cNvPr id="393" name="Google Shape;393;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3f97e5f1111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9" name="Google Shape;419;g3f97e5f1111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Draw the loop on the whiteboard as you talk. Step 5 is the one people miss — context revision is why goose stays usable on long tasks where a naive loop would blow the window in twenty turns.</a:t>
            </a:r>
            <a:endParaRPr/>
          </a:p>
        </p:txBody>
      </p:sp>
      <p:sp>
        <p:nvSpPr>
          <p:cNvPr id="420" name="Google Shape;420;g3f97e5f1111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3f97e5f1111_0_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3f97e5f1111_0_5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0" name="Google Shape;430;g3f97e5f1111_0_5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5" name="Google Shape;435;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Draw the loop on the whiteboard as you talk. Step 5 is the one people miss — context revision is why goose stays usable on long tasks where a naive loop would blow the window in twenty turns.</a:t>
            </a:r>
            <a:endParaRPr/>
          </a:p>
        </p:txBody>
      </p:sp>
      <p:sp>
        <p:nvSpPr>
          <p:cNvPr id="436" name="Google Shape;436;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0" name="Google Shape;490;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Timebox: 40 minutes for Lab A, 60 for Lab B. Have a pre-seeded repo with a genuinely small, well-scoped bug. Lab B is the payoff of the whole day — resist the urge to demo it yourself; let them drive.</a:t>
            </a:r>
            <a:endParaRPr/>
          </a:p>
        </p:txBody>
      </p:sp>
      <p:sp>
        <p:nvSpPr>
          <p:cNvPr id="491" name="Google Shape;491;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2" name="Google Shape;512;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Close on the platform story: goose today is a good agent; GDK is the bet that the agent loop becomes shared infrastructure the way the Lightning Development Kit did for payments. Invite the room to contribute — it is foundation-governed and genuinely open to outside contributors.</a:t>
            </a:r>
            <a:endParaRPr/>
          </a:p>
        </p:txBody>
      </p:sp>
      <p:sp>
        <p:nvSpPr>
          <p:cNvPr id="513" name="Google Shape;513;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821"/>
        </a:solidFill>
      </p:bgPr>
    </p:bg>
    <p:spTree>
      <p:nvGrpSpPr>
        <p:cNvPr id="16" name="Shape 16"/>
        <p:cNvGrpSpPr/>
        <p:nvPr/>
      </p:nvGrpSpPr>
      <p:grpSpPr>
        <a:xfrm>
          <a:off x="0" y="0"/>
          <a:ext cx="0" cy="0"/>
          <a:chOff x="0" y="0"/>
          <a:chExt cx="0" cy="0"/>
        </a:xfrm>
      </p:grpSpPr>
      <p:sp>
        <p:nvSpPr>
          <p:cNvPr id="17" name="Google Shape;17;p1"/>
          <p:cNvSpPr/>
          <p:nvPr/>
        </p:nvSpPr>
        <p:spPr>
          <a:xfrm>
            <a:off x="822960" y="1170432"/>
            <a:ext cx="2331720" cy="384048"/>
          </a:xfrm>
          <a:prstGeom prst="roundRect">
            <a:avLst>
              <a:gd fmla="val 50000" name="adj"/>
            </a:avLst>
          </a:prstGeom>
          <a:solidFill>
            <a:srgbClr val="232935"/>
          </a:solidFill>
          <a:ln cap="flat" cmpd="sng" w="12700">
            <a:solidFill>
              <a:srgbClr val="3A435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822960" y="1170432"/>
            <a:ext cx="233172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09B34"/>
              </a:buClr>
              <a:buSzPts val="1000"/>
              <a:buFont typeface="Calibri"/>
              <a:buNone/>
            </a:pPr>
            <a:r>
              <a:rPr b="1" i="0" lang="en-US" sz="1000" u="none" cap="none" strike="noStrike">
                <a:solidFill>
                  <a:srgbClr val="E09B34"/>
                </a:solidFill>
                <a:latin typeface="Calibri"/>
                <a:ea typeface="Calibri"/>
                <a:cs typeface="Calibri"/>
                <a:sym typeface="Calibri"/>
              </a:rPr>
              <a:t>HANDS-ON WORKSHOP</a:t>
            </a:r>
            <a:endParaRPr b="0" i="0" sz="1000" u="none" cap="none" strike="noStrike">
              <a:solidFill>
                <a:schemeClr val="dk1"/>
              </a:solidFill>
              <a:latin typeface="Calibri"/>
              <a:ea typeface="Calibri"/>
              <a:cs typeface="Calibri"/>
              <a:sym typeface="Calibri"/>
            </a:endParaRPr>
          </a:p>
        </p:txBody>
      </p:sp>
      <p:sp>
        <p:nvSpPr>
          <p:cNvPr id="19" name="Google Shape;19;p1"/>
          <p:cNvSpPr/>
          <p:nvPr/>
        </p:nvSpPr>
        <p:spPr>
          <a:xfrm>
            <a:off x="786384" y="1691640"/>
            <a:ext cx="786384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9B34"/>
              </a:buClr>
              <a:buSzPts val="7600"/>
              <a:buFont typeface="Calibri"/>
              <a:buNone/>
            </a:pPr>
            <a:r>
              <a:rPr b="1" i="0" lang="en-US" sz="7600" u="none" cap="none" strike="noStrike">
                <a:solidFill>
                  <a:srgbClr val="E09B34"/>
                </a:solidFill>
                <a:latin typeface="Calibri"/>
                <a:ea typeface="Calibri"/>
                <a:cs typeface="Calibri"/>
                <a:sym typeface="Calibri"/>
              </a:rPr>
              <a:t>goose</a:t>
            </a:r>
            <a:endParaRPr b="0" i="0" sz="7600" u="none" cap="none" strike="noStrike">
              <a:solidFill>
                <a:schemeClr val="dk1"/>
              </a:solidFill>
              <a:latin typeface="Calibri"/>
              <a:ea typeface="Calibri"/>
              <a:cs typeface="Calibri"/>
              <a:sym typeface="Calibri"/>
            </a:endParaRPr>
          </a:p>
        </p:txBody>
      </p:sp>
      <p:sp>
        <p:nvSpPr>
          <p:cNvPr id="20" name="Google Shape;20;p1"/>
          <p:cNvSpPr/>
          <p:nvPr/>
        </p:nvSpPr>
        <p:spPr>
          <a:xfrm>
            <a:off x="822960" y="2743200"/>
            <a:ext cx="841248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200"/>
              <a:buFont typeface="Calibri"/>
              <a:buNone/>
            </a:pPr>
            <a:r>
              <a:rPr b="1" i="0" lang="en-US" sz="3200" u="none" cap="none" strike="noStrike">
                <a:solidFill>
                  <a:srgbClr val="FFFFFF"/>
                </a:solidFill>
                <a:latin typeface="Calibri"/>
                <a:ea typeface="Calibri"/>
                <a:cs typeface="Calibri"/>
                <a:sym typeface="Calibri"/>
              </a:rPr>
              <a:t>Building with open-source AI agents</a:t>
            </a:r>
            <a:endParaRPr b="0" i="0" sz="3200" u="none" cap="none" strike="noStrike">
              <a:solidFill>
                <a:schemeClr val="dk1"/>
              </a:solidFill>
              <a:latin typeface="Calibri"/>
              <a:ea typeface="Calibri"/>
              <a:cs typeface="Calibri"/>
              <a:sym typeface="Calibri"/>
            </a:endParaRPr>
          </a:p>
        </p:txBody>
      </p:sp>
      <p:sp>
        <p:nvSpPr>
          <p:cNvPr id="21" name="Google Shape;21;p1"/>
          <p:cNvSpPr/>
          <p:nvPr/>
        </p:nvSpPr>
        <p:spPr>
          <a:xfrm>
            <a:off x="822960" y="3456432"/>
            <a:ext cx="7498080" cy="77724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A7B0C0"/>
              </a:buClr>
              <a:buSzPts val="1400"/>
              <a:buFont typeface="Calibri"/>
              <a:buNone/>
            </a:pPr>
            <a:r>
              <a:rPr b="0" i="0" lang="en-US" sz="1400" u="none" cap="none" strike="noStrike">
                <a:solidFill>
                  <a:srgbClr val="A7B0C0"/>
                </a:solidFill>
                <a:latin typeface="Calibri"/>
                <a:ea typeface="Calibri"/>
                <a:cs typeface="Calibri"/>
                <a:sym typeface="Calibri"/>
              </a:rPr>
              <a:t>From “what is an agent?” to shipping a pull request — sessions, context engineering, recipes, tool permissions, MCP, ACP and the goose Development Kit.</a:t>
            </a:r>
            <a:endParaRPr b="0" i="0" sz="1400" u="none" cap="none" strike="noStrike">
              <a:solidFill>
                <a:schemeClr val="dk1"/>
              </a:solidFill>
              <a:latin typeface="Calibri"/>
              <a:ea typeface="Calibri"/>
              <a:cs typeface="Calibri"/>
              <a:sym typeface="Calibri"/>
            </a:endParaRPr>
          </a:p>
        </p:txBody>
      </p:sp>
      <p:sp>
        <p:nvSpPr>
          <p:cNvPr id="22" name="Google Shape;22;p1"/>
          <p:cNvSpPr/>
          <p:nvPr/>
        </p:nvSpPr>
        <p:spPr>
          <a:xfrm>
            <a:off x="822960" y="4526280"/>
            <a:ext cx="5486400" cy="6858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FFFFF"/>
              </a:buClr>
              <a:buSzPts val="1400"/>
              <a:buFont typeface="Calibri"/>
              <a:buNone/>
            </a:pPr>
            <a:r>
              <a:rPr b="1" lang="en-US">
                <a:solidFill>
                  <a:srgbClr val="FFFFFF"/>
                </a:solidFill>
                <a:latin typeface="Calibri"/>
                <a:ea typeface="Calibri"/>
                <a:cs typeface="Calibri"/>
                <a:sym typeface="Calibri"/>
              </a:rPr>
              <a:t>Azeez Syed</a:t>
            </a:r>
            <a:endParaRPr b="0" i="0" sz="1400" u="none" cap="none" strike="noStrike">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rgbClr val="E09B34"/>
              </a:buClr>
              <a:buSzPts val="1150"/>
              <a:buFont typeface="Calibri"/>
              <a:buNone/>
            </a:pPr>
            <a:r>
              <a:rPr b="0" i="0" lang="en-US" sz="1150" u="none" cap="none" strike="noStrike">
                <a:solidFill>
                  <a:srgbClr val="E09B34"/>
                </a:solidFill>
                <a:latin typeface="Calibri"/>
                <a:ea typeface="Calibri"/>
                <a:cs typeface="Calibri"/>
                <a:sym typeface="Calibri"/>
              </a:rPr>
              <a:t>AIYatra</a:t>
            </a:r>
            <a:endParaRPr b="0" i="0" sz="1400" u="none" cap="none" strike="noStrike">
              <a:solidFill>
                <a:schemeClr val="dk1"/>
              </a:solidFill>
              <a:latin typeface="Calibri"/>
              <a:ea typeface="Calibri"/>
              <a:cs typeface="Calibri"/>
              <a:sym typeface="Calibri"/>
            </a:endParaRPr>
          </a:p>
        </p:txBody>
      </p:sp>
      <p:sp>
        <p:nvSpPr>
          <p:cNvPr id="23" name="Google Shape;23;p1"/>
          <p:cNvSpPr/>
          <p:nvPr/>
        </p:nvSpPr>
        <p:spPr>
          <a:xfrm>
            <a:off x="8823960" y="1691640"/>
            <a:ext cx="2788920" cy="2331720"/>
          </a:xfrm>
          <a:prstGeom prst="roundRect">
            <a:avLst>
              <a:gd fmla="val 1961" name="adj"/>
            </a:avLst>
          </a:prstGeom>
          <a:solidFill>
            <a:srgbClr val="141821"/>
          </a:solidFill>
          <a:ln cap="flat" cmpd="sng" w="12700">
            <a:solidFill>
              <a:srgbClr val="1418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1"/>
          <p:cNvSpPr/>
          <p:nvPr/>
        </p:nvSpPr>
        <p:spPr>
          <a:xfrm>
            <a:off x="8988552" y="1801368"/>
            <a:ext cx="2459736" cy="2112264"/>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D9E2EC"/>
              </a:buClr>
              <a:buSzPts val="1050"/>
              <a:buFont typeface="Courier New"/>
              <a:buNone/>
            </a:pPr>
            <a:r>
              <a:rPr b="0" i="0" lang="en-US" sz="1050" u="none" cap="none" strike="noStrike">
                <a:solidFill>
                  <a:srgbClr val="D9E2EC"/>
                </a:solidFill>
                <a:latin typeface="Courier New"/>
                <a:ea typeface="Courier New"/>
                <a:cs typeface="Courier New"/>
                <a:sym typeface="Courier New"/>
              </a:rPr>
              <a:t>$ brew install block-goose-cli</a:t>
            </a:r>
            <a:endParaRPr b="0" i="0" sz="105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D9E2EC"/>
              </a:buClr>
              <a:buSzPts val="1050"/>
              <a:buFont typeface="Courier New"/>
              <a:buNone/>
            </a:pPr>
            <a:r>
              <a:rPr b="0" i="0" lang="en-US" sz="1050" u="none" cap="none" strike="noStrike">
                <a:solidFill>
                  <a:srgbClr val="D9E2EC"/>
                </a:solidFill>
                <a:latin typeface="Courier New"/>
                <a:ea typeface="Courier New"/>
                <a:cs typeface="Courier New"/>
                <a:sym typeface="Courier New"/>
              </a:rPr>
              <a:t>$ goose configure</a:t>
            </a:r>
            <a:endParaRPr b="0" i="0" sz="105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D9E2EC"/>
              </a:buClr>
              <a:buSzPts val="1050"/>
              <a:buFont typeface="Courier New"/>
              <a:buNone/>
            </a:pPr>
            <a:r>
              <a:rPr b="0" i="0" lang="en-US" sz="1050" u="none" cap="none" strike="noStrike">
                <a:solidFill>
                  <a:srgbClr val="D9E2EC"/>
                </a:solidFill>
                <a:latin typeface="Courier New"/>
                <a:ea typeface="Courier New"/>
                <a:cs typeface="Courier New"/>
                <a:sym typeface="Courier New"/>
              </a:rPr>
              <a:t>  ◇ Configure Providers</a:t>
            </a:r>
            <a:endParaRPr b="0" i="0" sz="105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D9E2EC"/>
              </a:buClr>
              <a:buSzPts val="1050"/>
              <a:buFont typeface="Courier New"/>
              <a:buNone/>
            </a:pPr>
            <a:r>
              <a:rPr b="0" i="0" lang="en-US" sz="1050" u="none" cap="none" strike="noStrike">
                <a:solidFill>
                  <a:srgbClr val="D9E2EC"/>
                </a:solidFill>
                <a:latin typeface="Courier New"/>
                <a:ea typeface="Courier New"/>
                <a:cs typeface="Courier New"/>
                <a:sym typeface="Courier New"/>
              </a:rPr>
              <a:t>  ◇ Anthropic</a:t>
            </a:r>
            <a:endParaRPr b="0" i="0" sz="105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D9E2EC"/>
              </a:buClr>
              <a:buSzPts val="1050"/>
              <a:buFont typeface="Courier New"/>
              <a:buNone/>
            </a:pPr>
            <a:r>
              <a:rPr b="0" i="0" lang="en-US" sz="1050" u="none" cap="none" strike="noStrike">
                <a:solidFill>
                  <a:srgbClr val="D9E2EC"/>
                </a:solidFill>
                <a:latin typeface="Courier New"/>
                <a:ea typeface="Courier New"/>
                <a:cs typeface="Courier New"/>
                <a:sym typeface="Courier New"/>
              </a:rPr>
              <a:t>  └ Saved</a:t>
            </a:r>
            <a:endParaRPr b="0" i="0" sz="105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D9E2EC"/>
              </a:buClr>
              <a:buSzPts val="1050"/>
              <a:buFont typeface="Courier New"/>
              <a:buNone/>
            </a:pPr>
            <a:r>
              <a:rPr b="0" i="0" lang="en-US" sz="1050" u="none" cap="none" strike="noStrike">
                <a:solidFill>
                  <a:srgbClr val="D9E2EC"/>
                </a:solidFill>
                <a:latin typeface="Courier New"/>
                <a:ea typeface="Courier New"/>
                <a:cs typeface="Courier New"/>
                <a:sym typeface="Courier New"/>
              </a:rPr>
              <a:t>$ goose session</a:t>
            </a:r>
            <a:endParaRPr b="0" i="0" sz="105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D9E2EC"/>
              </a:buClr>
              <a:buSzPts val="1050"/>
              <a:buFont typeface="Courier New"/>
              <a:buNone/>
            </a:pPr>
            <a:r>
              <a:rPr b="0" i="0" lang="en-US" sz="1050" u="none" cap="none" strike="noStrike">
                <a:solidFill>
                  <a:srgbClr val="D9E2EC"/>
                </a:solidFill>
                <a:latin typeface="Courier New"/>
                <a:ea typeface="Courier New"/>
                <a:cs typeface="Courier New"/>
                <a:sym typeface="Courier New"/>
              </a:rPr>
              <a:t>  goose › _</a:t>
            </a:r>
            <a:endParaRPr b="0" i="0" sz="1050" u="none" cap="none" strike="noStrike">
              <a:solidFill>
                <a:schemeClr val="dk1"/>
              </a:solidFill>
              <a:latin typeface="Calibri"/>
              <a:ea typeface="Calibri"/>
              <a:cs typeface="Calibri"/>
              <a:sym typeface="Calibri"/>
            </a:endParaRPr>
          </a:p>
        </p:txBody>
      </p:sp>
      <p:sp>
        <p:nvSpPr>
          <p:cNvPr id="25" name="Google Shape;25;p1"/>
          <p:cNvSpPr/>
          <p:nvPr/>
        </p:nvSpPr>
        <p:spPr>
          <a:xfrm>
            <a:off x="8823960" y="4206240"/>
            <a:ext cx="2788920" cy="64008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7E8899"/>
              </a:buClr>
              <a:buSzPts val="1100"/>
              <a:buFont typeface="Calibri"/>
              <a:buNone/>
            </a:pPr>
            <a:r>
              <a:rPr b="0" i="1" lang="en-US" sz="1100" u="none" cap="none" strike="noStrike">
                <a:solidFill>
                  <a:srgbClr val="7E8899"/>
                </a:solidFill>
                <a:latin typeface="Calibri"/>
                <a:ea typeface="Calibri"/>
                <a:cs typeface="Calibri"/>
                <a:sym typeface="Calibri"/>
              </a:rPr>
              <a:t>Deconstruct the abstraction.</a:t>
            </a:r>
            <a:endParaRPr b="0" i="0" sz="1100" u="none" cap="none" strike="noStrike">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rgbClr val="7E8899"/>
              </a:buClr>
              <a:buSzPts val="1100"/>
              <a:buFont typeface="Calibri"/>
              <a:buNone/>
            </a:pPr>
            <a:r>
              <a:rPr b="0" i="1" lang="en-US" sz="1100" u="none" cap="none" strike="noStrike">
                <a:solidFill>
                  <a:srgbClr val="7E8899"/>
                </a:solidFill>
                <a:latin typeface="Calibri"/>
                <a:ea typeface="Calibri"/>
                <a:cs typeface="Calibri"/>
                <a:sym typeface="Calibri"/>
              </a:rPr>
              <a:t>Expose the kernel truth.</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 name="Shape 30"/>
        <p:cNvGrpSpPr/>
        <p:nvPr/>
      </p:nvGrpSpPr>
      <p:grpSpPr>
        <a:xfrm>
          <a:off x="0" y="0"/>
          <a:ext cx="0" cy="0"/>
          <a:chOff x="0" y="0"/>
          <a:chExt cx="0" cy="0"/>
        </a:xfrm>
      </p:grpSpPr>
      <p:sp>
        <p:nvSpPr>
          <p:cNvPr id="31" name="Google Shape;31;p2"/>
          <p:cNvSpPr/>
          <p:nvPr/>
        </p:nvSpPr>
        <p:spPr>
          <a:xfrm>
            <a:off x="548640" y="384048"/>
            <a:ext cx="475488" cy="475488"/>
          </a:xfrm>
          <a:prstGeom prst="roundRect">
            <a:avLst>
              <a:gd fmla="val 19231" name="adj"/>
            </a:avLst>
          </a:prstGeom>
          <a:solidFill>
            <a:srgbClr val="E09B34"/>
          </a:solidFill>
          <a:ln cap="flat" cmpd="sng" w="12700">
            <a:solidFill>
              <a:srgbClr val="E09B3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548640" y="384048"/>
            <a:ext cx="475488"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1821"/>
              </a:buClr>
              <a:buSzPts val="2000"/>
              <a:buFont typeface="Calibri"/>
              <a:buNone/>
            </a:pPr>
            <a:r>
              <a:rPr b="1" i="0" lang="en-US" sz="2000" u="none" cap="none" strike="noStrike">
                <a:solidFill>
                  <a:srgbClr val="141821"/>
                </a:solidFill>
                <a:latin typeface="Calibri"/>
                <a:ea typeface="Calibri"/>
                <a:cs typeface="Calibri"/>
                <a:sym typeface="Calibri"/>
              </a:rPr>
              <a:t>1</a:t>
            </a:r>
            <a:endParaRPr b="0" i="0" sz="2000" u="none" cap="none" strike="noStrike">
              <a:solidFill>
                <a:schemeClr val="dk1"/>
              </a:solidFill>
              <a:latin typeface="Calibri"/>
              <a:ea typeface="Calibri"/>
              <a:cs typeface="Calibri"/>
              <a:sym typeface="Calibri"/>
            </a:endParaRPr>
          </a:p>
        </p:txBody>
      </p:sp>
      <p:sp>
        <p:nvSpPr>
          <p:cNvPr id="33" name="Google Shape;33;p2"/>
          <p:cNvSpPr/>
          <p:nvPr/>
        </p:nvSpPr>
        <p:spPr>
          <a:xfrm>
            <a:off x="1170432" y="347472"/>
            <a:ext cx="104241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821"/>
              </a:buClr>
              <a:buSzPts val="3000"/>
              <a:buFont typeface="Calibri"/>
              <a:buNone/>
            </a:pPr>
            <a:r>
              <a:rPr b="1" i="0" lang="en-US" sz="3000" u="none" cap="none" strike="noStrike">
                <a:solidFill>
                  <a:srgbClr val="141821"/>
                </a:solidFill>
                <a:latin typeface="Calibri"/>
                <a:ea typeface="Calibri"/>
                <a:cs typeface="Calibri"/>
                <a:sym typeface="Calibri"/>
              </a:rPr>
              <a:t>What Is an Agent?</a:t>
            </a:r>
            <a:endParaRPr b="0" i="0" sz="3000" u="none" cap="none" strike="noStrike">
              <a:solidFill>
                <a:schemeClr val="dk1"/>
              </a:solidFill>
              <a:latin typeface="Calibri"/>
              <a:ea typeface="Calibri"/>
              <a:cs typeface="Calibri"/>
              <a:sym typeface="Calibri"/>
            </a:endParaRPr>
          </a:p>
        </p:txBody>
      </p:sp>
      <p:sp>
        <p:nvSpPr>
          <p:cNvPr id="34" name="Google Shape;34;p2"/>
          <p:cNvSpPr/>
          <p:nvPr/>
        </p:nvSpPr>
        <p:spPr>
          <a:xfrm>
            <a:off x="1170432" y="914400"/>
            <a:ext cx="104241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300"/>
              <a:buFont typeface="Calibri"/>
              <a:buNone/>
            </a:pPr>
            <a:r>
              <a:rPr b="0" i="1" lang="en-US" sz="1300" u="none" cap="none" strike="noStrike">
                <a:solidFill>
                  <a:srgbClr val="6B7280"/>
                </a:solidFill>
                <a:latin typeface="Calibri"/>
                <a:ea typeface="Calibri"/>
                <a:cs typeface="Calibri"/>
                <a:sym typeface="Calibri"/>
              </a:rPr>
              <a:t>Prompt → Context → Agent — </a:t>
            </a:r>
            <a:r>
              <a:rPr i="1" lang="en-US" sz="1300">
                <a:solidFill>
                  <a:srgbClr val="6B7280"/>
                </a:solidFill>
                <a:latin typeface="Calibri"/>
                <a:ea typeface="Calibri"/>
                <a:cs typeface="Calibri"/>
                <a:sym typeface="Calibri"/>
              </a:rPr>
              <a:t>3</a:t>
            </a:r>
            <a:r>
              <a:rPr b="0" i="1" lang="en-US" sz="1300" u="none" cap="none" strike="noStrike">
                <a:solidFill>
                  <a:srgbClr val="6B7280"/>
                </a:solidFill>
                <a:latin typeface="Calibri"/>
                <a:ea typeface="Calibri"/>
                <a:cs typeface="Calibri"/>
                <a:sym typeface="Calibri"/>
              </a:rPr>
              <a:t> layers, each one strictly larger than the last</a:t>
            </a:r>
            <a:endParaRPr b="0" i="0" sz="1300" u="none" cap="none" strike="noStrike">
              <a:solidFill>
                <a:schemeClr val="dk1"/>
              </a:solidFill>
              <a:latin typeface="Calibri"/>
              <a:ea typeface="Calibri"/>
              <a:cs typeface="Calibri"/>
              <a:sym typeface="Calibri"/>
            </a:endParaRPr>
          </a:p>
        </p:txBody>
      </p:sp>
      <p:sp>
        <p:nvSpPr>
          <p:cNvPr id="35" name="Google Shape;35;p2"/>
          <p:cNvSpPr/>
          <p:nvPr/>
        </p:nvSpPr>
        <p:spPr>
          <a:xfrm>
            <a:off x="548640" y="1481328"/>
            <a:ext cx="2679192" cy="2788920"/>
          </a:xfrm>
          <a:prstGeom prst="roundRect">
            <a:avLst>
              <a:gd fmla="val 2048" name="adj"/>
            </a:avLst>
          </a:prstGeom>
          <a:solidFill>
            <a:srgbClr val="F4F6F8"/>
          </a:solidFill>
          <a:ln cap="flat" cmpd="sng" w="12700">
            <a:solidFill>
              <a:srgbClr val="F4F6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749808" y="1645920"/>
            <a:ext cx="2276856"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9B34"/>
              </a:buClr>
              <a:buSzPts val="950"/>
              <a:buFont typeface="Calibri"/>
              <a:buNone/>
            </a:pPr>
            <a:r>
              <a:rPr b="1" i="0" lang="en-US" sz="950" u="none" cap="none" strike="noStrike">
                <a:solidFill>
                  <a:srgbClr val="E09B34"/>
                </a:solidFill>
                <a:latin typeface="Calibri"/>
                <a:ea typeface="Calibri"/>
                <a:cs typeface="Calibri"/>
                <a:sym typeface="Calibri"/>
              </a:rPr>
              <a:t>01</a:t>
            </a:r>
            <a:endParaRPr b="0" i="0" sz="950" u="none" cap="none" strike="noStrike">
              <a:solidFill>
                <a:schemeClr val="dk1"/>
              </a:solidFill>
              <a:latin typeface="Calibri"/>
              <a:ea typeface="Calibri"/>
              <a:cs typeface="Calibri"/>
              <a:sym typeface="Calibri"/>
            </a:endParaRPr>
          </a:p>
        </p:txBody>
      </p:sp>
      <p:sp>
        <p:nvSpPr>
          <p:cNvPr id="37" name="Google Shape;37;p2"/>
          <p:cNvSpPr/>
          <p:nvPr/>
        </p:nvSpPr>
        <p:spPr>
          <a:xfrm>
            <a:off x="749808" y="1883664"/>
            <a:ext cx="227685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821"/>
              </a:buClr>
              <a:buSzPts val="1700"/>
              <a:buFont typeface="Calibri"/>
              <a:buNone/>
            </a:pPr>
            <a:r>
              <a:rPr b="1" i="0" lang="en-US" sz="1700" u="none" cap="none" strike="noStrike">
                <a:solidFill>
                  <a:srgbClr val="141821"/>
                </a:solidFill>
                <a:latin typeface="Calibri"/>
                <a:ea typeface="Calibri"/>
                <a:cs typeface="Calibri"/>
                <a:sym typeface="Calibri"/>
              </a:rPr>
              <a:t>PROMPT</a:t>
            </a:r>
            <a:endParaRPr b="0" i="0" sz="1700" u="none" cap="none" strike="noStrike">
              <a:solidFill>
                <a:schemeClr val="dk1"/>
              </a:solidFill>
              <a:latin typeface="Calibri"/>
              <a:ea typeface="Calibri"/>
              <a:cs typeface="Calibri"/>
              <a:sym typeface="Calibri"/>
            </a:endParaRPr>
          </a:p>
        </p:txBody>
      </p:sp>
      <p:sp>
        <p:nvSpPr>
          <p:cNvPr id="38" name="Google Shape;38;p2"/>
          <p:cNvSpPr/>
          <p:nvPr/>
        </p:nvSpPr>
        <p:spPr>
          <a:xfrm>
            <a:off x="749808" y="2194560"/>
            <a:ext cx="2276856" cy="1947672"/>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3D4553"/>
              </a:buClr>
              <a:buSzPts val="1150"/>
              <a:buFont typeface="Calibri"/>
              <a:buNone/>
            </a:pPr>
            <a:r>
              <a:rPr b="0" i="0" lang="en-US" sz="1150" u="none" cap="none" strike="noStrike">
                <a:solidFill>
                  <a:srgbClr val="3D4553"/>
                </a:solidFill>
                <a:latin typeface="Calibri"/>
                <a:ea typeface="Calibri"/>
                <a:cs typeface="Calibri"/>
                <a:sym typeface="Calibri"/>
              </a:rPr>
              <a:t>The instruction. Natural language describing intent. On its own a model can only produce text — “text in, text out.” No side effects, no state.</a:t>
            </a:r>
            <a:endParaRPr b="0" i="0" sz="1150" u="none" cap="none" strike="noStrike">
              <a:solidFill>
                <a:schemeClr val="dk1"/>
              </a:solidFill>
              <a:latin typeface="Calibri"/>
              <a:ea typeface="Calibri"/>
              <a:cs typeface="Calibri"/>
              <a:sym typeface="Calibri"/>
            </a:endParaRPr>
          </a:p>
        </p:txBody>
      </p:sp>
      <p:sp>
        <p:nvSpPr>
          <p:cNvPr id="39" name="Google Shape;39;p2"/>
          <p:cNvSpPr/>
          <p:nvPr/>
        </p:nvSpPr>
        <p:spPr>
          <a:xfrm>
            <a:off x="3227832" y="1481328"/>
            <a:ext cx="182880" cy="2788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09B34"/>
              </a:buClr>
              <a:buSzPts val="2200"/>
              <a:buFont typeface="Calibri"/>
              <a:buNone/>
            </a:pPr>
            <a:r>
              <a:rPr b="1" i="0" lang="en-US" sz="2200" u="none" cap="none" strike="noStrike">
                <a:solidFill>
                  <a:srgbClr val="E09B34"/>
                </a:solidFill>
                <a:latin typeface="Calibri"/>
                <a:ea typeface="Calibri"/>
                <a:cs typeface="Calibri"/>
                <a:sym typeface="Calibri"/>
              </a:rPr>
              <a:t>›</a:t>
            </a:r>
            <a:endParaRPr b="0" i="0" sz="2200" u="none" cap="none" strike="noStrike">
              <a:solidFill>
                <a:schemeClr val="dk1"/>
              </a:solidFill>
              <a:latin typeface="Calibri"/>
              <a:ea typeface="Calibri"/>
              <a:cs typeface="Calibri"/>
              <a:sym typeface="Calibri"/>
            </a:endParaRPr>
          </a:p>
        </p:txBody>
      </p:sp>
      <p:sp>
        <p:nvSpPr>
          <p:cNvPr id="40" name="Google Shape;40;p2"/>
          <p:cNvSpPr/>
          <p:nvPr/>
        </p:nvSpPr>
        <p:spPr>
          <a:xfrm>
            <a:off x="4750250" y="1540815"/>
            <a:ext cx="2679300" cy="2788800"/>
          </a:xfrm>
          <a:prstGeom prst="roundRect">
            <a:avLst>
              <a:gd fmla="val 2048" name="adj"/>
            </a:avLst>
          </a:prstGeom>
          <a:solidFill>
            <a:srgbClr val="F4F6F8"/>
          </a:solidFill>
          <a:ln cap="flat" cmpd="sng" w="12700">
            <a:solidFill>
              <a:srgbClr val="F4F6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4951418" y="1705408"/>
            <a:ext cx="22770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9B34"/>
              </a:buClr>
              <a:buSzPts val="950"/>
              <a:buFont typeface="Calibri"/>
              <a:buNone/>
            </a:pPr>
            <a:r>
              <a:rPr b="1" i="0" lang="en-US" sz="950" u="none" cap="none" strike="noStrike">
                <a:solidFill>
                  <a:srgbClr val="E09B34"/>
                </a:solidFill>
                <a:latin typeface="Calibri"/>
                <a:ea typeface="Calibri"/>
                <a:cs typeface="Calibri"/>
                <a:sym typeface="Calibri"/>
              </a:rPr>
              <a:t>02</a:t>
            </a:r>
            <a:endParaRPr b="0" i="0" sz="950" u="none" cap="none" strike="noStrike">
              <a:solidFill>
                <a:schemeClr val="dk1"/>
              </a:solidFill>
              <a:latin typeface="Calibri"/>
              <a:ea typeface="Calibri"/>
              <a:cs typeface="Calibri"/>
              <a:sym typeface="Calibri"/>
            </a:endParaRPr>
          </a:p>
        </p:txBody>
      </p:sp>
      <p:sp>
        <p:nvSpPr>
          <p:cNvPr id="42" name="Google Shape;42;p2"/>
          <p:cNvSpPr/>
          <p:nvPr/>
        </p:nvSpPr>
        <p:spPr>
          <a:xfrm>
            <a:off x="4951418" y="1943152"/>
            <a:ext cx="2277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821"/>
              </a:buClr>
              <a:buSzPts val="1700"/>
              <a:buFont typeface="Calibri"/>
              <a:buNone/>
            </a:pPr>
            <a:r>
              <a:rPr b="1" i="0" lang="en-US" sz="1700" u="none" cap="none" strike="noStrike">
                <a:solidFill>
                  <a:srgbClr val="141821"/>
                </a:solidFill>
                <a:latin typeface="Calibri"/>
                <a:ea typeface="Calibri"/>
                <a:cs typeface="Calibri"/>
                <a:sym typeface="Calibri"/>
              </a:rPr>
              <a:t>CONTEXT</a:t>
            </a:r>
            <a:endParaRPr b="0" i="0" sz="1700" u="none" cap="none" strike="noStrike">
              <a:solidFill>
                <a:schemeClr val="dk1"/>
              </a:solidFill>
              <a:latin typeface="Calibri"/>
              <a:ea typeface="Calibri"/>
              <a:cs typeface="Calibri"/>
              <a:sym typeface="Calibri"/>
            </a:endParaRPr>
          </a:p>
        </p:txBody>
      </p:sp>
      <p:sp>
        <p:nvSpPr>
          <p:cNvPr id="43" name="Google Shape;43;p2"/>
          <p:cNvSpPr/>
          <p:nvPr/>
        </p:nvSpPr>
        <p:spPr>
          <a:xfrm>
            <a:off x="4951418" y="2254048"/>
            <a:ext cx="2277000" cy="19476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3D4553"/>
              </a:buClr>
              <a:buSzPts val="1150"/>
              <a:buFont typeface="Calibri"/>
              <a:buNone/>
            </a:pPr>
            <a:r>
              <a:rPr b="0" i="0" lang="en-US" sz="1150" u="none" cap="none" strike="noStrike">
                <a:solidFill>
                  <a:srgbClr val="3D4553"/>
                </a:solidFill>
                <a:latin typeface="Calibri"/>
                <a:ea typeface="Calibri"/>
                <a:cs typeface="Calibri"/>
                <a:sym typeface="Calibri"/>
              </a:rPr>
              <a:t>Everything the model can see this turn: conversation history, file contents, tool schemas, project rules. Context quality sets the ceiling on output quality.</a:t>
            </a:r>
            <a:endParaRPr b="0" i="0" sz="1150" u="none" cap="none" strike="noStrike">
              <a:solidFill>
                <a:schemeClr val="dk1"/>
              </a:solidFill>
              <a:latin typeface="Calibri"/>
              <a:ea typeface="Calibri"/>
              <a:cs typeface="Calibri"/>
              <a:sym typeface="Calibri"/>
            </a:endParaRPr>
          </a:p>
        </p:txBody>
      </p:sp>
      <p:sp>
        <p:nvSpPr>
          <p:cNvPr id="44" name="Google Shape;44;p2"/>
          <p:cNvSpPr/>
          <p:nvPr/>
        </p:nvSpPr>
        <p:spPr>
          <a:xfrm>
            <a:off x="7429441" y="1540815"/>
            <a:ext cx="183000" cy="2788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09B34"/>
              </a:buClr>
              <a:buSzPts val="2200"/>
              <a:buFont typeface="Calibri"/>
              <a:buNone/>
            </a:pPr>
            <a:r>
              <a:rPr b="1" i="0" lang="en-US" sz="2200" u="none" cap="none" strike="noStrike">
                <a:solidFill>
                  <a:srgbClr val="E09B34"/>
                </a:solidFill>
                <a:latin typeface="Calibri"/>
                <a:ea typeface="Calibri"/>
                <a:cs typeface="Calibri"/>
                <a:sym typeface="Calibri"/>
              </a:rPr>
              <a:t>›</a:t>
            </a:r>
            <a:endParaRPr b="0" i="0" sz="2200" u="none" cap="none" strike="noStrike">
              <a:solidFill>
                <a:schemeClr val="dk1"/>
              </a:solidFill>
              <a:latin typeface="Calibri"/>
              <a:ea typeface="Calibri"/>
              <a:cs typeface="Calibri"/>
              <a:sym typeface="Calibri"/>
            </a:endParaRPr>
          </a:p>
        </p:txBody>
      </p:sp>
      <p:sp>
        <p:nvSpPr>
          <p:cNvPr id="45" name="Google Shape;45;p2"/>
          <p:cNvSpPr/>
          <p:nvPr/>
        </p:nvSpPr>
        <p:spPr>
          <a:xfrm>
            <a:off x="8951981" y="1540815"/>
            <a:ext cx="2679300" cy="2788800"/>
          </a:xfrm>
          <a:prstGeom prst="roundRect">
            <a:avLst>
              <a:gd fmla="val 2048" name="adj"/>
            </a:avLst>
          </a:prstGeom>
          <a:solidFill>
            <a:srgbClr val="141821"/>
          </a:solidFill>
          <a:ln cap="flat" cmpd="sng" w="12700">
            <a:solidFill>
              <a:srgbClr val="1418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a:off x="9153149" y="1705408"/>
            <a:ext cx="22770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9B34"/>
              </a:buClr>
              <a:buSzPts val="950"/>
              <a:buFont typeface="Calibri"/>
              <a:buNone/>
            </a:pPr>
            <a:r>
              <a:rPr b="1" i="0" lang="en-US" sz="950" u="none" cap="none" strike="noStrike">
                <a:solidFill>
                  <a:srgbClr val="E09B34"/>
                </a:solidFill>
                <a:latin typeface="Calibri"/>
                <a:ea typeface="Calibri"/>
                <a:cs typeface="Calibri"/>
                <a:sym typeface="Calibri"/>
              </a:rPr>
              <a:t>0</a:t>
            </a:r>
            <a:r>
              <a:rPr b="1" lang="en-US" sz="950">
                <a:solidFill>
                  <a:srgbClr val="E09B34"/>
                </a:solidFill>
                <a:latin typeface="Calibri"/>
                <a:ea typeface="Calibri"/>
                <a:cs typeface="Calibri"/>
                <a:sym typeface="Calibri"/>
              </a:rPr>
              <a:t>3</a:t>
            </a:r>
            <a:endParaRPr b="0" i="0" sz="950" u="none" cap="none" strike="noStrike">
              <a:solidFill>
                <a:schemeClr val="dk1"/>
              </a:solidFill>
              <a:latin typeface="Calibri"/>
              <a:ea typeface="Calibri"/>
              <a:cs typeface="Calibri"/>
              <a:sym typeface="Calibri"/>
            </a:endParaRPr>
          </a:p>
        </p:txBody>
      </p:sp>
      <p:sp>
        <p:nvSpPr>
          <p:cNvPr id="47" name="Google Shape;47;p2"/>
          <p:cNvSpPr/>
          <p:nvPr/>
        </p:nvSpPr>
        <p:spPr>
          <a:xfrm>
            <a:off x="9153149" y="1943152"/>
            <a:ext cx="2277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700"/>
              <a:buFont typeface="Calibri"/>
              <a:buNone/>
            </a:pPr>
            <a:r>
              <a:rPr b="1" i="0" lang="en-US" sz="1700" u="none" cap="none" strike="noStrike">
                <a:solidFill>
                  <a:srgbClr val="FFFFFF"/>
                </a:solidFill>
                <a:latin typeface="Calibri"/>
                <a:ea typeface="Calibri"/>
                <a:cs typeface="Calibri"/>
                <a:sym typeface="Calibri"/>
              </a:rPr>
              <a:t>AGENT</a:t>
            </a:r>
            <a:endParaRPr b="0" i="0" sz="1700" u="none" cap="none" strike="noStrike">
              <a:solidFill>
                <a:schemeClr val="dk1"/>
              </a:solidFill>
              <a:latin typeface="Calibri"/>
              <a:ea typeface="Calibri"/>
              <a:cs typeface="Calibri"/>
              <a:sym typeface="Calibri"/>
            </a:endParaRPr>
          </a:p>
        </p:txBody>
      </p:sp>
      <p:sp>
        <p:nvSpPr>
          <p:cNvPr id="48" name="Google Shape;48;p2"/>
          <p:cNvSpPr/>
          <p:nvPr/>
        </p:nvSpPr>
        <p:spPr>
          <a:xfrm>
            <a:off x="9153149" y="2254048"/>
            <a:ext cx="2277000" cy="19476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B8C1D0"/>
              </a:buClr>
              <a:buSzPts val="1150"/>
              <a:buFont typeface="Calibri"/>
              <a:buNone/>
            </a:pPr>
            <a:r>
              <a:rPr b="0" i="0" lang="en-US" sz="1150" u="none" cap="none" strike="noStrike">
                <a:solidFill>
                  <a:srgbClr val="B8C1D0"/>
                </a:solidFill>
                <a:latin typeface="Calibri"/>
                <a:ea typeface="Calibri"/>
                <a:cs typeface="Calibri"/>
                <a:sym typeface="Calibri"/>
              </a:rPr>
              <a:t>All three in a loop. Model proposes a tool call → harness runs it → result is fed back → repeat until the goal is met or a limit is hit.</a:t>
            </a:r>
            <a:endParaRPr b="0" i="0" sz="1150" u="none" cap="none" strike="noStrike">
              <a:solidFill>
                <a:schemeClr val="dk1"/>
              </a:solidFill>
              <a:latin typeface="Calibri"/>
              <a:ea typeface="Calibri"/>
              <a:cs typeface="Calibri"/>
              <a:sym typeface="Calibri"/>
            </a:endParaRPr>
          </a:p>
        </p:txBody>
      </p:sp>
      <p:sp>
        <p:nvSpPr>
          <p:cNvPr id="49" name="Google Shape;49;p2"/>
          <p:cNvSpPr/>
          <p:nvPr/>
        </p:nvSpPr>
        <p:spPr>
          <a:xfrm>
            <a:off x="548640" y="4498848"/>
            <a:ext cx="11082528" cy="1691640"/>
          </a:xfrm>
          <a:prstGeom prst="roundRect">
            <a:avLst>
              <a:gd fmla="val 3243" name="adj"/>
            </a:avLst>
          </a:prstGeom>
          <a:solidFill>
            <a:srgbClr val="EDF1F4"/>
          </a:solidFill>
          <a:ln cap="flat" cmpd="sng" w="12700">
            <a:solidFill>
              <a:srgbClr val="EDF1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a:off x="749808" y="4663440"/>
            <a:ext cx="1068019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821"/>
              </a:buClr>
              <a:buSzPts val="1500"/>
              <a:buFont typeface="Calibri"/>
              <a:buNone/>
            </a:pPr>
            <a:r>
              <a:rPr b="1" i="0" lang="en-US" sz="1500" u="none" cap="none" strike="noStrike">
                <a:solidFill>
                  <a:srgbClr val="141821"/>
                </a:solidFill>
                <a:latin typeface="Calibri"/>
                <a:ea typeface="Calibri"/>
                <a:cs typeface="Calibri"/>
                <a:sym typeface="Calibri"/>
              </a:rPr>
              <a:t>Why the </a:t>
            </a:r>
            <a:r>
              <a:rPr b="1" lang="en-US" sz="1500">
                <a:solidFill>
                  <a:srgbClr val="141821"/>
                </a:solidFill>
                <a:latin typeface="Calibri"/>
                <a:ea typeface="Calibri"/>
                <a:cs typeface="Calibri"/>
                <a:sym typeface="Calibri"/>
              </a:rPr>
              <a:t>Agent</a:t>
            </a:r>
            <a:r>
              <a:rPr b="1" i="0" lang="en-US" sz="1500" u="none" cap="none" strike="noStrike">
                <a:solidFill>
                  <a:srgbClr val="141821"/>
                </a:solidFill>
                <a:latin typeface="Calibri"/>
                <a:ea typeface="Calibri"/>
                <a:cs typeface="Calibri"/>
                <a:sym typeface="Calibri"/>
              </a:rPr>
              <a:t> is the interesting part</a:t>
            </a:r>
            <a:endParaRPr b="0" i="0" sz="1500" u="none" cap="none" strike="noStrike">
              <a:solidFill>
                <a:schemeClr val="dk1"/>
              </a:solidFill>
              <a:latin typeface="Calibri"/>
              <a:ea typeface="Calibri"/>
              <a:cs typeface="Calibri"/>
              <a:sym typeface="Calibri"/>
            </a:endParaRPr>
          </a:p>
        </p:txBody>
      </p:sp>
      <p:sp>
        <p:nvSpPr>
          <p:cNvPr id="51" name="Google Shape;51;p2"/>
          <p:cNvSpPr/>
          <p:nvPr/>
        </p:nvSpPr>
        <p:spPr>
          <a:xfrm>
            <a:off x="749808" y="4974336"/>
            <a:ext cx="10680192" cy="1088136"/>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3D4553"/>
              </a:buClr>
              <a:buSzPts val="1200"/>
              <a:buFont typeface="Calibri"/>
              <a:buNone/>
            </a:pPr>
            <a:r>
              <a:rPr b="0" i="0" lang="en-US" sz="1200" u="none" cap="none" strike="noStrike">
                <a:solidFill>
                  <a:srgbClr val="3D4553"/>
                </a:solidFill>
                <a:latin typeface="Calibri"/>
                <a:ea typeface="Calibri"/>
                <a:cs typeface="Calibri"/>
                <a:sym typeface="Calibri"/>
              </a:rPr>
              <a:t>•  The model is stateless and cannot execute anything — it can only emit a JSON tool call. Something else has to run it.</a:t>
            </a:r>
            <a:endParaRPr b="0" i="0" sz="12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3D4553"/>
              </a:buClr>
              <a:buSzPts val="1200"/>
              <a:buFont typeface="Calibri"/>
              <a:buNone/>
            </a:pPr>
            <a:r>
              <a:rPr b="0" i="0" lang="en-US" sz="1200" u="none" cap="none" strike="noStrike">
                <a:solidFill>
                  <a:srgbClr val="3D4553"/>
                </a:solidFill>
                <a:latin typeface="Calibri"/>
                <a:ea typeface="Calibri"/>
                <a:cs typeface="Calibri"/>
                <a:sym typeface="Calibri"/>
              </a:rPr>
              <a:t>•  That “something else” decides what the model is allowed to touch, what happens when a call fails, and what stays in context.</a:t>
            </a:r>
            <a:endParaRPr b="0" i="0" sz="12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3D4553"/>
              </a:buClr>
              <a:buSzPts val="1200"/>
              <a:buFont typeface="Calibri"/>
              <a:buNone/>
            </a:pPr>
            <a:r>
              <a:rPr b="0" i="0" lang="en-US" sz="1200" u="none" cap="none" strike="noStrike">
                <a:solidFill>
                  <a:srgbClr val="3D4553"/>
                </a:solidFill>
                <a:latin typeface="Calibri"/>
                <a:ea typeface="Calibri"/>
                <a:cs typeface="Calibri"/>
                <a:sym typeface="Calibri"/>
              </a:rPr>
              <a:t>•  Swap the model and you change quality. Swap the harness and you change what the agent is capable of doing at all.</a:t>
            </a:r>
            <a:endParaRPr b="0" i="0" sz="12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3D4553"/>
              </a:buClr>
              <a:buSzPts val="1200"/>
              <a:buFont typeface="Calibri"/>
              <a:buNone/>
            </a:pPr>
            <a:r>
              <a:rPr b="0" i="0" lang="en-US" sz="1200" u="none" cap="none" strike="noStrike">
                <a:solidFill>
                  <a:srgbClr val="3D4553"/>
                </a:solidFill>
                <a:latin typeface="Calibri"/>
                <a:ea typeface="Calibri"/>
                <a:cs typeface="Calibri"/>
                <a:sym typeface="Calibri"/>
              </a:rPr>
              <a:t>•  Every agent product you know — goose, Claude Code, Cursor, Codex — is a harness competing on loop design, tooling and safety.</a:t>
            </a:r>
            <a:endParaRPr b="0" i="0" sz="1200" u="none" cap="none" strike="noStrike">
              <a:solidFill>
                <a:schemeClr val="dk1"/>
              </a:solidFill>
              <a:latin typeface="Calibri"/>
              <a:ea typeface="Calibri"/>
              <a:cs typeface="Calibri"/>
              <a:sym typeface="Calibri"/>
            </a:endParaRPr>
          </a:p>
        </p:txBody>
      </p:sp>
      <p:sp>
        <p:nvSpPr>
          <p:cNvPr id="52" name="Google Shape;52;p2"/>
          <p:cNvSpPr/>
          <p:nvPr/>
        </p:nvSpPr>
        <p:spPr>
          <a:xfrm>
            <a:off x="548640" y="6355080"/>
            <a:ext cx="11064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50"/>
              <a:buFont typeface="Calibri"/>
              <a:buNone/>
            </a:pPr>
            <a:r>
              <a:rPr b="0" i="0" lang="en-US" sz="950" u="none" cap="none" strike="noStrike">
                <a:solidFill>
                  <a:srgbClr val="6B7280"/>
                </a:solidFill>
                <a:latin typeface="Calibri"/>
                <a:ea typeface="Calibri"/>
                <a:cs typeface="Calibri"/>
                <a:sym typeface="Calibri"/>
              </a:rPr>
              <a:t>Reference: goose-docs.ai/docs/goose-architecture</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 name="Shape 57"/>
        <p:cNvGrpSpPr/>
        <p:nvPr/>
      </p:nvGrpSpPr>
      <p:grpSpPr>
        <a:xfrm>
          <a:off x="0" y="0"/>
          <a:ext cx="0" cy="0"/>
          <a:chOff x="0" y="0"/>
          <a:chExt cx="0" cy="0"/>
        </a:xfrm>
      </p:grpSpPr>
      <p:sp>
        <p:nvSpPr>
          <p:cNvPr id="58" name="Google Shape;58;p3"/>
          <p:cNvSpPr/>
          <p:nvPr/>
        </p:nvSpPr>
        <p:spPr>
          <a:xfrm>
            <a:off x="548640" y="384048"/>
            <a:ext cx="475488" cy="475488"/>
          </a:xfrm>
          <a:prstGeom prst="roundRect">
            <a:avLst>
              <a:gd fmla="val 19231" name="adj"/>
            </a:avLst>
          </a:prstGeom>
          <a:solidFill>
            <a:srgbClr val="E09B34"/>
          </a:solidFill>
          <a:ln cap="flat" cmpd="sng" w="12700">
            <a:solidFill>
              <a:srgbClr val="E09B3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3"/>
          <p:cNvSpPr/>
          <p:nvPr/>
        </p:nvSpPr>
        <p:spPr>
          <a:xfrm>
            <a:off x="548640" y="384048"/>
            <a:ext cx="475488"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1821"/>
              </a:buClr>
              <a:buSzPts val="2000"/>
              <a:buFont typeface="Calibri"/>
              <a:buNone/>
            </a:pPr>
            <a:r>
              <a:rPr b="1" i="0" lang="en-US" sz="2000" u="none" cap="none" strike="noStrike">
                <a:solidFill>
                  <a:srgbClr val="141821"/>
                </a:solidFill>
                <a:latin typeface="Calibri"/>
                <a:ea typeface="Calibri"/>
                <a:cs typeface="Calibri"/>
                <a:sym typeface="Calibri"/>
              </a:rPr>
              <a:t>2</a:t>
            </a:r>
            <a:endParaRPr b="0" i="0" sz="2000" u="none" cap="none" strike="noStrike">
              <a:solidFill>
                <a:schemeClr val="dk1"/>
              </a:solidFill>
              <a:latin typeface="Calibri"/>
              <a:ea typeface="Calibri"/>
              <a:cs typeface="Calibri"/>
              <a:sym typeface="Calibri"/>
            </a:endParaRPr>
          </a:p>
        </p:txBody>
      </p:sp>
      <p:sp>
        <p:nvSpPr>
          <p:cNvPr id="60" name="Google Shape;60;p3"/>
          <p:cNvSpPr/>
          <p:nvPr/>
        </p:nvSpPr>
        <p:spPr>
          <a:xfrm>
            <a:off x="1170432" y="347472"/>
            <a:ext cx="104241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821"/>
              </a:buClr>
              <a:buSzPts val="3000"/>
              <a:buFont typeface="Calibri"/>
              <a:buNone/>
            </a:pPr>
            <a:r>
              <a:rPr b="1" i="0" lang="en-US" sz="3000" u="none" cap="none" strike="noStrike">
                <a:solidFill>
                  <a:srgbClr val="141821"/>
                </a:solidFill>
                <a:latin typeface="Calibri"/>
                <a:ea typeface="Calibri"/>
                <a:cs typeface="Calibri"/>
                <a:sym typeface="Calibri"/>
              </a:rPr>
              <a:t>Introduction to goose</a:t>
            </a:r>
            <a:endParaRPr b="0" i="0" sz="3000" u="none" cap="none" strike="noStrike">
              <a:solidFill>
                <a:schemeClr val="dk1"/>
              </a:solidFill>
              <a:latin typeface="Calibri"/>
              <a:ea typeface="Calibri"/>
              <a:cs typeface="Calibri"/>
              <a:sym typeface="Calibri"/>
            </a:endParaRPr>
          </a:p>
        </p:txBody>
      </p:sp>
      <p:sp>
        <p:nvSpPr>
          <p:cNvPr id="61" name="Google Shape;61;p3"/>
          <p:cNvSpPr/>
          <p:nvPr/>
        </p:nvSpPr>
        <p:spPr>
          <a:xfrm>
            <a:off x="1170432" y="914400"/>
            <a:ext cx="104241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300"/>
              <a:buFont typeface="Calibri"/>
              <a:buNone/>
            </a:pPr>
            <a:r>
              <a:rPr b="0" i="1" lang="en-US" sz="1300" u="none" cap="none" strike="noStrike">
                <a:solidFill>
                  <a:srgbClr val="6B7280"/>
                </a:solidFill>
                <a:latin typeface="Calibri"/>
                <a:ea typeface="Calibri"/>
                <a:cs typeface="Calibri"/>
                <a:sym typeface="Calibri"/>
              </a:rPr>
              <a:t>An open-source, on-machine AI agent — originally built at Block, now governed under the Agentic AI Foundation</a:t>
            </a:r>
            <a:endParaRPr b="0" i="0" sz="1300" u="none" cap="none" strike="noStrike">
              <a:solidFill>
                <a:schemeClr val="dk1"/>
              </a:solidFill>
              <a:latin typeface="Calibri"/>
              <a:ea typeface="Calibri"/>
              <a:cs typeface="Calibri"/>
              <a:sym typeface="Calibri"/>
            </a:endParaRPr>
          </a:p>
        </p:txBody>
      </p:sp>
      <p:sp>
        <p:nvSpPr>
          <p:cNvPr id="62" name="Google Shape;62;p3"/>
          <p:cNvSpPr/>
          <p:nvPr/>
        </p:nvSpPr>
        <p:spPr>
          <a:xfrm>
            <a:off x="548640" y="1481328"/>
            <a:ext cx="5943600" cy="2148840"/>
          </a:xfrm>
          <a:prstGeom prst="roundRect">
            <a:avLst>
              <a:gd fmla="val 2553" name="adj"/>
            </a:avLst>
          </a:prstGeom>
          <a:solidFill>
            <a:srgbClr val="F4F6F8"/>
          </a:solidFill>
          <a:ln cap="flat" cmpd="sng" w="12700">
            <a:solidFill>
              <a:srgbClr val="F4F6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3"/>
          <p:cNvSpPr/>
          <p:nvPr/>
        </p:nvSpPr>
        <p:spPr>
          <a:xfrm>
            <a:off x="749808" y="1645920"/>
            <a:ext cx="554126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821"/>
              </a:buClr>
              <a:buSzPts val="1500"/>
              <a:buFont typeface="Calibri"/>
              <a:buNone/>
            </a:pPr>
            <a:r>
              <a:rPr b="1" i="0" lang="en-US" sz="1500" u="none" cap="none" strike="noStrike">
                <a:solidFill>
                  <a:srgbClr val="141821"/>
                </a:solidFill>
                <a:latin typeface="Calibri"/>
                <a:ea typeface="Calibri"/>
                <a:cs typeface="Calibri"/>
                <a:sym typeface="Calibri"/>
              </a:rPr>
              <a:t>What it actually is</a:t>
            </a:r>
            <a:endParaRPr b="0" i="0" sz="1500" u="none" cap="none" strike="noStrike">
              <a:solidFill>
                <a:schemeClr val="dk1"/>
              </a:solidFill>
              <a:latin typeface="Calibri"/>
              <a:ea typeface="Calibri"/>
              <a:cs typeface="Calibri"/>
              <a:sym typeface="Calibri"/>
            </a:endParaRPr>
          </a:p>
        </p:txBody>
      </p:sp>
      <p:sp>
        <p:nvSpPr>
          <p:cNvPr id="64" name="Google Shape;64;p3"/>
          <p:cNvSpPr/>
          <p:nvPr/>
        </p:nvSpPr>
        <p:spPr>
          <a:xfrm>
            <a:off x="749808" y="1956816"/>
            <a:ext cx="5541264" cy="1545336"/>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3D4553"/>
              </a:buClr>
              <a:buSzPts val="1200"/>
              <a:buFont typeface="Calibri"/>
              <a:buNone/>
            </a:pPr>
            <a:r>
              <a:rPr b="0" i="0" lang="en-US" sz="1200" u="none" cap="none" strike="noStrike">
                <a:solidFill>
                  <a:srgbClr val="3D4553"/>
                </a:solidFill>
                <a:latin typeface="Calibri"/>
                <a:ea typeface="Calibri"/>
                <a:cs typeface="Calibri"/>
                <a:sym typeface="Calibri"/>
              </a:rPr>
              <a:t>goose is a local agent runtime that pairs an LLM with real tools and runs the loop on your machine. It reads and writes your files, runs shell</a:t>
            </a:r>
            <a:r>
              <a:rPr lang="en-US" sz="1200">
                <a:solidFill>
                  <a:schemeClr val="dk1"/>
                </a:solidFill>
                <a:latin typeface="Calibri"/>
                <a:ea typeface="Calibri"/>
                <a:cs typeface="Calibri"/>
                <a:sym typeface="Calibri"/>
              </a:rPr>
              <a:t> </a:t>
            </a:r>
            <a:r>
              <a:rPr b="0" i="0" lang="en-US" sz="1200" u="none" cap="none" strike="noStrike">
                <a:solidFill>
                  <a:srgbClr val="3D4553"/>
                </a:solidFill>
                <a:latin typeface="Calibri"/>
                <a:ea typeface="Calibri"/>
                <a:cs typeface="Calibri"/>
                <a:sym typeface="Calibri"/>
              </a:rPr>
              <a:t>commands, calls APIs, and keeps working until the task is done — not a chat window that suggests snippets.</a:t>
            </a:r>
            <a:endParaRPr b="0" i="0" sz="12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3D4553"/>
              </a:buClr>
              <a:buSzPts val="1200"/>
              <a:buFont typeface="Calibri"/>
              <a:buNone/>
            </a:pPr>
            <a:r>
              <a:rPr b="0" i="0" lang="en-US" sz="1200" u="none" cap="none" strike="noStrike">
                <a:solidFill>
                  <a:srgbClr val="3D4553"/>
                </a:solidFill>
                <a:latin typeface="Calibri"/>
                <a:ea typeface="Calibri"/>
                <a:cs typeface="Calibri"/>
                <a:sym typeface="Calibri"/>
              </a:rPr>
              <a:t>It ships as a Desktop app and a CLI. Both share one configuration, and a session started in one can be resumed in the other.</a:t>
            </a:r>
            <a:endParaRPr b="0" i="0" sz="1200" u="none" cap="none" strike="noStrike">
              <a:solidFill>
                <a:schemeClr val="dk1"/>
              </a:solidFill>
              <a:latin typeface="Calibri"/>
              <a:ea typeface="Calibri"/>
              <a:cs typeface="Calibri"/>
              <a:sym typeface="Calibri"/>
            </a:endParaRPr>
          </a:p>
        </p:txBody>
      </p:sp>
      <p:sp>
        <p:nvSpPr>
          <p:cNvPr id="65" name="Google Shape;65;p3"/>
          <p:cNvSpPr/>
          <p:nvPr/>
        </p:nvSpPr>
        <p:spPr>
          <a:xfrm>
            <a:off x="6693408" y="1481328"/>
            <a:ext cx="2377440" cy="969264"/>
          </a:xfrm>
          <a:prstGeom prst="roundRect">
            <a:avLst>
              <a:gd fmla="val 4717" name="adj"/>
            </a:avLst>
          </a:prstGeom>
          <a:solidFill>
            <a:srgbClr val="EDF1F4"/>
          </a:solidFill>
          <a:ln cap="flat" cmpd="sng" w="12700">
            <a:solidFill>
              <a:srgbClr val="EDF1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839712" y="1572768"/>
            <a:ext cx="2084832" cy="78638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41821"/>
              </a:buClr>
              <a:buSzPts val="1250"/>
              <a:buFont typeface="Calibri"/>
              <a:buNone/>
            </a:pPr>
            <a:r>
              <a:rPr b="1" i="0" lang="en-US" sz="1250" u="none" cap="none" strike="noStrike">
                <a:solidFill>
                  <a:srgbClr val="141821"/>
                </a:solidFill>
                <a:latin typeface="Calibri"/>
                <a:ea typeface="Calibri"/>
                <a:cs typeface="Calibri"/>
                <a:sym typeface="Calibri"/>
              </a:rPr>
              <a:t>Open source</a:t>
            </a:r>
            <a:endParaRPr b="0" i="0" sz="12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4A5262"/>
              </a:buClr>
              <a:buSzPts val="950"/>
              <a:buFont typeface="Calibri"/>
              <a:buNone/>
            </a:pPr>
            <a:r>
              <a:rPr b="0" i="0" lang="en-US" sz="950" u="none" cap="none" strike="noStrike">
                <a:solidFill>
                  <a:srgbClr val="4A5262"/>
                </a:solidFill>
                <a:latin typeface="Calibri"/>
                <a:ea typeface="Calibri"/>
                <a:cs typeface="Calibri"/>
                <a:sym typeface="Calibri"/>
              </a:rPr>
              <a:t>github.com/aaif-goose/goose · AAIF, under the Linux Foundation</a:t>
            </a:r>
            <a:endParaRPr b="0" i="0" sz="1250" u="none" cap="none" strike="noStrike">
              <a:solidFill>
                <a:schemeClr val="dk1"/>
              </a:solidFill>
              <a:latin typeface="Calibri"/>
              <a:ea typeface="Calibri"/>
              <a:cs typeface="Calibri"/>
              <a:sym typeface="Calibri"/>
            </a:endParaRPr>
          </a:p>
        </p:txBody>
      </p:sp>
      <p:sp>
        <p:nvSpPr>
          <p:cNvPr id="67" name="Google Shape;67;p3"/>
          <p:cNvSpPr/>
          <p:nvPr/>
        </p:nvSpPr>
        <p:spPr>
          <a:xfrm>
            <a:off x="9208008" y="1481328"/>
            <a:ext cx="2377440" cy="969264"/>
          </a:xfrm>
          <a:prstGeom prst="roundRect">
            <a:avLst>
              <a:gd fmla="val 4717" name="adj"/>
            </a:avLst>
          </a:prstGeom>
          <a:solidFill>
            <a:srgbClr val="F4F6F8"/>
          </a:solidFill>
          <a:ln cap="flat" cmpd="sng" w="12700">
            <a:solidFill>
              <a:srgbClr val="F4F6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3"/>
          <p:cNvSpPr/>
          <p:nvPr/>
        </p:nvSpPr>
        <p:spPr>
          <a:xfrm>
            <a:off x="9354312" y="1572768"/>
            <a:ext cx="2084832" cy="78638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41821"/>
              </a:buClr>
              <a:buSzPts val="1250"/>
              <a:buFont typeface="Calibri"/>
              <a:buNone/>
            </a:pPr>
            <a:r>
              <a:rPr b="1" i="0" lang="en-US" sz="1250" u="none" cap="none" strike="noStrike">
                <a:solidFill>
                  <a:srgbClr val="141821"/>
                </a:solidFill>
                <a:latin typeface="Calibri"/>
                <a:ea typeface="Calibri"/>
                <a:cs typeface="Calibri"/>
                <a:sym typeface="Calibri"/>
              </a:rPr>
              <a:t>Written in Rust</a:t>
            </a:r>
            <a:endParaRPr b="0" i="0" sz="12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4A5262"/>
              </a:buClr>
              <a:buSzPts val="950"/>
              <a:buFont typeface="Calibri"/>
              <a:buNone/>
            </a:pPr>
            <a:r>
              <a:rPr b="0" i="0" lang="en-US" sz="950" u="none" cap="none" strike="noStrike">
                <a:solidFill>
                  <a:srgbClr val="4A5262"/>
                </a:solidFill>
                <a:latin typeface="Calibri"/>
                <a:ea typeface="Calibri"/>
                <a:cs typeface="Calibri"/>
                <a:sym typeface="Calibri"/>
              </a:rPr>
              <a:t>Local-first runtime; Desktop + CLI share ~/.config/goose</a:t>
            </a:r>
            <a:endParaRPr b="0" i="0" sz="1250" u="none" cap="none" strike="noStrike">
              <a:solidFill>
                <a:schemeClr val="dk1"/>
              </a:solidFill>
              <a:latin typeface="Calibri"/>
              <a:ea typeface="Calibri"/>
              <a:cs typeface="Calibri"/>
              <a:sym typeface="Calibri"/>
            </a:endParaRPr>
          </a:p>
        </p:txBody>
      </p:sp>
      <p:sp>
        <p:nvSpPr>
          <p:cNvPr id="69" name="Google Shape;69;p3"/>
          <p:cNvSpPr/>
          <p:nvPr/>
        </p:nvSpPr>
        <p:spPr>
          <a:xfrm>
            <a:off x="6693408" y="2596896"/>
            <a:ext cx="2377440" cy="969264"/>
          </a:xfrm>
          <a:prstGeom prst="roundRect">
            <a:avLst>
              <a:gd fmla="val 4717" name="adj"/>
            </a:avLst>
          </a:prstGeom>
          <a:solidFill>
            <a:srgbClr val="F4F6F8"/>
          </a:solidFill>
          <a:ln cap="flat" cmpd="sng" w="12700">
            <a:solidFill>
              <a:srgbClr val="F4F6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6839712" y="2688336"/>
            <a:ext cx="2084832" cy="78638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41821"/>
              </a:buClr>
              <a:buSzPts val="1250"/>
              <a:buFont typeface="Calibri"/>
              <a:buNone/>
            </a:pPr>
            <a:r>
              <a:rPr b="1" i="0" lang="en-US" sz="1250" u="none" cap="none" strike="noStrike">
                <a:solidFill>
                  <a:srgbClr val="141821"/>
                </a:solidFill>
                <a:latin typeface="Calibri"/>
                <a:ea typeface="Calibri"/>
                <a:cs typeface="Calibri"/>
                <a:sym typeface="Calibri"/>
              </a:rPr>
              <a:t>Provider-agnostic</a:t>
            </a:r>
            <a:endParaRPr b="0" i="0" sz="12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4A5262"/>
              </a:buClr>
              <a:buSzPts val="950"/>
              <a:buFont typeface="Calibri"/>
              <a:buNone/>
            </a:pPr>
            <a:r>
              <a:rPr b="0" i="0" lang="en-US" sz="950" u="none" cap="none" strike="noStrike">
                <a:solidFill>
                  <a:srgbClr val="4A5262"/>
                </a:solidFill>
                <a:latin typeface="Calibri"/>
                <a:ea typeface="Calibri"/>
                <a:cs typeface="Calibri"/>
                <a:sym typeface="Calibri"/>
              </a:rPr>
              <a:t>Anthropic, OpenAI, Gemini, Ollama, OpenRouter, Tetrate and more</a:t>
            </a:r>
            <a:endParaRPr b="0" i="0" sz="1250" u="none" cap="none" strike="noStrike">
              <a:solidFill>
                <a:schemeClr val="dk1"/>
              </a:solidFill>
              <a:latin typeface="Calibri"/>
              <a:ea typeface="Calibri"/>
              <a:cs typeface="Calibri"/>
              <a:sym typeface="Calibri"/>
            </a:endParaRPr>
          </a:p>
        </p:txBody>
      </p:sp>
      <p:sp>
        <p:nvSpPr>
          <p:cNvPr id="71" name="Google Shape;71;p3"/>
          <p:cNvSpPr/>
          <p:nvPr/>
        </p:nvSpPr>
        <p:spPr>
          <a:xfrm>
            <a:off x="9208008" y="2596896"/>
            <a:ext cx="2377440" cy="969264"/>
          </a:xfrm>
          <a:prstGeom prst="roundRect">
            <a:avLst>
              <a:gd fmla="val 4717" name="adj"/>
            </a:avLst>
          </a:prstGeom>
          <a:solidFill>
            <a:srgbClr val="EDF1F4"/>
          </a:solidFill>
          <a:ln cap="flat" cmpd="sng" w="12700">
            <a:solidFill>
              <a:srgbClr val="EDF1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3"/>
          <p:cNvSpPr/>
          <p:nvPr/>
        </p:nvSpPr>
        <p:spPr>
          <a:xfrm>
            <a:off x="9354312" y="2688336"/>
            <a:ext cx="2084832" cy="78638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41821"/>
              </a:buClr>
              <a:buSzPts val="1250"/>
              <a:buFont typeface="Calibri"/>
              <a:buNone/>
            </a:pPr>
            <a:r>
              <a:rPr b="1" i="0" lang="en-US" sz="1250" u="none" cap="none" strike="noStrike">
                <a:solidFill>
                  <a:srgbClr val="141821"/>
                </a:solidFill>
                <a:latin typeface="Calibri"/>
                <a:ea typeface="Calibri"/>
                <a:cs typeface="Calibri"/>
                <a:sym typeface="Calibri"/>
              </a:rPr>
              <a:t>MCP-native</a:t>
            </a:r>
            <a:endParaRPr b="0" i="0" sz="12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4A5262"/>
              </a:buClr>
              <a:buSzPts val="950"/>
              <a:buFont typeface="Calibri"/>
              <a:buNone/>
            </a:pPr>
            <a:r>
              <a:rPr b="0" i="0" lang="en-US" sz="950" u="none" cap="none" strike="noStrike">
                <a:solidFill>
                  <a:srgbClr val="4A5262"/>
                </a:solidFill>
                <a:latin typeface="Calibri"/>
                <a:ea typeface="Calibri"/>
                <a:cs typeface="Calibri"/>
                <a:sym typeface="Calibri"/>
              </a:rPr>
              <a:t>Capabilities arrive as “extensions” = Model Context Protocol servers</a:t>
            </a:r>
            <a:endParaRPr b="0" i="0" sz="1250" u="none" cap="none" strike="noStrike">
              <a:solidFill>
                <a:schemeClr val="dk1"/>
              </a:solidFill>
              <a:latin typeface="Calibri"/>
              <a:ea typeface="Calibri"/>
              <a:cs typeface="Calibri"/>
              <a:sym typeface="Calibri"/>
            </a:endParaRPr>
          </a:p>
        </p:txBody>
      </p:sp>
      <p:sp>
        <p:nvSpPr>
          <p:cNvPr id="73" name="Google Shape;73;p3"/>
          <p:cNvSpPr/>
          <p:nvPr/>
        </p:nvSpPr>
        <p:spPr>
          <a:xfrm>
            <a:off x="548640" y="3822192"/>
            <a:ext cx="5943600" cy="2377440"/>
          </a:xfrm>
          <a:prstGeom prst="roundRect">
            <a:avLst>
              <a:gd fmla="val 2308" name="adj"/>
            </a:avLst>
          </a:prstGeom>
          <a:solidFill>
            <a:srgbClr val="EDF1F4"/>
          </a:solidFill>
          <a:ln cap="flat" cmpd="sng" w="12700">
            <a:solidFill>
              <a:srgbClr val="EDF1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49808" y="3986784"/>
            <a:ext cx="554126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821"/>
              </a:buClr>
              <a:buSzPts val="1500"/>
              <a:buFont typeface="Calibri"/>
              <a:buNone/>
            </a:pPr>
            <a:r>
              <a:rPr b="1" i="0" lang="en-US" sz="1500" u="none" cap="none" strike="noStrike">
                <a:solidFill>
                  <a:srgbClr val="141821"/>
                </a:solidFill>
                <a:latin typeface="Calibri"/>
                <a:ea typeface="Calibri"/>
                <a:cs typeface="Calibri"/>
                <a:sym typeface="Calibri"/>
              </a:rPr>
              <a:t>What you get out of the box</a:t>
            </a:r>
            <a:endParaRPr b="0" i="0" sz="1500" u="none" cap="none" strike="noStrike">
              <a:solidFill>
                <a:schemeClr val="dk1"/>
              </a:solidFill>
              <a:latin typeface="Calibri"/>
              <a:ea typeface="Calibri"/>
              <a:cs typeface="Calibri"/>
              <a:sym typeface="Calibri"/>
            </a:endParaRPr>
          </a:p>
        </p:txBody>
      </p:sp>
      <p:sp>
        <p:nvSpPr>
          <p:cNvPr id="75" name="Google Shape;75;p3"/>
          <p:cNvSpPr/>
          <p:nvPr/>
        </p:nvSpPr>
        <p:spPr>
          <a:xfrm>
            <a:off x="749808" y="4297680"/>
            <a:ext cx="5541264" cy="1773936"/>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3D4553"/>
              </a:buClr>
              <a:buSzPts val="1200"/>
              <a:buFont typeface="Calibri"/>
              <a:buNone/>
            </a:pPr>
            <a:r>
              <a:rPr b="0" i="0" lang="en-US" sz="1200" u="none" cap="none" strike="noStrike">
                <a:solidFill>
                  <a:srgbClr val="3D4553"/>
                </a:solidFill>
                <a:latin typeface="Calibri"/>
                <a:ea typeface="Calibri"/>
                <a:cs typeface="Calibri"/>
                <a:sym typeface="Calibri"/>
              </a:rPr>
              <a:t>•  Developer extension — shell, file edit, and the analyze tool</a:t>
            </a:r>
            <a:endParaRPr b="0" i="0" sz="12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3D4553"/>
              </a:buClr>
              <a:buSzPts val="1200"/>
              <a:buFont typeface="Calibri"/>
              <a:buNone/>
            </a:pPr>
            <a:r>
              <a:rPr b="0" i="0" lang="en-US" sz="1200" u="none" cap="none" strike="noStrike">
                <a:solidFill>
                  <a:srgbClr val="3D4553"/>
                </a:solidFill>
                <a:latin typeface="Calibri"/>
                <a:ea typeface="Calibri"/>
                <a:cs typeface="Calibri"/>
                <a:sym typeface="Calibri"/>
              </a:rPr>
              <a:t>•  Memory, Computer Controller, Chat Recall and other bundled MCPs</a:t>
            </a:r>
            <a:endParaRPr b="0" i="0" sz="12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3D4553"/>
              </a:buClr>
              <a:buSzPts val="1200"/>
              <a:buFont typeface="Calibri"/>
              <a:buNone/>
            </a:pPr>
            <a:r>
              <a:rPr b="0" i="0" lang="en-US" sz="1200" u="none" cap="none" strike="noStrike">
                <a:solidFill>
                  <a:srgbClr val="3D4553"/>
                </a:solidFill>
                <a:latin typeface="Calibri"/>
                <a:ea typeface="Calibri"/>
                <a:cs typeface="Calibri"/>
                <a:sym typeface="Calibri"/>
              </a:rPr>
              <a:t>•  Persistent sessions in SQLite, resumable across CLI and Desktop</a:t>
            </a:r>
            <a:endParaRPr b="0" i="0" sz="12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3D4553"/>
              </a:buClr>
              <a:buSzPts val="1200"/>
              <a:buFont typeface="Calibri"/>
              <a:buNone/>
            </a:pPr>
            <a:r>
              <a:rPr b="0" i="0" lang="en-US" sz="1200" u="none" cap="none" strike="noStrike">
                <a:solidFill>
                  <a:srgbClr val="3D4553"/>
                </a:solidFill>
                <a:latin typeface="Calibri"/>
                <a:ea typeface="Calibri"/>
                <a:cs typeface="Calibri"/>
                <a:sym typeface="Calibri"/>
              </a:rPr>
              <a:t>•  Recipes: shareable, parameterised, one-click workflows</a:t>
            </a:r>
            <a:endParaRPr b="0" i="0" sz="12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3D4553"/>
              </a:buClr>
              <a:buSzPts val="1200"/>
              <a:buFont typeface="Calibri"/>
              <a:buNone/>
            </a:pPr>
            <a:r>
              <a:rPr b="0" i="0" lang="en-US" sz="1200" u="none" cap="none" strike="noStrike">
                <a:solidFill>
                  <a:srgbClr val="3D4553"/>
                </a:solidFill>
                <a:latin typeface="Calibri"/>
                <a:ea typeface="Calibri"/>
                <a:cs typeface="Calibri"/>
                <a:sym typeface="Calibri"/>
              </a:rPr>
              <a:t>•  Skills, subagents, hooks, plugins and custom slash commands</a:t>
            </a:r>
            <a:endParaRPr b="0" i="0" sz="12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3D4553"/>
              </a:buClr>
              <a:buSzPts val="1200"/>
              <a:buFont typeface="Calibri"/>
              <a:buNone/>
            </a:pPr>
            <a:r>
              <a:rPr b="0" i="0" lang="en-US" sz="1200" u="none" cap="none" strike="noStrike">
                <a:solidFill>
                  <a:srgbClr val="3D4553"/>
                </a:solidFill>
                <a:latin typeface="Calibri"/>
                <a:ea typeface="Calibri"/>
                <a:cs typeface="Calibri"/>
                <a:sym typeface="Calibri"/>
              </a:rPr>
              <a:t>•  Four permission modes, from full autonomy to read-only chat</a:t>
            </a:r>
            <a:endParaRPr b="0" i="0" sz="1200" u="none" cap="none" strike="noStrike">
              <a:solidFill>
                <a:schemeClr val="dk1"/>
              </a:solidFill>
              <a:latin typeface="Calibri"/>
              <a:ea typeface="Calibri"/>
              <a:cs typeface="Calibri"/>
              <a:sym typeface="Calibri"/>
            </a:endParaRPr>
          </a:p>
        </p:txBody>
      </p:sp>
      <p:sp>
        <p:nvSpPr>
          <p:cNvPr id="76" name="Google Shape;76;p3"/>
          <p:cNvSpPr/>
          <p:nvPr/>
        </p:nvSpPr>
        <p:spPr>
          <a:xfrm>
            <a:off x="6693408" y="3822192"/>
            <a:ext cx="4937760" cy="2377440"/>
          </a:xfrm>
          <a:prstGeom prst="roundRect">
            <a:avLst>
              <a:gd fmla="val 1923" name="adj"/>
            </a:avLst>
          </a:prstGeom>
          <a:solidFill>
            <a:srgbClr val="141821"/>
          </a:solidFill>
          <a:ln cap="flat" cmpd="sng" w="12700">
            <a:solidFill>
              <a:srgbClr val="1418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3"/>
          <p:cNvSpPr/>
          <p:nvPr/>
        </p:nvSpPr>
        <p:spPr>
          <a:xfrm>
            <a:off x="6858000" y="3931920"/>
            <a:ext cx="4608576" cy="2157984"/>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D9E2EC"/>
              </a:buClr>
              <a:buSzPts val="1050"/>
              <a:buFont typeface="Courier New"/>
              <a:buNone/>
            </a:pPr>
            <a:r>
              <a:rPr b="0" i="0" lang="en-US" sz="1050" u="none" cap="none" strike="noStrike">
                <a:solidFill>
                  <a:srgbClr val="D9E2EC"/>
                </a:solidFill>
                <a:latin typeface="Courier New"/>
                <a:ea typeface="Courier New"/>
                <a:cs typeface="Courier New"/>
                <a:sym typeface="Courier New"/>
              </a:rPr>
              <a:t>$ goose session          # start an interactive session</a:t>
            </a:r>
            <a:endParaRPr b="0" i="0" sz="105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D9E2EC"/>
              </a:buClr>
              <a:buSzPts val="1050"/>
              <a:buFont typeface="Courier New"/>
              <a:buNone/>
            </a:pPr>
            <a:r>
              <a:rPr b="0" i="0" lang="en-US" sz="1050" u="none" cap="none" strike="noStrike">
                <a:solidFill>
                  <a:srgbClr val="D9E2EC"/>
                </a:solidFill>
                <a:latin typeface="Courier New"/>
                <a:ea typeface="Courier New"/>
                <a:cs typeface="Courier New"/>
                <a:sym typeface="Courier New"/>
              </a:rPr>
              <a:t>$ goose run -i plan.md   # run instructions headlessly</a:t>
            </a:r>
            <a:endParaRPr b="0" i="0" sz="105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D9E2EC"/>
              </a:buClr>
              <a:buSzPts val="1050"/>
              <a:buFont typeface="Courier New"/>
              <a:buNone/>
            </a:pPr>
            <a:r>
              <a:rPr b="0" i="0" lang="en-US" sz="1050" u="none" cap="none" strike="noStrike">
                <a:solidFill>
                  <a:srgbClr val="D9E2EC"/>
                </a:solidFill>
                <a:latin typeface="Courier New"/>
                <a:ea typeface="Courier New"/>
                <a:cs typeface="Courier New"/>
                <a:sym typeface="Courier New"/>
              </a:rPr>
              <a:t>$ goose configure        # providers, extensions, perms</a:t>
            </a:r>
            <a:endParaRPr b="0" i="0" sz="105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D9E2EC"/>
              </a:buClr>
              <a:buSzPts val="1050"/>
              <a:buFont typeface="Courier New"/>
              <a:buNone/>
            </a:pPr>
            <a:r>
              <a:rPr b="0" i="0" lang="en-US" sz="1050" u="none" cap="none" strike="noStrike">
                <a:solidFill>
                  <a:srgbClr val="D9E2EC"/>
                </a:solidFill>
                <a:latin typeface="Courier New"/>
                <a:ea typeface="Courier New"/>
                <a:cs typeface="Courier New"/>
                <a:sym typeface="Courier New"/>
              </a:rPr>
              <a:t>$ goose info -v          # show every active setting</a:t>
            </a:r>
            <a:endParaRPr b="0" i="0" sz="105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D9E2EC"/>
              </a:buClr>
              <a:buSzPts val="1050"/>
              <a:buFont typeface="Courier New"/>
              <a:buNone/>
            </a:pPr>
            <a:r>
              <a:rPr b="0" i="0" lang="en-US" sz="1050" u="none" cap="none" strike="noStrike">
                <a:solidFill>
                  <a:srgbClr val="D9E2EC"/>
                </a:solidFill>
                <a:latin typeface="Courier New"/>
                <a:ea typeface="Courier New"/>
                <a:cs typeface="Courier New"/>
                <a:sym typeface="Courier New"/>
              </a:rPr>
              <a:t>$ goose acp              # expose goose as an ACP server</a:t>
            </a:r>
            <a:endParaRPr b="0" i="0" sz="105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D9E2EC"/>
              </a:buClr>
              <a:buSzPts val="1050"/>
              <a:buFont typeface="Courier New"/>
              <a:buNone/>
            </a:pPr>
            <a:r>
              <a:rPr b="0" i="0" lang="en-US" sz="1050" u="none" cap="none" strike="noStrike">
                <a:solidFill>
                  <a:srgbClr val="D9E2EC"/>
                </a:solidFill>
                <a:latin typeface="Courier New"/>
                <a:ea typeface="Courier New"/>
                <a:cs typeface="Courier New"/>
                <a:sym typeface="Courier New"/>
              </a:rPr>
              <a:t>$ goose update           # upgrade in place</a:t>
            </a:r>
            <a:endParaRPr b="0" i="0" sz="105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D9E2EC"/>
              </a:buClr>
              <a:buSzPts val="1050"/>
              <a:buFont typeface="Courier New"/>
              <a:buNone/>
            </a:pPr>
            <a:r>
              <a:rPr b="0" i="0" lang="en-US" sz="1050" u="none" cap="none" strike="noStrike">
                <a:solidFill>
                  <a:srgbClr val="D9E2EC"/>
                </a:solidFill>
                <a:latin typeface="Courier New"/>
                <a:ea typeface="Courier New"/>
                <a:cs typeface="Courier New"/>
                <a:sym typeface="Courier New"/>
              </a:rPr>
              <a:t>goose › analyze the auth flow in src/ and</a:t>
            </a:r>
            <a:endParaRPr b="0" i="0" sz="105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D9E2EC"/>
              </a:buClr>
              <a:buSzPts val="1050"/>
              <a:buFont typeface="Courier New"/>
              <a:buNone/>
            </a:pPr>
            <a:r>
              <a:rPr b="0" i="0" lang="en-US" sz="1050" u="none" cap="none" strike="noStrike">
                <a:solidFill>
                  <a:srgbClr val="D9E2EC"/>
                </a:solidFill>
                <a:latin typeface="Courier New"/>
                <a:ea typeface="Courier New"/>
                <a:cs typeface="Courier New"/>
                <a:sym typeface="Courier New"/>
              </a:rPr>
              <a:t>        tell me what calls authenticate()</a:t>
            </a:r>
            <a:endParaRPr b="0" i="0" sz="1050" u="none" cap="none" strike="noStrike">
              <a:solidFill>
                <a:schemeClr val="dk1"/>
              </a:solidFill>
              <a:latin typeface="Calibri"/>
              <a:ea typeface="Calibri"/>
              <a:cs typeface="Calibri"/>
              <a:sym typeface="Calibri"/>
            </a:endParaRPr>
          </a:p>
        </p:txBody>
      </p:sp>
      <p:sp>
        <p:nvSpPr>
          <p:cNvPr id="78" name="Google Shape;78;p3"/>
          <p:cNvSpPr/>
          <p:nvPr/>
        </p:nvSpPr>
        <p:spPr>
          <a:xfrm>
            <a:off x="548640" y="6355080"/>
            <a:ext cx="110643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50"/>
              <a:buFont typeface="Calibri"/>
              <a:buNone/>
            </a:pPr>
            <a:r>
              <a:rPr b="0" i="0" lang="en-US" sz="950" u="none" cap="none" strike="noStrike">
                <a:solidFill>
                  <a:srgbClr val="6B7280"/>
                </a:solidFill>
                <a:latin typeface="Calibri"/>
                <a:ea typeface="Calibri"/>
                <a:cs typeface="Calibri"/>
                <a:sym typeface="Calibri"/>
              </a:rPr>
              <a:t>Reference: goose-docs.ai/docs/quickstart</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sp>
        <p:nvSpPr>
          <p:cNvPr id="84" name="Google Shape;84;p4"/>
          <p:cNvSpPr/>
          <p:nvPr/>
        </p:nvSpPr>
        <p:spPr>
          <a:xfrm>
            <a:off x="548640" y="384048"/>
            <a:ext cx="475488" cy="475488"/>
          </a:xfrm>
          <a:prstGeom prst="roundRect">
            <a:avLst>
              <a:gd fmla="val 19231" name="adj"/>
            </a:avLst>
          </a:prstGeom>
          <a:solidFill>
            <a:srgbClr val="E09B34"/>
          </a:solidFill>
          <a:ln cap="flat" cmpd="sng" w="12700">
            <a:solidFill>
              <a:srgbClr val="E09B3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4"/>
          <p:cNvSpPr/>
          <p:nvPr/>
        </p:nvSpPr>
        <p:spPr>
          <a:xfrm>
            <a:off x="548640" y="384048"/>
            <a:ext cx="475488"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1821"/>
              </a:buClr>
              <a:buSzPts val="2000"/>
              <a:buFont typeface="Calibri"/>
              <a:buNone/>
            </a:pPr>
            <a:r>
              <a:rPr b="1" i="0" lang="en-US" sz="2000" u="none" cap="none" strike="noStrike">
                <a:solidFill>
                  <a:srgbClr val="141821"/>
                </a:solidFill>
                <a:latin typeface="Calibri"/>
                <a:ea typeface="Calibri"/>
                <a:cs typeface="Calibri"/>
                <a:sym typeface="Calibri"/>
              </a:rPr>
              <a:t>3</a:t>
            </a:r>
            <a:endParaRPr b="0" i="0" sz="2000" u="none" cap="none" strike="noStrike">
              <a:solidFill>
                <a:schemeClr val="dk1"/>
              </a:solidFill>
              <a:latin typeface="Calibri"/>
              <a:ea typeface="Calibri"/>
              <a:cs typeface="Calibri"/>
              <a:sym typeface="Calibri"/>
            </a:endParaRPr>
          </a:p>
        </p:txBody>
      </p:sp>
      <p:sp>
        <p:nvSpPr>
          <p:cNvPr id="86" name="Google Shape;86;p4"/>
          <p:cNvSpPr/>
          <p:nvPr/>
        </p:nvSpPr>
        <p:spPr>
          <a:xfrm>
            <a:off x="1170432" y="347472"/>
            <a:ext cx="104241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821"/>
              </a:buClr>
              <a:buSzPts val="3000"/>
              <a:buFont typeface="Calibri"/>
              <a:buNone/>
            </a:pPr>
            <a:r>
              <a:rPr b="1" i="0" lang="en-US" sz="3000" u="none" cap="none" strike="noStrike">
                <a:solidFill>
                  <a:srgbClr val="141821"/>
                </a:solidFill>
                <a:latin typeface="Calibri"/>
                <a:ea typeface="Calibri"/>
                <a:cs typeface="Calibri"/>
                <a:sym typeface="Calibri"/>
              </a:rPr>
              <a:t>goose vs Claude Code, Cursor &amp; Codex</a:t>
            </a:r>
            <a:endParaRPr b="0" i="0" sz="3000" u="none" cap="none" strike="noStrike">
              <a:solidFill>
                <a:schemeClr val="dk1"/>
              </a:solidFill>
              <a:latin typeface="Calibri"/>
              <a:ea typeface="Calibri"/>
              <a:cs typeface="Calibri"/>
              <a:sym typeface="Calibri"/>
            </a:endParaRPr>
          </a:p>
        </p:txBody>
      </p:sp>
      <p:sp>
        <p:nvSpPr>
          <p:cNvPr id="87" name="Google Shape;87;p4"/>
          <p:cNvSpPr/>
          <p:nvPr/>
        </p:nvSpPr>
        <p:spPr>
          <a:xfrm>
            <a:off x="1170432" y="914400"/>
            <a:ext cx="104241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300"/>
              <a:buFont typeface="Calibri"/>
              <a:buNone/>
            </a:pPr>
            <a:r>
              <a:rPr b="0" i="1" lang="en-US" sz="1300" u="none" cap="none" strike="noStrike">
                <a:solidFill>
                  <a:srgbClr val="6B7280"/>
                </a:solidFill>
                <a:latin typeface="Calibri"/>
                <a:ea typeface="Calibri"/>
                <a:cs typeface="Calibri"/>
                <a:sym typeface="Calibri"/>
              </a:rPr>
              <a:t>They are all harnesses. They differ in openness, form factor and who owns the runtime.</a:t>
            </a:r>
            <a:endParaRPr b="0" i="0" sz="1300" u="none" cap="none" strike="noStrike">
              <a:solidFill>
                <a:schemeClr val="dk1"/>
              </a:solidFill>
              <a:latin typeface="Calibri"/>
              <a:ea typeface="Calibri"/>
              <a:cs typeface="Calibri"/>
              <a:sym typeface="Calibri"/>
            </a:endParaRPr>
          </a:p>
        </p:txBody>
      </p:sp>
      <p:sp>
        <p:nvSpPr>
          <p:cNvPr id="88" name="Google Shape;88;p4"/>
          <p:cNvSpPr/>
          <p:nvPr/>
        </p:nvSpPr>
        <p:spPr>
          <a:xfrm>
            <a:off x="548640" y="2084832"/>
            <a:ext cx="1572768"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50"/>
              <a:buFont typeface="Calibri"/>
              <a:buNone/>
            </a:pPr>
            <a:r>
              <a:rPr b="1" i="0" lang="en-US" sz="1050" u="none" cap="none" strike="noStrike">
                <a:solidFill>
                  <a:srgbClr val="6B7280"/>
                </a:solidFill>
                <a:latin typeface="Calibri"/>
                <a:ea typeface="Calibri"/>
                <a:cs typeface="Calibri"/>
                <a:sym typeface="Calibri"/>
              </a:rPr>
              <a:t>Form factor</a:t>
            </a:r>
            <a:endParaRPr b="0" i="0" sz="1050" u="none" cap="none" strike="noStrike">
              <a:solidFill>
                <a:schemeClr val="dk1"/>
              </a:solidFill>
              <a:latin typeface="Calibri"/>
              <a:ea typeface="Calibri"/>
              <a:cs typeface="Calibri"/>
              <a:sym typeface="Calibri"/>
            </a:endParaRPr>
          </a:p>
        </p:txBody>
      </p:sp>
      <p:sp>
        <p:nvSpPr>
          <p:cNvPr id="89" name="Google Shape;89;p4"/>
          <p:cNvSpPr/>
          <p:nvPr/>
        </p:nvSpPr>
        <p:spPr>
          <a:xfrm>
            <a:off x="548640" y="2743200"/>
            <a:ext cx="1572768"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50"/>
              <a:buFont typeface="Calibri"/>
              <a:buNone/>
            </a:pPr>
            <a:r>
              <a:rPr b="1" i="0" lang="en-US" sz="1050" u="none" cap="none" strike="noStrike">
                <a:solidFill>
                  <a:srgbClr val="6B7280"/>
                </a:solidFill>
                <a:latin typeface="Calibri"/>
                <a:ea typeface="Calibri"/>
                <a:cs typeface="Calibri"/>
                <a:sym typeface="Calibri"/>
              </a:rPr>
              <a:t>Openness</a:t>
            </a:r>
            <a:endParaRPr b="0" i="0" sz="1050" u="none" cap="none" strike="noStrike">
              <a:solidFill>
                <a:schemeClr val="dk1"/>
              </a:solidFill>
              <a:latin typeface="Calibri"/>
              <a:ea typeface="Calibri"/>
              <a:cs typeface="Calibri"/>
              <a:sym typeface="Calibri"/>
            </a:endParaRPr>
          </a:p>
        </p:txBody>
      </p:sp>
      <p:sp>
        <p:nvSpPr>
          <p:cNvPr id="90" name="Google Shape;90;p4"/>
          <p:cNvSpPr/>
          <p:nvPr/>
        </p:nvSpPr>
        <p:spPr>
          <a:xfrm>
            <a:off x="548640" y="3401568"/>
            <a:ext cx="1572768"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50"/>
              <a:buFont typeface="Calibri"/>
              <a:buNone/>
            </a:pPr>
            <a:r>
              <a:rPr b="1" i="0" lang="en-US" sz="1050" u="none" cap="none" strike="noStrike">
                <a:solidFill>
                  <a:srgbClr val="6B7280"/>
                </a:solidFill>
                <a:latin typeface="Calibri"/>
                <a:ea typeface="Calibri"/>
                <a:cs typeface="Calibri"/>
                <a:sym typeface="Calibri"/>
              </a:rPr>
              <a:t>Model choice</a:t>
            </a:r>
            <a:endParaRPr b="0" i="0" sz="1050" u="none" cap="none" strike="noStrike">
              <a:solidFill>
                <a:schemeClr val="dk1"/>
              </a:solidFill>
              <a:latin typeface="Calibri"/>
              <a:ea typeface="Calibri"/>
              <a:cs typeface="Calibri"/>
              <a:sym typeface="Calibri"/>
            </a:endParaRPr>
          </a:p>
        </p:txBody>
      </p:sp>
      <p:sp>
        <p:nvSpPr>
          <p:cNvPr id="91" name="Google Shape;91;p4"/>
          <p:cNvSpPr/>
          <p:nvPr/>
        </p:nvSpPr>
        <p:spPr>
          <a:xfrm>
            <a:off x="548640" y="4059936"/>
            <a:ext cx="1572768"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50"/>
              <a:buFont typeface="Calibri"/>
              <a:buNone/>
            </a:pPr>
            <a:r>
              <a:rPr b="1" i="0" lang="en-US" sz="1050" u="none" cap="none" strike="noStrike">
                <a:solidFill>
                  <a:srgbClr val="6B7280"/>
                </a:solidFill>
                <a:latin typeface="Calibri"/>
                <a:ea typeface="Calibri"/>
                <a:cs typeface="Calibri"/>
                <a:sym typeface="Calibri"/>
              </a:rPr>
              <a:t>Extensibility</a:t>
            </a:r>
            <a:endParaRPr b="0" i="0" sz="1050" u="none" cap="none" strike="noStrike">
              <a:solidFill>
                <a:schemeClr val="dk1"/>
              </a:solidFill>
              <a:latin typeface="Calibri"/>
              <a:ea typeface="Calibri"/>
              <a:cs typeface="Calibri"/>
              <a:sym typeface="Calibri"/>
            </a:endParaRPr>
          </a:p>
        </p:txBody>
      </p:sp>
      <p:sp>
        <p:nvSpPr>
          <p:cNvPr id="92" name="Google Shape;92;p4"/>
          <p:cNvSpPr/>
          <p:nvPr/>
        </p:nvSpPr>
        <p:spPr>
          <a:xfrm>
            <a:off x="548640" y="4718304"/>
            <a:ext cx="1572768"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50"/>
              <a:buFont typeface="Calibri"/>
              <a:buNone/>
            </a:pPr>
            <a:r>
              <a:rPr b="1" i="0" lang="en-US" sz="1050" u="none" cap="none" strike="noStrike">
                <a:solidFill>
                  <a:srgbClr val="6B7280"/>
                </a:solidFill>
                <a:latin typeface="Calibri"/>
                <a:ea typeface="Calibri"/>
                <a:cs typeface="Calibri"/>
                <a:sym typeface="Calibri"/>
              </a:rPr>
              <a:t>Where it wins</a:t>
            </a:r>
            <a:endParaRPr b="0" i="0" sz="1050" u="none" cap="none" strike="noStrike">
              <a:solidFill>
                <a:schemeClr val="dk1"/>
              </a:solidFill>
              <a:latin typeface="Calibri"/>
              <a:ea typeface="Calibri"/>
              <a:cs typeface="Calibri"/>
              <a:sym typeface="Calibri"/>
            </a:endParaRPr>
          </a:p>
        </p:txBody>
      </p:sp>
      <p:sp>
        <p:nvSpPr>
          <p:cNvPr id="93" name="Google Shape;93;p4"/>
          <p:cNvSpPr/>
          <p:nvPr/>
        </p:nvSpPr>
        <p:spPr>
          <a:xfrm>
            <a:off x="2212848" y="1417320"/>
            <a:ext cx="2286000" cy="603504"/>
          </a:xfrm>
          <a:prstGeom prst="roundRect">
            <a:avLst>
              <a:gd fmla="val 9091" name="adj"/>
            </a:avLst>
          </a:prstGeom>
          <a:solidFill>
            <a:srgbClr val="141821"/>
          </a:solidFill>
          <a:ln cap="flat" cmpd="sng" w="12700">
            <a:solidFill>
              <a:srgbClr val="1418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4"/>
          <p:cNvSpPr/>
          <p:nvPr/>
        </p:nvSpPr>
        <p:spPr>
          <a:xfrm>
            <a:off x="2340864" y="1463040"/>
            <a:ext cx="2029968" cy="512064"/>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E09B34"/>
              </a:buClr>
              <a:buSzPts val="1350"/>
              <a:buFont typeface="Calibri"/>
              <a:buNone/>
            </a:pPr>
            <a:r>
              <a:rPr b="1" i="0" lang="en-US" sz="1350" u="none" cap="none" strike="noStrike">
                <a:solidFill>
                  <a:srgbClr val="E09B34"/>
                </a:solidFill>
                <a:latin typeface="Calibri"/>
                <a:ea typeface="Calibri"/>
                <a:cs typeface="Calibri"/>
                <a:sym typeface="Calibri"/>
              </a:rPr>
              <a:t>goose</a:t>
            </a:r>
            <a:endParaRPr b="0" i="0" sz="1350" u="none" cap="none" strike="noStrike">
              <a:solidFill>
                <a:schemeClr val="dk1"/>
              </a:solidFill>
              <a:latin typeface="Calibri"/>
              <a:ea typeface="Calibri"/>
              <a:cs typeface="Calibri"/>
              <a:sym typeface="Calibri"/>
            </a:endParaRPr>
          </a:p>
          <a:p>
            <a:pPr indent="0" lvl="0" marL="0" marR="0" rtl="0" algn="l">
              <a:lnSpc>
                <a:spcPct val="95000"/>
              </a:lnSpc>
              <a:spcBef>
                <a:spcPts val="0"/>
              </a:spcBef>
              <a:spcAft>
                <a:spcPts val="0"/>
              </a:spcAft>
              <a:buClr>
                <a:srgbClr val="97A2B4"/>
              </a:buClr>
              <a:buSzPts val="900"/>
              <a:buFont typeface="Calibri"/>
              <a:buNone/>
            </a:pPr>
            <a:r>
              <a:rPr b="0" i="0" lang="en-US" sz="900" u="none" cap="none" strike="noStrike">
                <a:solidFill>
                  <a:srgbClr val="97A2B4"/>
                </a:solidFill>
                <a:latin typeface="Calibri"/>
                <a:ea typeface="Calibri"/>
                <a:cs typeface="Calibri"/>
                <a:sym typeface="Calibri"/>
              </a:rPr>
              <a:t>AAIF / open source</a:t>
            </a:r>
            <a:endParaRPr b="0" i="0" sz="1350" u="none" cap="none" strike="noStrike">
              <a:solidFill>
                <a:schemeClr val="dk1"/>
              </a:solidFill>
              <a:latin typeface="Calibri"/>
              <a:ea typeface="Calibri"/>
              <a:cs typeface="Calibri"/>
              <a:sym typeface="Calibri"/>
            </a:endParaRPr>
          </a:p>
        </p:txBody>
      </p:sp>
      <p:sp>
        <p:nvSpPr>
          <p:cNvPr id="95" name="Google Shape;95;p4"/>
          <p:cNvSpPr/>
          <p:nvPr/>
        </p:nvSpPr>
        <p:spPr>
          <a:xfrm>
            <a:off x="2212848" y="2084832"/>
            <a:ext cx="2286000" cy="603504"/>
          </a:xfrm>
          <a:prstGeom prst="roundRect">
            <a:avLst>
              <a:gd fmla="val 7576" name="adj"/>
            </a:avLst>
          </a:prstGeom>
          <a:solidFill>
            <a:srgbClr val="F4F6F8"/>
          </a:solidFill>
          <a:ln cap="flat" cmpd="sng" w="12700">
            <a:solidFill>
              <a:srgbClr val="F4F6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4"/>
          <p:cNvSpPr/>
          <p:nvPr/>
        </p:nvSpPr>
        <p:spPr>
          <a:xfrm>
            <a:off x="2340864" y="2121408"/>
            <a:ext cx="2029968" cy="530352"/>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3D4553"/>
              </a:buClr>
              <a:buSzPts val="950"/>
              <a:buFont typeface="Calibri"/>
              <a:buNone/>
            </a:pPr>
            <a:r>
              <a:rPr b="0" i="0" lang="en-US" sz="950" u="none" cap="none" strike="noStrike">
                <a:solidFill>
                  <a:srgbClr val="3D4553"/>
                </a:solidFill>
                <a:latin typeface="Calibri"/>
                <a:ea typeface="Calibri"/>
                <a:cs typeface="Calibri"/>
                <a:sym typeface="Calibri"/>
              </a:rPr>
              <a:t>Desktop app + CLI + ACP server</a:t>
            </a:r>
            <a:endParaRPr b="0" i="0" sz="950" u="none" cap="none" strike="noStrike">
              <a:solidFill>
                <a:schemeClr val="dk1"/>
              </a:solidFill>
              <a:latin typeface="Calibri"/>
              <a:ea typeface="Calibri"/>
              <a:cs typeface="Calibri"/>
              <a:sym typeface="Calibri"/>
            </a:endParaRPr>
          </a:p>
        </p:txBody>
      </p:sp>
      <p:sp>
        <p:nvSpPr>
          <p:cNvPr id="97" name="Google Shape;97;p4"/>
          <p:cNvSpPr/>
          <p:nvPr/>
        </p:nvSpPr>
        <p:spPr>
          <a:xfrm>
            <a:off x="2212848" y="2743200"/>
            <a:ext cx="2286000" cy="603504"/>
          </a:xfrm>
          <a:prstGeom prst="roundRect">
            <a:avLst>
              <a:gd fmla="val 7576" name="adj"/>
            </a:avLst>
          </a:prstGeom>
          <a:solidFill>
            <a:srgbClr val="FFFFFF"/>
          </a:solidFill>
          <a:ln cap="flat" cmpd="sng" w="12700">
            <a:solidFill>
              <a:srgbClr val="DFE3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4"/>
          <p:cNvSpPr/>
          <p:nvPr/>
        </p:nvSpPr>
        <p:spPr>
          <a:xfrm>
            <a:off x="2340864" y="2779776"/>
            <a:ext cx="2029968" cy="530352"/>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3D4553"/>
              </a:buClr>
              <a:buSzPts val="950"/>
              <a:buFont typeface="Calibri"/>
              <a:buNone/>
            </a:pPr>
            <a:r>
              <a:rPr b="0" i="0" lang="en-US" sz="950" u="none" cap="none" strike="noStrike">
                <a:solidFill>
                  <a:srgbClr val="3D4553"/>
                </a:solidFill>
                <a:latin typeface="Calibri"/>
                <a:ea typeface="Calibri"/>
                <a:cs typeface="Calibri"/>
                <a:sym typeface="Calibri"/>
              </a:rPr>
              <a:t>Fully open source, Rust</a:t>
            </a:r>
            <a:endParaRPr b="0" i="0" sz="950" u="none" cap="none" strike="noStrike">
              <a:solidFill>
                <a:schemeClr val="dk1"/>
              </a:solidFill>
              <a:latin typeface="Calibri"/>
              <a:ea typeface="Calibri"/>
              <a:cs typeface="Calibri"/>
              <a:sym typeface="Calibri"/>
            </a:endParaRPr>
          </a:p>
        </p:txBody>
      </p:sp>
      <p:sp>
        <p:nvSpPr>
          <p:cNvPr id="99" name="Google Shape;99;p4"/>
          <p:cNvSpPr/>
          <p:nvPr/>
        </p:nvSpPr>
        <p:spPr>
          <a:xfrm>
            <a:off x="2212848" y="3401568"/>
            <a:ext cx="2286000" cy="603504"/>
          </a:xfrm>
          <a:prstGeom prst="roundRect">
            <a:avLst>
              <a:gd fmla="val 7576" name="adj"/>
            </a:avLst>
          </a:prstGeom>
          <a:solidFill>
            <a:srgbClr val="F4F6F8"/>
          </a:solidFill>
          <a:ln cap="flat" cmpd="sng" w="12700">
            <a:solidFill>
              <a:srgbClr val="F4F6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
          <p:cNvSpPr/>
          <p:nvPr/>
        </p:nvSpPr>
        <p:spPr>
          <a:xfrm>
            <a:off x="2340864" y="3438144"/>
            <a:ext cx="2029968" cy="530352"/>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3D4553"/>
              </a:buClr>
              <a:buSzPts val="950"/>
              <a:buFont typeface="Calibri"/>
              <a:buNone/>
            </a:pPr>
            <a:r>
              <a:rPr b="0" i="0" lang="en-US" sz="950" u="none" cap="none" strike="noStrike">
                <a:solidFill>
                  <a:srgbClr val="3D4553"/>
                </a:solidFill>
                <a:latin typeface="Calibri"/>
                <a:ea typeface="Calibri"/>
                <a:cs typeface="Calibri"/>
                <a:sym typeface="Calibri"/>
              </a:rPr>
              <a:t>Any provider; swap freely</a:t>
            </a:r>
            <a:endParaRPr b="0" i="0" sz="950" u="none" cap="none" strike="noStrike">
              <a:solidFill>
                <a:schemeClr val="dk1"/>
              </a:solidFill>
              <a:latin typeface="Calibri"/>
              <a:ea typeface="Calibri"/>
              <a:cs typeface="Calibri"/>
              <a:sym typeface="Calibri"/>
            </a:endParaRPr>
          </a:p>
        </p:txBody>
      </p:sp>
      <p:sp>
        <p:nvSpPr>
          <p:cNvPr id="101" name="Google Shape;101;p4"/>
          <p:cNvSpPr/>
          <p:nvPr/>
        </p:nvSpPr>
        <p:spPr>
          <a:xfrm>
            <a:off x="2212848" y="4059936"/>
            <a:ext cx="2286000" cy="603504"/>
          </a:xfrm>
          <a:prstGeom prst="roundRect">
            <a:avLst>
              <a:gd fmla="val 7576" name="adj"/>
            </a:avLst>
          </a:prstGeom>
          <a:solidFill>
            <a:srgbClr val="FFFFFF"/>
          </a:solidFill>
          <a:ln cap="flat" cmpd="sng" w="12700">
            <a:solidFill>
              <a:srgbClr val="DFE3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4"/>
          <p:cNvSpPr/>
          <p:nvPr/>
        </p:nvSpPr>
        <p:spPr>
          <a:xfrm>
            <a:off x="2340864" y="4096512"/>
            <a:ext cx="2029968" cy="530352"/>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3D4553"/>
              </a:buClr>
              <a:buSzPts val="950"/>
              <a:buFont typeface="Calibri"/>
              <a:buNone/>
            </a:pPr>
            <a:r>
              <a:rPr b="0" i="0" lang="en-US" sz="950" u="none" cap="none" strike="noStrike">
                <a:solidFill>
                  <a:srgbClr val="3D4553"/>
                </a:solidFill>
                <a:latin typeface="Calibri"/>
                <a:ea typeface="Calibri"/>
                <a:cs typeface="Calibri"/>
                <a:sym typeface="Calibri"/>
              </a:rPr>
              <a:t>MCP extensions, recipes, skills, hooks, subagents</a:t>
            </a:r>
            <a:endParaRPr b="0" i="0" sz="950" u="none" cap="none" strike="noStrike">
              <a:solidFill>
                <a:schemeClr val="dk1"/>
              </a:solidFill>
              <a:latin typeface="Calibri"/>
              <a:ea typeface="Calibri"/>
              <a:cs typeface="Calibri"/>
              <a:sym typeface="Calibri"/>
            </a:endParaRPr>
          </a:p>
        </p:txBody>
      </p:sp>
      <p:sp>
        <p:nvSpPr>
          <p:cNvPr id="103" name="Google Shape;103;p4"/>
          <p:cNvSpPr/>
          <p:nvPr/>
        </p:nvSpPr>
        <p:spPr>
          <a:xfrm>
            <a:off x="2212848" y="4718304"/>
            <a:ext cx="2286000" cy="603504"/>
          </a:xfrm>
          <a:prstGeom prst="roundRect">
            <a:avLst>
              <a:gd fmla="val 7576" name="adj"/>
            </a:avLst>
          </a:prstGeom>
          <a:solidFill>
            <a:srgbClr val="F4F6F8"/>
          </a:solidFill>
          <a:ln cap="flat" cmpd="sng" w="12700">
            <a:solidFill>
              <a:srgbClr val="F4F6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4"/>
          <p:cNvSpPr/>
          <p:nvPr/>
        </p:nvSpPr>
        <p:spPr>
          <a:xfrm>
            <a:off x="2340864" y="4754880"/>
            <a:ext cx="2029968" cy="530352"/>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3D4553"/>
              </a:buClr>
              <a:buSzPts val="950"/>
              <a:buFont typeface="Calibri"/>
              <a:buNone/>
            </a:pPr>
            <a:r>
              <a:rPr b="0" i="0" lang="en-US" sz="950" u="none" cap="none" strike="noStrike">
                <a:solidFill>
                  <a:srgbClr val="3D4553"/>
                </a:solidFill>
                <a:latin typeface="Calibri"/>
                <a:ea typeface="Calibri"/>
                <a:cs typeface="Calibri"/>
                <a:sym typeface="Calibri"/>
              </a:rPr>
              <a:t>You own the runtime — embed or fork it</a:t>
            </a:r>
            <a:endParaRPr b="0" i="0" sz="950" u="none" cap="none" strike="noStrike">
              <a:solidFill>
                <a:schemeClr val="dk1"/>
              </a:solidFill>
              <a:latin typeface="Calibri"/>
              <a:ea typeface="Calibri"/>
              <a:cs typeface="Calibri"/>
              <a:sym typeface="Calibri"/>
            </a:endParaRPr>
          </a:p>
        </p:txBody>
      </p:sp>
      <p:sp>
        <p:nvSpPr>
          <p:cNvPr id="105" name="Google Shape;105;p4"/>
          <p:cNvSpPr/>
          <p:nvPr/>
        </p:nvSpPr>
        <p:spPr>
          <a:xfrm>
            <a:off x="4608576" y="1417320"/>
            <a:ext cx="2286000" cy="603504"/>
          </a:xfrm>
          <a:prstGeom prst="roundRect">
            <a:avLst>
              <a:gd fmla="val 9091" name="adj"/>
            </a:avLst>
          </a:prstGeom>
          <a:solidFill>
            <a:srgbClr val="EDF1F4"/>
          </a:solidFill>
          <a:ln cap="flat" cmpd="sng" w="12700">
            <a:solidFill>
              <a:srgbClr val="EDF1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4"/>
          <p:cNvSpPr/>
          <p:nvPr/>
        </p:nvSpPr>
        <p:spPr>
          <a:xfrm>
            <a:off x="4736592" y="1463040"/>
            <a:ext cx="2029968" cy="512064"/>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141821"/>
              </a:buClr>
              <a:buSzPts val="1350"/>
              <a:buFont typeface="Calibri"/>
              <a:buNone/>
            </a:pPr>
            <a:r>
              <a:rPr b="1" i="0" lang="en-US" sz="1350" u="none" cap="none" strike="noStrike">
                <a:solidFill>
                  <a:srgbClr val="141821"/>
                </a:solidFill>
                <a:latin typeface="Calibri"/>
                <a:ea typeface="Calibri"/>
                <a:cs typeface="Calibri"/>
                <a:sym typeface="Calibri"/>
              </a:rPr>
              <a:t>Claude Code</a:t>
            </a:r>
            <a:endParaRPr b="0" i="0" sz="1350" u="none" cap="none" strike="noStrike">
              <a:solidFill>
                <a:schemeClr val="dk1"/>
              </a:solidFill>
              <a:latin typeface="Calibri"/>
              <a:ea typeface="Calibri"/>
              <a:cs typeface="Calibri"/>
              <a:sym typeface="Calibri"/>
            </a:endParaRPr>
          </a:p>
          <a:p>
            <a:pPr indent="0" lvl="0" marL="0" marR="0" rtl="0" algn="l">
              <a:lnSpc>
                <a:spcPct val="95000"/>
              </a:lnSpc>
              <a:spcBef>
                <a:spcPts val="0"/>
              </a:spcBef>
              <a:spcAft>
                <a:spcPts val="0"/>
              </a:spcAft>
              <a:buClr>
                <a:srgbClr val="6B7280"/>
              </a:buClr>
              <a:buSzPts val="900"/>
              <a:buFont typeface="Calibri"/>
              <a:buNone/>
            </a:pPr>
            <a:r>
              <a:rPr b="0" i="0" lang="en-US" sz="900" u="none" cap="none" strike="noStrike">
                <a:solidFill>
                  <a:srgbClr val="6B7280"/>
                </a:solidFill>
                <a:latin typeface="Calibri"/>
                <a:ea typeface="Calibri"/>
                <a:cs typeface="Calibri"/>
                <a:sym typeface="Calibri"/>
              </a:rPr>
              <a:t>Anthropic</a:t>
            </a:r>
            <a:endParaRPr b="0" i="0" sz="1350" u="none" cap="none" strike="noStrike">
              <a:solidFill>
                <a:schemeClr val="dk1"/>
              </a:solidFill>
              <a:latin typeface="Calibri"/>
              <a:ea typeface="Calibri"/>
              <a:cs typeface="Calibri"/>
              <a:sym typeface="Calibri"/>
            </a:endParaRPr>
          </a:p>
        </p:txBody>
      </p:sp>
      <p:sp>
        <p:nvSpPr>
          <p:cNvPr id="107" name="Google Shape;107;p4"/>
          <p:cNvSpPr/>
          <p:nvPr/>
        </p:nvSpPr>
        <p:spPr>
          <a:xfrm>
            <a:off x="4608576" y="2084832"/>
            <a:ext cx="2286000" cy="603504"/>
          </a:xfrm>
          <a:prstGeom prst="roundRect">
            <a:avLst>
              <a:gd fmla="val 7576" name="adj"/>
            </a:avLst>
          </a:prstGeom>
          <a:solidFill>
            <a:srgbClr val="F4F6F8"/>
          </a:solidFill>
          <a:ln cap="flat" cmpd="sng" w="12700">
            <a:solidFill>
              <a:srgbClr val="F4F6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4"/>
          <p:cNvSpPr/>
          <p:nvPr/>
        </p:nvSpPr>
        <p:spPr>
          <a:xfrm>
            <a:off x="4736592" y="2121408"/>
            <a:ext cx="2029968" cy="530352"/>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3D4553"/>
              </a:buClr>
              <a:buSzPts val="950"/>
              <a:buFont typeface="Calibri"/>
              <a:buNone/>
            </a:pPr>
            <a:r>
              <a:rPr b="0" i="0" lang="en-US" sz="950" u="none" cap="none" strike="noStrike">
                <a:solidFill>
                  <a:srgbClr val="3D4553"/>
                </a:solidFill>
                <a:latin typeface="Calibri"/>
                <a:ea typeface="Calibri"/>
                <a:cs typeface="Calibri"/>
                <a:sym typeface="Calibri"/>
              </a:rPr>
              <a:t>CLI + IDE + desktop</a:t>
            </a:r>
            <a:endParaRPr b="0" i="0" sz="950" u="none" cap="none" strike="noStrike">
              <a:solidFill>
                <a:schemeClr val="dk1"/>
              </a:solidFill>
              <a:latin typeface="Calibri"/>
              <a:ea typeface="Calibri"/>
              <a:cs typeface="Calibri"/>
              <a:sym typeface="Calibri"/>
            </a:endParaRPr>
          </a:p>
        </p:txBody>
      </p:sp>
      <p:sp>
        <p:nvSpPr>
          <p:cNvPr id="109" name="Google Shape;109;p4"/>
          <p:cNvSpPr/>
          <p:nvPr/>
        </p:nvSpPr>
        <p:spPr>
          <a:xfrm>
            <a:off x="4608576" y="2743200"/>
            <a:ext cx="2286000" cy="603504"/>
          </a:xfrm>
          <a:prstGeom prst="roundRect">
            <a:avLst>
              <a:gd fmla="val 7576" name="adj"/>
            </a:avLst>
          </a:prstGeom>
          <a:solidFill>
            <a:srgbClr val="FFFFFF"/>
          </a:solidFill>
          <a:ln cap="flat" cmpd="sng" w="12700">
            <a:solidFill>
              <a:srgbClr val="DFE3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4"/>
          <p:cNvSpPr/>
          <p:nvPr/>
        </p:nvSpPr>
        <p:spPr>
          <a:xfrm>
            <a:off x="4736592" y="2779776"/>
            <a:ext cx="2029968" cy="530352"/>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3D4553"/>
              </a:buClr>
              <a:buSzPts val="950"/>
              <a:buFont typeface="Calibri"/>
              <a:buNone/>
            </a:pPr>
            <a:r>
              <a:rPr b="0" i="0" lang="en-US" sz="950" u="none" cap="none" strike="noStrike">
                <a:solidFill>
                  <a:srgbClr val="3D4553"/>
                </a:solidFill>
                <a:latin typeface="Calibri"/>
                <a:ea typeface="Calibri"/>
                <a:cs typeface="Calibri"/>
                <a:sym typeface="Calibri"/>
              </a:rPr>
              <a:t>Proprietary client</a:t>
            </a:r>
            <a:endParaRPr b="0" i="0" sz="950" u="none" cap="none" strike="noStrike">
              <a:solidFill>
                <a:schemeClr val="dk1"/>
              </a:solidFill>
              <a:latin typeface="Calibri"/>
              <a:ea typeface="Calibri"/>
              <a:cs typeface="Calibri"/>
              <a:sym typeface="Calibri"/>
            </a:endParaRPr>
          </a:p>
        </p:txBody>
      </p:sp>
      <p:sp>
        <p:nvSpPr>
          <p:cNvPr id="111" name="Google Shape;111;p4"/>
          <p:cNvSpPr/>
          <p:nvPr/>
        </p:nvSpPr>
        <p:spPr>
          <a:xfrm>
            <a:off x="4608576" y="3401568"/>
            <a:ext cx="2286000" cy="603504"/>
          </a:xfrm>
          <a:prstGeom prst="roundRect">
            <a:avLst>
              <a:gd fmla="val 7576" name="adj"/>
            </a:avLst>
          </a:prstGeom>
          <a:solidFill>
            <a:srgbClr val="F4F6F8"/>
          </a:solidFill>
          <a:ln cap="flat" cmpd="sng" w="12700">
            <a:solidFill>
              <a:srgbClr val="F4F6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4"/>
          <p:cNvSpPr/>
          <p:nvPr/>
        </p:nvSpPr>
        <p:spPr>
          <a:xfrm>
            <a:off x="4736592" y="3438144"/>
            <a:ext cx="2029968" cy="530352"/>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3D4553"/>
              </a:buClr>
              <a:buSzPts val="950"/>
              <a:buFont typeface="Calibri"/>
              <a:buNone/>
            </a:pPr>
            <a:r>
              <a:rPr b="0" i="0" lang="en-US" sz="950" u="none" cap="none" strike="noStrike">
                <a:solidFill>
                  <a:srgbClr val="3D4553"/>
                </a:solidFill>
                <a:latin typeface="Calibri"/>
                <a:ea typeface="Calibri"/>
                <a:cs typeface="Calibri"/>
                <a:sym typeface="Calibri"/>
              </a:rPr>
              <a:t>Anthropic models</a:t>
            </a:r>
            <a:endParaRPr b="0" i="0" sz="950" u="none" cap="none" strike="noStrike">
              <a:solidFill>
                <a:schemeClr val="dk1"/>
              </a:solidFill>
              <a:latin typeface="Calibri"/>
              <a:ea typeface="Calibri"/>
              <a:cs typeface="Calibri"/>
              <a:sym typeface="Calibri"/>
            </a:endParaRPr>
          </a:p>
        </p:txBody>
      </p:sp>
      <p:sp>
        <p:nvSpPr>
          <p:cNvPr id="113" name="Google Shape;113;p4"/>
          <p:cNvSpPr/>
          <p:nvPr/>
        </p:nvSpPr>
        <p:spPr>
          <a:xfrm>
            <a:off x="4608576" y="4059936"/>
            <a:ext cx="2286000" cy="603504"/>
          </a:xfrm>
          <a:prstGeom prst="roundRect">
            <a:avLst>
              <a:gd fmla="val 7576" name="adj"/>
            </a:avLst>
          </a:prstGeom>
          <a:solidFill>
            <a:srgbClr val="FFFFFF"/>
          </a:solidFill>
          <a:ln cap="flat" cmpd="sng" w="12700">
            <a:solidFill>
              <a:srgbClr val="DFE3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4"/>
          <p:cNvSpPr/>
          <p:nvPr/>
        </p:nvSpPr>
        <p:spPr>
          <a:xfrm>
            <a:off x="4736592" y="4096512"/>
            <a:ext cx="2029968" cy="530352"/>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3D4553"/>
              </a:buClr>
              <a:buSzPts val="950"/>
              <a:buFont typeface="Calibri"/>
              <a:buNone/>
            </a:pPr>
            <a:r>
              <a:rPr b="0" i="0" lang="en-US" sz="950" u="none" cap="none" strike="noStrike">
                <a:solidFill>
                  <a:srgbClr val="3D4553"/>
                </a:solidFill>
                <a:latin typeface="Calibri"/>
                <a:ea typeface="Calibri"/>
                <a:cs typeface="Calibri"/>
                <a:sym typeface="Calibri"/>
              </a:rPr>
              <a:t>MCP servers, skills, subagents</a:t>
            </a:r>
            <a:endParaRPr b="0" i="0" sz="950" u="none" cap="none" strike="noStrike">
              <a:solidFill>
                <a:schemeClr val="dk1"/>
              </a:solidFill>
              <a:latin typeface="Calibri"/>
              <a:ea typeface="Calibri"/>
              <a:cs typeface="Calibri"/>
              <a:sym typeface="Calibri"/>
            </a:endParaRPr>
          </a:p>
        </p:txBody>
      </p:sp>
      <p:sp>
        <p:nvSpPr>
          <p:cNvPr id="115" name="Google Shape;115;p4"/>
          <p:cNvSpPr/>
          <p:nvPr/>
        </p:nvSpPr>
        <p:spPr>
          <a:xfrm>
            <a:off x="4608576" y="4718304"/>
            <a:ext cx="2286000" cy="603504"/>
          </a:xfrm>
          <a:prstGeom prst="roundRect">
            <a:avLst>
              <a:gd fmla="val 7576" name="adj"/>
            </a:avLst>
          </a:prstGeom>
          <a:solidFill>
            <a:srgbClr val="F4F6F8"/>
          </a:solidFill>
          <a:ln cap="flat" cmpd="sng" w="12700">
            <a:solidFill>
              <a:srgbClr val="F4F6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4"/>
          <p:cNvSpPr/>
          <p:nvPr/>
        </p:nvSpPr>
        <p:spPr>
          <a:xfrm>
            <a:off x="4736592" y="4754880"/>
            <a:ext cx="2029968" cy="530352"/>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3D4553"/>
              </a:buClr>
              <a:buSzPts val="950"/>
              <a:buFont typeface="Calibri"/>
              <a:buNone/>
            </a:pPr>
            <a:r>
              <a:rPr b="0" i="0" lang="en-US" sz="950" u="none" cap="none" strike="noStrike">
                <a:solidFill>
                  <a:srgbClr val="3D4553"/>
                </a:solidFill>
                <a:latin typeface="Calibri"/>
                <a:ea typeface="Calibri"/>
                <a:cs typeface="Calibri"/>
                <a:sym typeface="Calibri"/>
              </a:rPr>
              <a:t>Deep Anthropic model integration</a:t>
            </a:r>
            <a:endParaRPr b="0" i="0" sz="950" u="none" cap="none" strike="noStrike">
              <a:solidFill>
                <a:schemeClr val="dk1"/>
              </a:solidFill>
              <a:latin typeface="Calibri"/>
              <a:ea typeface="Calibri"/>
              <a:cs typeface="Calibri"/>
              <a:sym typeface="Calibri"/>
            </a:endParaRPr>
          </a:p>
        </p:txBody>
      </p:sp>
      <p:sp>
        <p:nvSpPr>
          <p:cNvPr id="117" name="Google Shape;117;p4"/>
          <p:cNvSpPr/>
          <p:nvPr/>
        </p:nvSpPr>
        <p:spPr>
          <a:xfrm>
            <a:off x="7004304" y="1417320"/>
            <a:ext cx="2286000" cy="603504"/>
          </a:xfrm>
          <a:prstGeom prst="roundRect">
            <a:avLst>
              <a:gd fmla="val 9091" name="adj"/>
            </a:avLst>
          </a:prstGeom>
          <a:solidFill>
            <a:srgbClr val="EDF1F4"/>
          </a:solidFill>
          <a:ln cap="flat" cmpd="sng" w="12700">
            <a:solidFill>
              <a:srgbClr val="EDF1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4"/>
          <p:cNvSpPr/>
          <p:nvPr/>
        </p:nvSpPr>
        <p:spPr>
          <a:xfrm>
            <a:off x="7132320" y="1463040"/>
            <a:ext cx="2029968" cy="512064"/>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141821"/>
              </a:buClr>
              <a:buSzPts val="1350"/>
              <a:buFont typeface="Calibri"/>
              <a:buNone/>
            </a:pPr>
            <a:r>
              <a:rPr b="1" i="0" lang="en-US" sz="1350" u="none" cap="none" strike="noStrike">
                <a:solidFill>
                  <a:srgbClr val="141821"/>
                </a:solidFill>
                <a:latin typeface="Calibri"/>
                <a:ea typeface="Calibri"/>
                <a:cs typeface="Calibri"/>
                <a:sym typeface="Calibri"/>
              </a:rPr>
              <a:t>Cursor</a:t>
            </a:r>
            <a:endParaRPr b="0" i="0" sz="1350" u="none" cap="none" strike="noStrike">
              <a:solidFill>
                <a:schemeClr val="dk1"/>
              </a:solidFill>
              <a:latin typeface="Calibri"/>
              <a:ea typeface="Calibri"/>
              <a:cs typeface="Calibri"/>
              <a:sym typeface="Calibri"/>
            </a:endParaRPr>
          </a:p>
          <a:p>
            <a:pPr indent="0" lvl="0" marL="0" marR="0" rtl="0" algn="l">
              <a:lnSpc>
                <a:spcPct val="95000"/>
              </a:lnSpc>
              <a:spcBef>
                <a:spcPts val="0"/>
              </a:spcBef>
              <a:spcAft>
                <a:spcPts val="0"/>
              </a:spcAft>
              <a:buClr>
                <a:srgbClr val="6B7280"/>
              </a:buClr>
              <a:buSzPts val="900"/>
              <a:buFont typeface="Calibri"/>
              <a:buNone/>
            </a:pPr>
            <a:r>
              <a:rPr b="0" i="0" lang="en-US" sz="900" u="none" cap="none" strike="noStrike">
                <a:solidFill>
                  <a:srgbClr val="6B7280"/>
                </a:solidFill>
                <a:latin typeface="Calibri"/>
                <a:ea typeface="Calibri"/>
                <a:cs typeface="Calibri"/>
                <a:sym typeface="Calibri"/>
              </a:rPr>
              <a:t>Anysphere</a:t>
            </a:r>
            <a:endParaRPr b="0" i="0" sz="1350" u="none" cap="none" strike="noStrike">
              <a:solidFill>
                <a:schemeClr val="dk1"/>
              </a:solidFill>
              <a:latin typeface="Calibri"/>
              <a:ea typeface="Calibri"/>
              <a:cs typeface="Calibri"/>
              <a:sym typeface="Calibri"/>
            </a:endParaRPr>
          </a:p>
        </p:txBody>
      </p:sp>
      <p:sp>
        <p:nvSpPr>
          <p:cNvPr id="119" name="Google Shape;119;p4"/>
          <p:cNvSpPr/>
          <p:nvPr/>
        </p:nvSpPr>
        <p:spPr>
          <a:xfrm>
            <a:off x="7004304" y="2084832"/>
            <a:ext cx="2286000" cy="603504"/>
          </a:xfrm>
          <a:prstGeom prst="roundRect">
            <a:avLst>
              <a:gd fmla="val 7576" name="adj"/>
            </a:avLst>
          </a:prstGeom>
          <a:solidFill>
            <a:srgbClr val="F4F6F8"/>
          </a:solidFill>
          <a:ln cap="flat" cmpd="sng" w="12700">
            <a:solidFill>
              <a:srgbClr val="F4F6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4"/>
          <p:cNvSpPr/>
          <p:nvPr/>
        </p:nvSpPr>
        <p:spPr>
          <a:xfrm>
            <a:off x="7132320" y="2121408"/>
            <a:ext cx="2029968" cy="530352"/>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3D4553"/>
              </a:buClr>
              <a:buSzPts val="950"/>
              <a:buFont typeface="Calibri"/>
              <a:buNone/>
            </a:pPr>
            <a:r>
              <a:rPr b="0" i="0" lang="en-US" sz="950" u="none" cap="none" strike="noStrike">
                <a:solidFill>
                  <a:srgbClr val="3D4553"/>
                </a:solidFill>
                <a:latin typeface="Calibri"/>
                <a:ea typeface="Calibri"/>
                <a:cs typeface="Calibri"/>
                <a:sym typeface="Calibri"/>
              </a:rPr>
              <a:t>Full IDE (VS Code fork) + CLI agent</a:t>
            </a:r>
            <a:endParaRPr b="0" i="0" sz="950" u="none" cap="none" strike="noStrike">
              <a:solidFill>
                <a:schemeClr val="dk1"/>
              </a:solidFill>
              <a:latin typeface="Calibri"/>
              <a:ea typeface="Calibri"/>
              <a:cs typeface="Calibri"/>
              <a:sym typeface="Calibri"/>
            </a:endParaRPr>
          </a:p>
        </p:txBody>
      </p:sp>
      <p:sp>
        <p:nvSpPr>
          <p:cNvPr id="121" name="Google Shape;121;p4"/>
          <p:cNvSpPr/>
          <p:nvPr/>
        </p:nvSpPr>
        <p:spPr>
          <a:xfrm>
            <a:off x="7004304" y="2743200"/>
            <a:ext cx="2286000" cy="603504"/>
          </a:xfrm>
          <a:prstGeom prst="roundRect">
            <a:avLst>
              <a:gd fmla="val 7576" name="adj"/>
            </a:avLst>
          </a:prstGeom>
          <a:solidFill>
            <a:srgbClr val="FFFFFF"/>
          </a:solidFill>
          <a:ln cap="flat" cmpd="sng" w="12700">
            <a:solidFill>
              <a:srgbClr val="DFE3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4"/>
          <p:cNvSpPr/>
          <p:nvPr/>
        </p:nvSpPr>
        <p:spPr>
          <a:xfrm>
            <a:off x="7132320" y="2779776"/>
            <a:ext cx="2029968" cy="530352"/>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3D4553"/>
              </a:buClr>
              <a:buSzPts val="950"/>
              <a:buFont typeface="Calibri"/>
              <a:buNone/>
            </a:pPr>
            <a:r>
              <a:rPr b="0" i="0" lang="en-US" sz="950" u="none" cap="none" strike="noStrike">
                <a:solidFill>
                  <a:srgbClr val="3D4553"/>
                </a:solidFill>
                <a:latin typeface="Calibri"/>
                <a:ea typeface="Calibri"/>
                <a:cs typeface="Calibri"/>
                <a:sym typeface="Calibri"/>
              </a:rPr>
              <a:t>Proprietary</a:t>
            </a:r>
            <a:endParaRPr b="0" i="0" sz="950" u="none" cap="none" strike="noStrike">
              <a:solidFill>
                <a:schemeClr val="dk1"/>
              </a:solidFill>
              <a:latin typeface="Calibri"/>
              <a:ea typeface="Calibri"/>
              <a:cs typeface="Calibri"/>
              <a:sym typeface="Calibri"/>
            </a:endParaRPr>
          </a:p>
        </p:txBody>
      </p:sp>
      <p:sp>
        <p:nvSpPr>
          <p:cNvPr id="123" name="Google Shape;123;p4"/>
          <p:cNvSpPr/>
          <p:nvPr/>
        </p:nvSpPr>
        <p:spPr>
          <a:xfrm>
            <a:off x="7004304" y="3401568"/>
            <a:ext cx="2286000" cy="603504"/>
          </a:xfrm>
          <a:prstGeom prst="roundRect">
            <a:avLst>
              <a:gd fmla="val 7576" name="adj"/>
            </a:avLst>
          </a:prstGeom>
          <a:solidFill>
            <a:srgbClr val="F4F6F8"/>
          </a:solidFill>
          <a:ln cap="flat" cmpd="sng" w="12700">
            <a:solidFill>
              <a:srgbClr val="F4F6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4"/>
          <p:cNvSpPr/>
          <p:nvPr/>
        </p:nvSpPr>
        <p:spPr>
          <a:xfrm>
            <a:off x="7132320" y="3438144"/>
            <a:ext cx="2029968" cy="530352"/>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3D4553"/>
              </a:buClr>
              <a:buSzPts val="950"/>
              <a:buFont typeface="Calibri"/>
              <a:buNone/>
            </a:pPr>
            <a:r>
              <a:rPr b="0" i="0" lang="en-US" sz="950" u="none" cap="none" strike="noStrike">
                <a:solidFill>
                  <a:srgbClr val="3D4553"/>
                </a:solidFill>
                <a:latin typeface="Calibri"/>
                <a:ea typeface="Calibri"/>
                <a:cs typeface="Calibri"/>
                <a:sym typeface="Calibri"/>
              </a:rPr>
              <a:t>Mixed / routed models</a:t>
            </a:r>
            <a:endParaRPr b="0" i="0" sz="950" u="none" cap="none" strike="noStrike">
              <a:solidFill>
                <a:schemeClr val="dk1"/>
              </a:solidFill>
              <a:latin typeface="Calibri"/>
              <a:ea typeface="Calibri"/>
              <a:cs typeface="Calibri"/>
              <a:sym typeface="Calibri"/>
            </a:endParaRPr>
          </a:p>
        </p:txBody>
      </p:sp>
      <p:sp>
        <p:nvSpPr>
          <p:cNvPr id="125" name="Google Shape;125;p4"/>
          <p:cNvSpPr/>
          <p:nvPr/>
        </p:nvSpPr>
        <p:spPr>
          <a:xfrm>
            <a:off x="7004304" y="4059936"/>
            <a:ext cx="2286000" cy="603504"/>
          </a:xfrm>
          <a:prstGeom prst="roundRect">
            <a:avLst>
              <a:gd fmla="val 7576" name="adj"/>
            </a:avLst>
          </a:prstGeom>
          <a:solidFill>
            <a:srgbClr val="FFFFFF"/>
          </a:solidFill>
          <a:ln cap="flat" cmpd="sng" w="12700">
            <a:solidFill>
              <a:srgbClr val="DFE3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4"/>
          <p:cNvSpPr/>
          <p:nvPr/>
        </p:nvSpPr>
        <p:spPr>
          <a:xfrm>
            <a:off x="7132320" y="4096512"/>
            <a:ext cx="2029968" cy="530352"/>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3D4553"/>
              </a:buClr>
              <a:buSzPts val="950"/>
              <a:buFont typeface="Calibri"/>
              <a:buNone/>
            </a:pPr>
            <a:r>
              <a:rPr b="0" i="0" lang="en-US" sz="950" u="none" cap="none" strike="noStrike">
                <a:solidFill>
                  <a:srgbClr val="3D4553"/>
                </a:solidFill>
                <a:latin typeface="Calibri"/>
                <a:ea typeface="Calibri"/>
                <a:cs typeface="Calibri"/>
                <a:sym typeface="Calibri"/>
              </a:rPr>
              <a:t>IDE-centric rules and tooling</a:t>
            </a:r>
            <a:endParaRPr b="0" i="0" sz="950" u="none" cap="none" strike="noStrike">
              <a:solidFill>
                <a:schemeClr val="dk1"/>
              </a:solidFill>
              <a:latin typeface="Calibri"/>
              <a:ea typeface="Calibri"/>
              <a:cs typeface="Calibri"/>
              <a:sym typeface="Calibri"/>
            </a:endParaRPr>
          </a:p>
        </p:txBody>
      </p:sp>
      <p:sp>
        <p:nvSpPr>
          <p:cNvPr id="127" name="Google Shape;127;p4"/>
          <p:cNvSpPr/>
          <p:nvPr/>
        </p:nvSpPr>
        <p:spPr>
          <a:xfrm>
            <a:off x="7004304" y="4718304"/>
            <a:ext cx="2286000" cy="603504"/>
          </a:xfrm>
          <a:prstGeom prst="roundRect">
            <a:avLst>
              <a:gd fmla="val 7576" name="adj"/>
            </a:avLst>
          </a:prstGeom>
          <a:solidFill>
            <a:srgbClr val="F4F6F8"/>
          </a:solidFill>
          <a:ln cap="flat" cmpd="sng" w="12700">
            <a:solidFill>
              <a:srgbClr val="F4F6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4"/>
          <p:cNvSpPr/>
          <p:nvPr/>
        </p:nvSpPr>
        <p:spPr>
          <a:xfrm>
            <a:off x="7132320" y="4754880"/>
            <a:ext cx="2029968" cy="530352"/>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3D4553"/>
              </a:buClr>
              <a:buSzPts val="950"/>
              <a:buFont typeface="Calibri"/>
              <a:buNone/>
            </a:pPr>
            <a:r>
              <a:rPr b="0" i="0" lang="en-US" sz="950" u="none" cap="none" strike="noStrike">
                <a:solidFill>
                  <a:srgbClr val="3D4553"/>
                </a:solidFill>
                <a:latin typeface="Calibri"/>
                <a:ea typeface="Calibri"/>
                <a:cs typeface="Calibri"/>
                <a:sym typeface="Calibri"/>
              </a:rPr>
              <a:t>Best-in-class in-editor UX</a:t>
            </a:r>
            <a:endParaRPr b="0" i="0" sz="950" u="none" cap="none" strike="noStrike">
              <a:solidFill>
                <a:schemeClr val="dk1"/>
              </a:solidFill>
              <a:latin typeface="Calibri"/>
              <a:ea typeface="Calibri"/>
              <a:cs typeface="Calibri"/>
              <a:sym typeface="Calibri"/>
            </a:endParaRPr>
          </a:p>
        </p:txBody>
      </p:sp>
      <p:sp>
        <p:nvSpPr>
          <p:cNvPr id="129" name="Google Shape;129;p4"/>
          <p:cNvSpPr/>
          <p:nvPr/>
        </p:nvSpPr>
        <p:spPr>
          <a:xfrm>
            <a:off x="9400032" y="1417320"/>
            <a:ext cx="2286000" cy="603504"/>
          </a:xfrm>
          <a:prstGeom prst="roundRect">
            <a:avLst>
              <a:gd fmla="val 9091" name="adj"/>
            </a:avLst>
          </a:prstGeom>
          <a:solidFill>
            <a:srgbClr val="EDF1F4"/>
          </a:solidFill>
          <a:ln cap="flat" cmpd="sng" w="12700">
            <a:solidFill>
              <a:srgbClr val="EDF1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4"/>
          <p:cNvSpPr/>
          <p:nvPr/>
        </p:nvSpPr>
        <p:spPr>
          <a:xfrm>
            <a:off x="9528048" y="1463040"/>
            <a:ext cx="2029968" cy="512064"/>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141821"/>
              </a:buClr>
              <a:buSzPts val="1350"/>
              <a:buFont typeface="Calibri"/>
              <a:buNone/>
            </a:pPr>
            <a:r>
              <a:rPr b="1" i="0" lang="en-US" sz="1350" u="none" cap="none" strike="noStrike">
                <a:solidFill>
                  <a:srgbClr val="141821"/>
                </a:solidFill>
                <a:latin typeface="Calibri"/>
                <a:ea typeface="Calibri"/>
                <a:cs typeface="Calibri"/>
                <a:sym typeface="Calibri"/>
              </a:rPr>
              <a:t>Codex</a:t>
            </a:r>
            <a:endParaRPr b="0" i="0" sz="1350" u="none" cap="none" strike="noStrike">
              <a:solidFill>
                <a:schemeClr val="dk1"/>
              </a:solidFill>
              <a:latin typeface="Calibri"/>
              <a:ea typeface="Calibri"/>
              <a:cs typeface="Calibri"/>
              <a:sym typeface="Calibri"/>
            </a:endParaRPr>
          </a:p>
          <a:p>
            <a:pPr indent="0" lvl="0" marL="0" marR="0" rtl="0" algn="l">
              <a:lnSpc>
                <a:spcPct val="95000"/>
              </a:lnSpc>
              <a:spcBef>
                <a:spcPts val="0"/>
              </a:spcBef>
              <a:spcAft>
                <a:spcPts val="0"/>
              </a:spcAft>
              <a:buClr>
                <a:srgbClr val="6B7280"/>
              </a:buClr>
              <a:buSzPts val="900"/>
              <a:buFont typeface="Calibri"/>
              <a:buNone/>
            </a:pPr>
            <a:r>
              <a:rPr b="0" i="0" lang="en-US" sz="900" u="none" cap="none" strike="noStrike">
                <a:solidFill>
                  <a:srgbClr val="6B7280"/>
                </a:solidFill>
                <a:latin typeface="Calibri"/>
                <a:ea typeface="Calibri"/>
                <a:cs typeface="Calibri"/>
                <a:sym typeface="Calibri"/>
              </a:rPr>
              <a:t>OpenAI</a:t>
            </a:r>
            <a:endParaRPr b="0" i="0" sz="1350" u="none" cap="none" strike="noStrike">
              <a:solidFill>
                <a:schemeClr val="dk1"/>
              </a:solidFill>
              <a:latin typeface="Calibri"/>
              <a:ea typeface="Calibri"/>
              <a:cs typeface="Calibri"/>
              <a:sym typeface="Calibri"/>
            </a:endParaRPr>
          </a:p>
        </p:txBody>
      </p:sp>
      <p:sp>
        <p:nvSpPr>
          <p:cNvPr id="131" name="Google Shape;131;p4"/>
          <p:cNvSpPr/>
          <p:nvPr/>
        </p:nvSpPr>
        <p:spPr>
          <a:xfrm>
            <a:off x="9400032" y="2084832"/>
            <a:ext cx="2286000" cy="603504"/>
          </a:xfrm>
          <a:prstGeom prst="roundRect">
            <a:avLst>
              <a:gd fmla="val 7576" name="adj"/>
            </a:avLst>
          </a:prstGeom>
          <a:solidFill>
            <a:srgbClr val="F4F6F8"/>
          </a:solidFill>
          <a:ln cap="flat" cmpd="sng" w="12700">
            <a:solidFill>
              <a:srgbClr val="F4F6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4"/>
          <p:cNvSpPr/>
          <p:nvPr/>
        </p:nvSpPr>
        <p:spPr>
          <a:xfrm>
            <a:off x="9528048" y="2121408"/>
            <a:ext cx="2029968" cy="530352"/>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3D4553"/>
              </a:buClr>
              <a:buSzPts val="950"/>
              <a:buFont typeface="Calibri"/>
              <a:buNone/>
            </a:pPr>
            <a:r>
              <a:rPr b="0" i="0" lang="en-US" sz="950" u="none" cap="none" strike="noStrike">
                <a:solidFill>
                  <a:srgbClr val="3D4553"/>
                </a:solidFill>
                <a:latin typeface="Calibri"/>
                <a:ea typeface="Calibri"/>
                <a:cs typeface="Calibri"/>
                <a:sym typeface="Calibri"/>
              </a:rPr>
              <a:t>CLI + cloud + IDE extension</a:t>
            </a:r>
            <a:endParaRPr b="0" i="0" sz="950" u="none" cap="none" strike="noStrike">
              <a:solidFill>
                <a:schemeClr val="dk1"/>
              </a:solidFill>
              <a:latin typeface="Calibri"/>
              <a:ea typeface="Calibri"/>
              <a:cs typeface="Calibri"/>
              <a:sym typeface="Calibri"/>
            </a:endParaRPr>
          </a:p>
        </p:txBody>
      </p:sp>
      <p:sp>
        <p:nvSpPr>
          <p:cNvPr id="133" name="Google Shape;133;p4"/>
          <p:cNvSpPr/>
          <p:nvPr/>
        </p:nvSpPr>
        <p:spPr>
          <a:xfrm>
            <a:off x="9400032" y="2743200"/>
            <a:ext cx="2286000" cy="603504"/>
          </a:xfrm>
          <a:prstGeom prst="roundRect">
            <a:avLst>
              <a:gd fmla="val 7576" name="adj"/>
            </a:avLst>
          </a:prstGeom>
          <a:solidFill>
            <a:srgbClr val="FFFFFF"/>
          </a:solidFill>
          <a:ln cap="flat" cmpd="sng" w="12700">
            <a:solidFill>
              <a:srgbClr val="DFE3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4"/>
          <p:cNvSpPr/>
          <p:nvPr/>
        </p:nvSpPr>
        <p:spPr>
          <a:xfrm>
            <a:off x="9528048" y="2779776"/>
            <a:ext cx="2029968" cy="530352"/>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3D4553"/>
              </a:buClr>
              <a:buSzPts val="950"/>
              <a:buFont typeface="Calibri"/>
              <a:buNone/>
            </a:pPr>
            <a:r>
              <a:rPr b="0" i="0" lang="en-US" sz="950" u="none" cap="none" strike="noStrike">
                <a:solidFill>
                  <a:srgbClr val="3D4553"/>
                </a:solidFill>
                <a:latin typeface="Calibri"/>
                <a:ea typeface="Calibri"/>
                <a:cs typeface="Calibri"/>
                <a:sym typeface="Calibri"/>
              </a:rPr>
              <a:t>CLI open source, service is not</a:t>
            </a:r>
            <a:endParaRPr b="0" i="0" sz="950" u="none" cap="none" strike="noStrike">
              <a:solidFill>
                <a:schemeClr val="dk1"/>
              </a:solidFill>
              <a:latin typeface="Calibri"/>
              <a:ea typeface="Calibri"/>
              <a:cs typeface="Calibri"/>
              <a:sym typeface="Calibri"/>
            </a:endParaRPr>
          </a:p>
        </p:txBody>
      </p:sp>
      <p:sp>
        <p:nvSpPr>
          <p:cNvPr id="135" name="Google Shape;135;p4"/>
          <p:cNvSpPr/>
          <p:nvPr/>
        </p:nvSpPr>
        <p:spPr>
          <a:xfrm>
            <a:off x="9400032" y="3401568"/>
            <a:ext cx="2286000" cy="603504"/>
          </a:xfrm>
          <a:prstGeom prst="roundRect">
            <a:avLst>
              <a:gd fmla="val 7576" name="adj"/>
            </a:avLst>
          </a:prstGeom>
          <a:solidFill>
            <a:srgbClr val="F4F6F8"/>
          </a:solidFill>
          <a:ln cap="flat" cmpd="sng" w="12700">
            <a:solidFill>
              <a:srgbClr val="F4F6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4"/>
          <p:cNvSpPr/>
          <p:nvPr/>
        </p:nvSpPr>
        <p:spPr>
          <a:xfrm>
            <a:off x="9528048" y="3438144"/>
            <a:ext cx="2029968" cy="530352"/>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3D4553"/>
              </a:buClr>
              <a:buSzPts val="950"/>
              <a:buFont typeface="Calibri"/>
              <a:buNone/>
            </a:pPr>
            <a:r>
              <a:rPr b="0" i="0" lang="en-US" sz="950" u="none" cap="none" strike="noStrike">
                <a:solidFill>
                  <a:srgbClr val="3D4553"/>
                </a:solidFill>
                <a:latin typeface="Calibri"/>
                <a:ea typeface="Calibri"/>
                <a:cs typeface="Calibri"/>
                <a:sym typeface="Calibri"/>
              </a:rPr>
              <a:t>OpenAI GPT-5 series</a:t>
            </a:r>
            <a:endParaRPr b="0" i="0" sz="950" u="none" cap="none" strike="noStrike">
              <a:solidFill>
                <a:schemeClr val="dk1"/>
              </a:solidFill>
              <a:latin typeface="Calibri"/>
              <a:ea typeface="Calibri"/>
              <a:cs typeface="Calibri"/>
              <a:sym typeface="Calibri"/>
            </a:endParaRPr>
          </a:p>
        </p:txBody>
      </p:sp>
      <p:sp>
        <p:nvSpPr>
          <p:cNvPr id="137" name="Google Shape;137;p4"/>
          <p:cNvSpPr/>
          <p:nvPr/>
        </p:nvSpPr>
        <p:spPr>
          <a:xfrm>
            <a:off x="9400032" y="4059936"/>
            <a:ext cx="2286000" cy="603504"/>
          </a:xfrm>
          <a:prstGeom prst="roundRect">
            <a:avLst>
              <a:gd fmla="val 7576" name="adj"/>
            </a:avLst>
          </a:prstGeom>
          <a:solidFill>
            <a:srgbClr val="FFFFFF"/>
          </a:solidFill>
          <a:ln cap="flat" cmpd="sng" w="12700">
            <a:solidFill>
              <a:srgbClr val="DFE3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4"/>
          <p:cNvSpPr/>
          <p:nvPr/>
        </p:nvSpPr>
        <p:spPr>
          <a:xfrm>
            <a:off x="9528048" y="4096512"/>
            <a:ext cx="2029968" cy="530352"/>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3D4553"/>
              </a:buClr>
              <a:buSzPts val="950"/>
              <a:buFont typeface="Calibri"/>
              <a:buNone/>
            </a:pPr>
            <a:r>
              <a:rPr b="0" i="0" lang="en-US" sz="950" u="none" cap="none" strike="noStrike">
                <a:solidFill>
                  <a:srgbClr val="3D4553"/>
                </a:solidFill>
                <a:latin typeface="Calibri"/>
                <a:ea typeface="Calibri"/>
                <a:cs typeface="Calibri"/>
                <a:sym typeface="Calibri"/>
              </a:rPr>
              <a:t>Skills, sandboxed execution</a:t>
            </a:r>
            <a:endParaRPr b="0" i="0" sz="950" u="none" cap="none" strike="noStrike">
              <a:solidFill>
                <a:schemeClr val="dk1"/>
              </a:solidFill>
              <a:latin typeface="Calibri"/>
              <a:ea typeface="Calibri"/>
              <a:cs typeface="Calibri"/>
              <a:sym typeface="Calibri"/>
            </a:endParaRPr>
          </a:p>
        </p:txBody>
      </p:sp>
      <p:sp>
        <p:nvSpPr>
          <p:cNvPr id="139" name="Google Shape;139;p4"/>
          <p:cNvSpPr/>
          <p:nvPr/>
        </p:nvSpPr>
        <p:spPr>
          <a:xfrm>
            <a:off x="9400032" y="4718304"/>
            <a:ext cx="2286000" cy="603504"/>
          </a:xfrm>
          <a:prstGeom prst="roundRect">
            <a:avLst>
              <a:gd fmla="val 7576" name="adj"/>
            </a:avLst>
          </a:prstGeom>
          <a:solidFill>
            <a:srgbClr val="F4F6F8"/>
          </a:solidFill>
          <a:ln cap="flat" cmpd="sng" w="12700">
            <a:solidFill>
              <a:srgbClr val="F4F6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4"/>
          <p:cNvSpPr/>
          <p:nvPr/>
        </p:nvSpPr>
        <p:spPr>
          <a:xfrm>
            <a:off x="9528048" y="4754880"/>
            <a:ext cx="2029968" cy="530352"/>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3D4553"/>
              </a:buClr>
              <a:buSzPts val="950"/>
              <a:buFont typeface="Calibri"/>
              <a:buNone/>
            </a:pPr>
            <a:r>
              <a:rPr b="0" i="0" lang="en-US" sz="950" u="none" cap="none" strike="noStrike">
                <a:solidFill>
                  <a:srgbClr val="3D4553"/>
                </a:solidFill>
                <a:latin typeface="Calibri"/>
                <a:ea typeface="Calibri"/>
                <a:cs typeface="Calibri"/>
                <a:sym typeface="Calibri"/>
              </a:rPr>
              <a:t>Cloud-delegated long tasks</a:t>
            </a:r>
            <a:endParaRPr b="0" i="0" sz="950" u="none" cap="none" strike="noStrike">
              <a:solidFill>
                <a:schemeClr val="dk1"/>
              </a:solidFill>
              <a:latin typeface="Calibri"/>
              <a:ea typeface="Calibri"/>
              <a:cs typeface="Calibri"/>
              <a:sym typeface="Calibri"/>
            </a:endParaRPr>
          </a:p>
        </p:txBody>
      </p:sp>
      <p:sp>
        <p:nvSpPr>
          <p:cNvPr id="141" name="Google Shape;141;p4"/>
          <p:cNvSpPr/>
          <p:nvPr/>
        </p:nvSpPr>
        <p:spPr>
          <a:xfrm>
            <a:off x="548640" y="5458968"/>
            <a:ext cx="11082528" cy="777240"/>
          </a:xfrm>
          <a:prstGeom prst="roundRect">
            <a:avLst>
              <a:gd fmla="val 7059" name="adj"/>
            </a:avLst>
          </a:prstGeom>
          <a:solidFill>
            <a:srgbClr val="141821"/>
          </a:solidFill>
          <a:ln cap="flat" cmpd="sng" w="12700">
            <a:solidFill>
              <a:srgbClr val="1418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4"/>
          <p:cNvSpPr/>
          <p:nvPr/>
        </p:nvSpPr>
        <p:spPr>
          <a:xfrm>
            <a:off x="749808" y="5623560"/>
            <a:ext cx="1068019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9B34"/>
              </a:buClr>
              <a:buSzPts val="1350"/>
              <a:buFont typeface="Calibri"/>
              <a:buNone/>
            </a:pPr>
            <a:r>
              <a:rPr b="1" i="0" lang="en-US" sz="1350" u="none" cap="none" strike="noStrike">
                <a:solidFill>
                  <a:srgbClr val="E09B34"/>
                </a:solidFill>
                <a:latin typeface="Calibri"/>
                <a:ea typeface="Calibri"/>
                <a:cs typeface="Calibri"/>
                <a:sym typeface="Calibri"/>
              </a:rPr>
              <a:t>The twist: goose can drive the others</a:t>
            </a:r>
            <a:endParaRPr b="0" i="0" sz="1350" u="none" cap="none" strike="noStrike">
              <a:solidFill>
                <a:schemeClr val="dk1"/>
              </a:solidFill>
              <a:latin typeface="Calibri"/>
              <a:ea typeface="Calibri"/>
              <a:cs typeface="Calibri"/>
              <a:sym typeface="Calibri"/>
            </a:endParaRPr>
          </a:p>
        </p:txBody>
      </p:sp>
      <p:sp>
        <p:nvSpPr>
          <p:cNvPr id="143" name="Google Shape;143;p4"/>
          <p:cNvSpPr/>
          <p:nvPr/>
        </p:nvSpPr>
        <p:spPr>
          <a:xfrm>
            <a:off x="749808" y="5879592"/>
            <a:ext cx="10680192" cy="2286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B8C1D0"/>
              </a:buClr>
              <a:buSzPts val="1050"/>
              <a:buFont typeface="Calibri"/>
              <a:buNone/>
            </a:pPr>
            <a:r>
              <a:rPr b="0" i="0" lang="en-US" sz="1050" u="none" cap="none" strike="noStrike">
                <a:solidFill>
                  <a:srgbClr val="B8C1D0"/>
                </a:solidFill>
                <a:latin typeface="Calibri"/>
                <a:ea typeface="Calibri"/>
                <a:cs typeface="Calibri"/>
                <a:sym typeface="Calibri"/>
              </a:rPr>
              <a:t>Configure claude-acp or codex-acp as ACP providers and goose delegates execution to Claude Code or Codex while keeping its own sessions, recipes and scheduling. The older pass-through CLI providers (claude-code, codex, cursor-agent, gemini-cli) still exist but are deprecated — and they do not give you goose’s extension ecosystem.</a:t>
            </a:r>
            <a:endParaRPr b="0" i="0" sz="1050" u="none" cap="none" strike="noStrike">
              <a:solidFill>
                <a:schemeClr val="dk1"/>
              </a:solidFill>
              <a:latin typeface="Calibri"/>
              <a:ea typeface="Calibri"/>
              <a:cs typeface="Calibri"/>
              <a:sym typeface="Calibri"/>
            </a:endParaRPr>
          </a:p>
        </p:txBody>
      </p:sp>
      <p:sp>
        <p:nvSpPr>
          <p:cNvPr id="144" name="Google Shape;144;p4"/>
          <p:cNvSpPr/>
          <p:nvPr/>
        </p:nvSpPr>
        <p:spPr>
          <a:xfrm>
            <a:off x="548640" y="6355080"/>
            <a:ext cx="11064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50"/>
              <a:buFont typeface="Calibri"/>
              <a:buNone/>
            </a:pPr>
            <a:r>
              <a:rPr b="0" i="0" lang="en-US" sz="950" u="none" cap="none" strike="noStrike">
                <a:solidFill>
                  <a:srgbClr val="6B7280"/>
                </a:solidFill>
                <a:latin typeface="Calibri"/>
                <a:ea typeface="Calibri"/>
                <a:cs typeface="Calibri"/>
                <a:sym typeface="Calibri"/>
              </a:rPr>
              <a:t>Reference: goose-docs.ai/docs/guides/acp-providers · /guides/cli-providers</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9" name="Shape 149"/>
        <p:cNvGrpSpPr/>
        <p:nvPr/>
      </p:nvGrpSpPr>
      <p:grpSpPr>
        <a:xfrm>
          <a:off x="0" y="0"/>
          <a:ext cx="0" cy="0"/>
          <a:chOff x="0" y="0"/>
          <a:chExt cx="0" cy="0"/>
        </a:xfrm>
      </p:grpSpPr>
      <p:sp>
        <p:nvSpPr>
          <p:cNvPr id="150" name="Google Shape;150;p5"/>
          <p:cNvSpPr/>
          <p:nvPr/>
        </p:nvSpPr>
        <p:spPr>
          <a:xfrm>
            <a:off x="548640" y="384048"/>
            <a:ext cx="475488" cy="475488"/>
          </a:xfrm>
          <a:prstGeom prst="roundRect">
            <a:avLst>
              <a:gd fmla="val 19231" name="adj"/>
            </a:avLst>
          </a:prstGeom>
          <a:solidFill>
            <a:srgbClr val="E09B34"/>
          </a:solidFill>
          <a:ln cap="flat" cmpd="sng" w="12700">
            <a:solidFill>
              <a:srgbClr val="E09B3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5"/>
          <p:cNvSpPr/>
          <p:nvPr/>
        </p:nvSpPr>
        <p:spPr>
          <a:xfrm>
            <a:off x="548640" y="384048"/>
            <a:ext cx="475488"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1821"/>
              </a:buClr>
              <a:buSzPts val="2000"/>
              <a:buFont typeface="Calibri"/>
              <a:buNone/>
            </a:pPr>
            <a:r>
              <a:rPr b="1" i="0" lang="en-US" sz="2000" u="none" cap="none" strike="noStrike">
                <a:solidFill>
                  <a:srgbClr val="141821"/>
                </a:solidFill>
                <a:latin typeface="Calibri"/>
                <a:ea typeface="Calibri"/>
                <a:cs typeface="Calibri"/>
                <a:sym typeface="Calibri"/>
              </a:rPr>
              <a:t>4</a:t>
            </a:r>
            <a:endParaRPr b="0" i="0" sz="2000" u="none" cap="none" strike="noStrike">
              <a:solidFill>
                <a:schemeClr val="dk1"/>
              </a:solidFill>
              <a:latin typeface="Calibri"/>
              <a:ea typeface="Calibri"/>
              <a:cs typeface="Calibri"/>
              <a:sym typeface="Calibri"/>
            </a:endParaRPr>
          </a:p>
        </p:txBody>
      </p:sp>
      <p:sp>
        <p:nvSpPr>
          <p:cNvPr id="152" name="Google Shape;152;p5"/>
          <p:cNvSpPr/>
          <p:nvPr/>
        </p:nvSpPr>
        <p:spPr>
          <a:xfrm>
            <a:off x="1170432" y="347472"/>
            <a:ext cx="104241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821"/>
              </a:buClr>
              <a:buSzPts val="3000"/>
              <a:buFont typeface="Calibri"/>
              <a:buNone/>
            </a:pPr>
            <a:r>
              <a:rPr b="1" i="0" lang="en-US" sz="3000" u="none" cap="none" strike="noStrike">
                <a:solidFill>
                  <a:srgbClr val="141821"/>
                </a:solidFill>
                <a:latin typeface="Calibri"/>
                <a:ea typeface="Calibri"/>
                <a:cs typeface="Calibri"/>
                <a:sym typeface="Calibri"/>
              </a:rPr>
              <a:t>Installation &amp; Configuration</a:t>
            </a:r>
            <a:endParaRPr b="0" i="0" sz="3000" u="none" cap="none" strike="noStrike">
              <a:solidFill>
                <a:schemeClr val="dk1"/>
              </a:solidFill>
              <a:latin typeface="Calibri"/>
              <a:ea typeface="Calibri"/>
              <a:cs typeface="Calibri"/>
              <a:sym typeface="Calibri"/>
            </a:endParaRPr>
          </a:p>
        </p:txBody>
      </p:sp>
      <p:sp>
        <p:nvSpPr>
          <p:cNvPr id="153" name="Google Shape;153;p5"/>
          <p:cNvSpPr/>
          <p:nvPr/>
        </p:nvSpPr>
        <p:spPr>
          <a:xfrm>
            <a:off x="1170432" y="914400"/>
            <a:ext cx="104241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300"/>
              <a:buFont typeface="Calibri"/>
              <a:buNone/>
            </a:pPr>
            <a:r>
              <a:rPr b="0" i="1" lang="en-US" sz="1300" u="none" cap="none" strike="noStrike">
                <a:solidFill>
                  <a:srgbClr val="6B7280"/>
                </a:solidFill>
                <a:latin typeface="Calibri"/>
                <a:ea typeface="Calibri"/>
                <a:cs typeface="Calibri"/>
                <a:sym typeface="Calibri"/>
              </a:rPr>
              <a:t>Desktop, CLI, or both — they share one configuration store</a:t>
            </a:r>
            <a:endParaRPr b="0" i="0" sz="1300" u="none" cap="none" strike="noStrike">
              <a:solidFill>
                <a:schemeClr val="dk1"/>
              </a:solidFill>
              <a:latin typeface="Calibri"/>
              <a:ea typeface="Calibri"/>
              <a:cs typeface="Calibri"/>
              <a:sym typeface="Calibri"/>
            </a:endParaRPr>
          </a:p>
        </p:txBody>
      </p:sp>
      <p:sp>
        <p:nvSpPr>
          <p:cNvPr id="154" name="Google Shape;154;p5"/>
          <p:cNvSpPr/>
          <p:nvPr/>
        </p:nvSpPr>
        <p:spPr>
          <a:xfrm>
            <a:off x="548640" y="146304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9B34"/>
              </a:buClr>
              <a:buSzPts val="1300"/>
              <a:buFont typeface="Calibri"/>
              <a:buNone/>
            </a:pPr>
            <a:r>
              <a:rPr b="1" i="0" lang="en-US" sz="1300" u="none" cap="none" strike="noStrike">
                <a:solidFill>
                  <a:srgbClr val="E09B34"/>
                </a:solidFill>
                <a:latin typeface="Calibri"/>
                <a:ea typeface="Calibri"/>
                <a:cs typeface="Calibri"/>
                <a:sym typeface="Calibri"/>
              </a:rPr>
              <a:t>1  ·  Install</a:t>
            </a:r>
            <a:endParaRPr b="0" i="0" sz="1300" u="none" cap="none" strike="noStrike">
              <a:solidFill>
                <a:schemeClr val="dk1"/>
              </a:solidFill>
              <a:latin typeface="Calibri"/>
              <a:ea typeface="Calibri"/>
              <a:cs typeface="Calibri"/>
              <a:sym typeface="Calibri"/>
            </a:endParaRPr>
          </a:p>
        </p:txBody>
      </p:sp>
      <p:sp>
        <p:nvSpPr>
          <p:cNvPr id="155" name="Google Shape;155;p5"/>
          <p:cNvSpPr/>
          <p:nvPr/>
        </p:nvSpPr>
        <p:spPr>
          <a:xfrm>
            <a:off x="548640" y="1783080"/>
            <a:ext cx="5577840" cy="2286000"/>
          </a:xfrm>
          <a:prstGeom prst="roundRect">
            <a:avLst>
              <a:gd fmla="val 2000" name="adj"/>
            </a:avLst>
          </a:prstGeom>
          <a:solidFill>
            <a:srgbClr val="141821"/>
          </a:solidFill>
          <a:ln cap="flat" cmpd="sng" w="12700">
            <a:solidFill>
              <a:srgbClr val="1418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5"/>
          <p:cNvSpPr/>
          <p:nvPr/>
        </p:nvSpPr>
        <p:spPr>
          <a:xfrm>
            <a:off x="713232" y="1892808"/>
            <a:ext cx="5248656" cy="2066544"/>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D9E2EC"/>
              </a:buClr>
              <a:buSzPts val="1000"/>
              <a:buFont typeface="Courier New"/>
              <a:buNone/>
            </a:pPr>
            <a:r>
              <a:rPr b="0" i="0" lang="en-US" sz="1000" u="none" cap="none" strike="noStrike">
                <a:solidFill>
                  <a:srgbClr val="D9E2EC"/>
                </a:solidFill>
                <a:latin typeface="Courier New"/>
                <a:ea typeface="Courier New"/>
                <a:cs typeface="Courier New"/>
                <a:sym typeface="Courier New"/>
              </a:rPr>
              <a:t># macOS / Linux - CLI</a:t>
            </a:r>
            <a:endParaRPr b="0" i="0" sz="1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D9E2EC"/>
              </a:buClr>
              <a:buSzPts val="1000"/>
              <a:buFont typeface="Courier New"/>
              <a:buNone/>
            </a:pPr>
            <a:r>
              <a:rPr b="0" i="0" lang="en-US" sz="1000" u="none" cap="none" strike="noStrike">
                <a:solidFill>
                  <a:srgbClr val="D9E2EC"/>
                </a:solidFill>
                <a:latin typeface="Courier New"/>
                <a:ea typeface="Courier New"/>
                <a:cs typeface="Courier New"/>
                <a:sym typeface="Courier New"/>
              </a:rPr>
              <a:t>curl -fsSL https://github.com/aaif-goose/goose/\</a:t>
            </a:r>
            <a:endParaRPr b="0" i="0" sz="1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D9E2EC"/>
              </a:buClr>
              <a:buSzPts val="1000"/>
              <a:buFont typeface="Courier New"/>
              <a:buNone/>
            </a:pPr>
            <a:r>
              <a:rPr b="0" i="0" lang="en-US" sz="1000" u="none" cap="none" strike="noStrike">
                <a:solidFill>
                  <a:srgbClr val="D9E2EC"/>
                </a:solidFill>
                <a:latin typeface="Courier New"/>
                <a:ea typeface="Courier New"/>
                <a:cs typeface="Courier New"/>
                <a:sym typeface="Courier New"/>
              </a:rPr>
              <a:t>  releases/download/stable/download_cli.sh | bash</a:t>
            </a:r>
            <a:endParaRPr b="0" i="0" sz="1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000"/>
              <a:buFont typeface="Calibri"/>
              <a:buNone/>
            </a:pPr>
            <a:r>
              <a:t/>
            </a:r>
            <a:endParaRPr b="0" i="0" sz="1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D9E2EC"/>
              </a:buClr>
              <a:buSzPts val="1000"/>
              <a:buFont typeface="Courier New"/>
              <a:buNone/>
            </a:pPr>
            <a:r>
              <a:rPr b="0" i="0" lang="en-US" sz="1000" u="none" cap="none" strike="noStrike">
                <a:solidFill>
                  <a:srgbClr val="D9E2EC"/>
                </a:solidFill>
                <a:latin typeface="Courier New"/>
                <a:ea typeface="Courier New"/>
                <a:cs typeface="Courier New"/>
                <a:sym typeface="Courier New"/>
              </a:rPr>
              <a:t># macOS via Homebrew</a:t>
            </a:r>
            <a:endParaRPr b="0" i="0" sz="1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D9E2EC"/>
              </a:buClr>
              <a:buSzPts val="1000"/>
              <a:buFont typeface="Courier New"/>
              <a:buNone/>
            </a:pPr>
            <a:r>
              <a:rPr b="0" i="0" lang="en-US" sz="1000" u="none" cap="none" strike="noStrike">
                <a:solidFill>
                  <a:srgbClr val="D9E2EC"/>
                </a:solidFill>
                <a:latin typeface="Courier New"/>
                <a:ea typeface="Courier New"/>
                <a:cs typeface="Courier New"/>
                <a:sym typeface="Courier New"/>
              </a:rPr>
              <a:t>brew install block-goose-cli      # CLI</a:t>
            </a:r>
            <a:endParaRPr b="0" i="0" sz="1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D9E2EC"/>
              </a:buClr>
              <a:buSzPts val="1000"/>
              <a:buFont typeface="Courier New"/>
              <a:buNone/>
            </a:pPr>
            <a:r>
              <a:rPr b="0" i="0" lang="en-US" sz="1000" u="none" cap="none" strike="noStrike">
                <a:solidFill>
                  <a:srgbClr val="D9E2EC"/>
                </a:solidFill>
                <a:latin typeface="Courier New"/>
                <a:ea typeface="Courier New"/>
                <a:cs typeface="Courier New"/>
                <a:sym typeface="Courier New"/>
              </a:rPr>
              <a:t>brew install --cask block-goose   # Desktop</a:t>
            </a:r>
            <a:endParaRPr b="0" i="0" sz="1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000"/>
              <a:buFont typeface="Calibri"/>
              <a:buNone/>
            </a:pPr>
            <a:r>
              <a:t/>
            </a:r>
            <a:endParaRPr b="0" i="0" sz="1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D9E2EC"/>
              </a:buClr>
              <a:buSzPts val="1000"/>
              <a:buFont typeface="Courier New"/>
              <a:buNone/>
            </a:pPr>
            <a:r>
              <a:rPr b="0" i="0" lang="en-US" sz="1000" u="none" cap="none" strike="noStrike">
                <a:solidFill>
                  <a:srgbClr val="D9E2EC"/>
                </a:solidFill>
                <a:latin typeface="Courier New"/>
                <a:ea typeface="Courier New"/>
                <a:cs typeface="Courier New"/>
                <a:sym typeface="Courier New"/>
              </a:rPr>
              <a:t># Windows (PowerShell)</a:t>
            </a:r>
            <a:endParaRPr b="0" i="0" sz="1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D9E2EC"/>
              </a:buClr>
              <a:buSzPts val="1000"/>
              <a:buFont typeface="Courier New"/>
              <a:buNone/>
            </a:pPr>
            <a:r>
              <a:rPr b="0" i="0" lang="en-US" sz="1000" u="none" cap="none" strike="noStrike">
                <a:solidFill>
                  <a:srgbClr val="D9E2EC"/>
                </a:solidFill>
                <a:latin typeface="Courier New"/>
                <a:ea typeface="Courier New"/>
                <a:cs typeface="Courier New"/>
                <a:sym typeface="Courier New"/>
              </a:rPr>
              <a:t>.\download_cli.ps1</a:t>
            </a:r>
            <a:endParaRPr b="0" i="0" sz="1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000"/>
              <a:buFont typeface="Calibri"/>
              <a:buNone/>
            </a:pPr>
            <a:r>
              <a:t/>
            </a:r>
            <a:endParaRPr b="0" i="0" sz="1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D9E2EC"/>
              </a:buClr>
              <a:buSzPts val="1000"/>
              <a:buFont typeface="Courier New"/>
              <a:buNone/>
            </a:pPr>
            <a:r>
              <a:rPr b="0" i="0" lang="en-US" sz="1000" u="none" cap="none" strike="noStrike">
                <a:solidFill>
                  <a:srgbClr val="D9E2EC"/>
                </a:solidFill>
                <a:latin typeface="Courier New"/>
                <a:ea typeface="Courier New"/>
                <a:cs typeface="Courier New"/>
                <a:sym typeface="Courier New"/>
              </a:rPr>
              <a:t>goose update                      # upgrade later</a:t>
            </a:r>
            <a:endParaRPr b="0" i="0" sz="1000" u="none" cap="none" strike="noStrike">
              <a:solidFill>
                <a:schemeClr val="dk1"/>
              </a:solidFill>
              <a:latin typeface="Calibri"/>
              <a:ea typeface="Calibri"/>
              <a:cs typeface="Calibri"/>
              <a:sym typeface="Calibri"/>
            </a:endParaRPr>
          </a:p>
        </p:txBody>
      </p:sp>
      <p:sp>
        <p:nvSpPr>
          <p:cNvPr id="157" name="Google Shape;157;p5"/>
          <p:cNvSpPr/>
          <p:nvPr/>
        </p:nvSpPr>
        <p:spPr>
          <a:xfrm>
            <a:off x="6309360" y="1463040"/>
            <a:ext cx="5303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9B34"/>
              </a:buClr>
              <a:buSzPts val="1300"/>
              <a:buFont typeface="Calibri"/>
              <a:buNone/>
            </a:pPr>
            <a:r>
              <a:rPr b="1" i="0" lang="en-US" sz="1300" u="none" cap="none" strike="noStrike">
                <a:solidFill>
                  <a:srgbClr val="E09B34"/>
                </a:solidFill>
                <a:latin typeface="Calibri"/>
                <a:ea typeface="Calibri"/>
                <a:cs typeface="Calibri"/>
                <a:sym typeface="Calibri"/>
              </a:rPr>
              <a:t>2  ·  Set an LLM provider</a:t>
            </a:r>
            <a:endParaRPr b="0" i="0" sz="1300" u="none" cap="none" strike="noStrike">
              <a:solidFill>
                <a:schemeClr val="dk1"/>
              </a:solidFill>
              <a:latin typeface="Calibri"/>
              <a:ea typeface="Calibri"/>
              <a:cs typeface="Calibri"/>
              <a:sym typeface="Calibri"/>
            </a:endParaRPr>
          </a:p>
        </p:txBody>
      </p:sp>
      <p:sp>
        <p:nvSpPr>
          <p:cNvPr id="158" name="Google Shape;158;p5"/>
          <p:cNvSpPr/>
          <p:nvPr/>
        </p:nvSpPr>
        <p:spPr>
          <a:xfrm>
            <a:off x="6309360" y="1783080"/>
            <a:ext cx="5321808" cy="2286000"/>
          </a:xfrm>
          <a:prstGeom prst="roundRect">
            <a:avLst>
              <a:gd fmla="val 2000" name="adj"/>
            </a:avLst>
          </a:prstGeom>
          <a:solidFill>
            <a:srgbClr val="141821"/>
          </a:solidFill>
          <a:ln cap="flat" cmpd="sng" w="12700">
            <a:solidFill>
              <a:srgbClr val="1418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5"/>
          <p:cNvSpPr/>
          <p:nvPr/>
        </p:nvSpPr>
        <p:spPr>
          <a:xfrm>
            <a:off x="6473952" y="1892808"/>
            <a:ext cx="4992624" cy="2066544"/>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D9E2EC"/>
              </a:buClr>
              <a:buSzPts val="1000"/>
              <a:buFont typeface="Courier New"/>
              <a:buNone/>
            </a:pPr>
            <a:r>
              <a:rPr b="0" i="0" lang="en-US" sz="1000" u="none" cap="none" strike="noStrike">
                <a:solidFill>
                  <a:srgbClr val="D9E2EC"/>
                </a:solidFill>
                <a:latin typeface="Courier New"/>
                <a:ea typeface="Courier New"/>
                <a:cs typeface="Courier New"/>
                <a:sym typeface="Courier New"/>
              </a:rPr>
              <a:t>$ goose configure</a:t>
            </a:r>
            <a:endParaRPr b="0" i="0" sz="1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D9E2EC"/>
              </a:buClr>
              <a:buSzPts val="1000"/>
              <a:buFont typeface="Courier New"/>
              <a:buNone/>
            </a:pPr>
            <a:r>
              <a:rPr b="0" i="0" lang="en-US" sz="1000" u="none" cap="none" strike="noStrike">
                <a:solidFill>
                  <a:srgbClr val="D9E2EC"/>
                </a:solidFill>
                <a:latin typeface="Courier New"/>
                <a:ea typeface="Courier New"/>
                <a:cs typeface="Courier New"/>
                <a:sym typeface="Courier New"/>
              </a:rPr>
              <a:t>┌  goose-configure</a:t>
            </a:r>
            <a:endParaRPr b="0" i="0" sz="1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D9E2EC"/>
              </a:buClr>
              <a:buSzPts val="1000"/>
              <a:buFont typeface="Courier New"/>
              <a:buNone/>
            </a:pPr>
            <a:r>
              <a:rPr b="0" i="0" lang="en-US" sz="1000" u="none" cap="none" strike="noStrike">
                <a:solidFill>
                  <a:srgbClr val="D9E2EC"/>
                </a:solidFill>
                <a:latin typeface="Courier New"/>
                <a:ea typeface="Courier New"/>
                <a:cs typeface="Courier New"/>
                <a:sym typeface="Courier New"/>
              </a:rPr>
              <a:t>◇  What would you like to configure?</a:t>
            </a:r>
            <a:endParaRPr b="0" i="0" sz="1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D9E2EC"/>
              </a:buClr>
              <a:buSzPts val="1000"/>
              <a:buFont typeface="Courier New"/>
              <a:buNone/>
            </a:pPr>
            <a:r>
              <a:rPr b="0" i="0" lang="en-US" sz="1000" u="none" cap="none" strike="noStrike">
                <a:solidFill>
                  <a:srgbClr val="D9E2EC"/>
                </a:solidFill>
                <a:latin typeface="Courier New"/>
                <a:ea typeface="Courier New"/>
                <a:cs typeface="Courier New"/>
                <a:sym typeface="Courier New"/>
              </a:rPr>
              <a:t>│  Configure Providers</a:t>
            </a:r>
            <a:endParaRPr b="0" i="0" sz="1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D9E2EC"/>
              </a:buClr>
              <a:buSzPts val="1000"/>
              <a:buFont typeface="Courier New"/>
              <a:buNone/>
            </a:pPr>
            <a:r>
              <a:rPr b="0" i="0" lang="en-US" sz="1000" u="none" cap="none" strike="noStrike">
                <a:solidFill>
                  <a:srgbClr val="D9E2EC"/>
                </a:solidFill>
                <a:latin typeface="Courier New"/>
                <a:ea typeface="Courier New"/>
                <a:cs typeface="Courier New"/>
                <a:sym typeface="Courier New"/>
              </a:rPr>
              <a:t>◇  Which model provider should we use?</a:t>
            </a:r>
            <a:endParaRPr b="0" i="0" sz="1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D9E2EC"/>
              </a:buClr>
              <a:buSzPts val="1000"/>
              <a:buFont typeface="Courier New"/>
              <a:buNone/>
            </a:pPr>
            <a:r>
              <a:rPr b="0" i="0" lang="en-US" sz="1000" u="none" cap="none" strike="noStrike">
                <a:solidFill>
                  <a:srgbClr val="D9E2EC"/>
                </a:solidFill>
                <a:latin typeface="Courier New"/>
                <a:ea typeface="Courier New"/>
                <a:cs typeface="Courier New"/>
                <a:sym typeface="Courier New"/>
              </a:rPr>
              <a:t>│  Anthropic</a:t>
            </a:r>
            <a:endParaRPr b="0" i="0" sz="1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D9E2EC"/>
              </a:buClr>
              <a:buSzPts val="1000"/>
              <a:buFont typeface="Courier New"/>
              <a:buNone/>
            </a:pPr>
            <a:r>
              <a:rPr b="0" i="0" lang="en-US" sz="1000" u="none" cap="none" strike="noStrike">
                <a:solidFill>
                  <a:srgbClr val="D9E2EC"/>
                </a:solidFill>
                <a:latin typeface="Courier New"/>
                <a:ea typeface="Courier New"/>
                <a:cs typeface="Courier New"/>
                <a:sym typeface="Courier New"/>
              </a:rPr>
              <a:t>◇  Provider requires ANTHROPIC_API_KEY</a:t>
            </a:r>
            <a:endParaRPr b="0" i="0" sz="1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D9E2EC"/>
              </a:buClr>
              <a:buSzPts val="1000"/>
              <a:buFont typeface="Courier New"/>
              <a:buNone/>
            </a:pPr>
            <a:r>
              <a:rPr b="0" i="0" lang="en-US" sz="1000" u="none" cap="none" strike="noStrike">
                <a:solidFill>
                  <a:srgbClr val="D9E2EC"/>
                </a:solidFill>
                <a:latin typeface="Courier New"/>
                <a:ea typeface="Courier New"/>
                <a:cs typeface="Courier New"/>
                <a:sym typeface="Courier New"/>
              </a:rPr>
              <a:t>│  ▪▪▪▪▪▪▪▪▪▪▪▪▪▪▪▪▪▪▪▪▪▪▪▪▪▪▪</a:t>
            </a:r>
            <a:endParaRPr b="0" i="0" sz="1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D9E2EC"/>
              </a:buClr>
              <a:buSzPts val="1000"/>
              <a:buFont typeface="Courier New"/>
              <a:buNone/>
            </a:pPr>
            <a:r>
              <a:rPr b="0" i="0" lang="en-US" sz="1000" u="none" cap="none" strike="noStrike">
                <a:solidFill>
                  <a:srgbClr val="D9E2EC"/>
                </a:solidFill>
                <a:latin typeface="Courier New"/>
                <a:ea typeface="Courier New"/>
                <a:cs typeface="Courier New"/>
                <a:sym typeface="Courier New"/>
              </a:rPr>
              <a:t>└  Configuration saved successfully</a:t>
            </a:r>
            <a:endParaRPr b="0" i="0" sz="1000" u="none" cap="none" strike="noStrike">
              <a:solidFill>
                <a:schemeClr val="dk1"/>
              </a:solidFill>
              <a:latin typeface="Calibri"/>
              <a:ea typeface="Calibri"/>
              <a:cs typeface="Calibri"/>
              <a:sym typeface="Calibri"/>
            </a:endParaRPr>
          </a:p>
        </p:txBody>
      </p:sp>
      <p:sp>
        <p:nvSpPr>
          <p:cNvPr id="160" name="Google Shape;160;p5"/>
          <p:cNvSpPr/>
          <p:nvPr/>
        </p:nvSpPr>
        <p:spPr>
          <a:xfrm>
            <a:off x="548640" y="4315968"/>
            <a:ext cx="2651760" cy="1371600"/>
          </a:xfrm>
          <a:prstGeom prst="roundRect">
            <a:avLst>
              <a:gd fmla="val 3333" name="adj"/>
            </a:avLst>
          </a:prstGeom>
          <a:solidFill>
            <a:srgbClr val="F4F6F8"/>
          </a:solidFill>
          <a:ln cap="flat" cmpd="sng" w="12700">
            <a:solidFill>
              <a:srgbClr val="F4F6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5"/>
          <p:cNvSpPr/>
          <p:nvPr/>
        </p:nvSpPr>
        <p:spPr>
          <a:xfrm>
            <a:off x="694944" y="4407408"/>
            <a:ext cx="2359152" cy="11887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41821"/>
              </a:buClr>
              <a:buSzPts val="1200"/>
              <a:buFont typeface="Calibri"/>
              <a:buNone/>
            </a:pPr>
            <a:r>
              <a:rPr b="1" i="0" lang="en-US" sz="1200" u="none" cap="none" strike="noStrike">
                <a:solidFill>
                  <a:srgbClr val="141821"/>
                </a:solidFill>
                <a:latin typeface="Calibri"/>
                <a:ea typeface="Calibri"/>
                <a:cs typeface="Calibri"/>
                <a:sym typeface="Calibri"/>
              </a:rPr>
              <a:t>Keys live in the keyring</a:t>
            </a:r>
            <a:endParaRPr b="0" i="0" sz="12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4A5262"/>
              </a:buClr>
              <a:buSzPts val="1000"/>
              <a:buFont typeface="Calibri"/>
              <a:buNone/>
            </a:pPr>
            <a:r>
              <a:rPr b="0" i="0" lang="en-US" sz="1000" u="none" cap="none" strike="noStrike">
                <a:solidFill>
                  <a:srgbClr val="4A5262"/>
                </a:solidFill>
                <a:latin typeface="Calibri"/>
                <a:ea typeface="Calibri"/>
                <a:cs typeface="Calibri"/>
                <a:sym typeface="Calibri"/>
              </a:rPr>
              <a:t>Never in config.yaml — goose ignores keys there. Keyring, secrets.yaml, or an env var.</a:t>
            </a:r>
            <a:endParaRPr b="0" i="0" sz="1200" u="none" cap="none" strike="noStrike">
              <a:solidFill>
                <a:schemeClr val="dk1"/>
              </a:solidFill>
              <a:latin typeface="Calibri"/>
              <a:ea typeface="Calibri"/>
              <a:cs typeface="Calibri"/>
              <a:sym typeface="Calibri"/>
            </a:endParaRPr>
          </a:p>
        </p:txBody>
      </p:sp>
      <p:sp>
        <p:nvSpPr>
          <p:cNvPr id="162" name="Google Shape;162;p5"/>
          <p:cNvSpPr/>
          <p:nvPr/>
        </p:nvSpPr>
        <p:spPr>
          <a:xfrm>
            <a:off x="3346704" y="4315968"/>
            <a:ext cx="2651760" cy="1371600"/>
          </a:xfrm>
          <a:prstGeom prst="roundRect">
            <a:avLst>
              <a:gd fmla="val 3333" name="adj"/>
            </a:avLst>
          </a:prstGeom>
          <a:solidFill>
            <a:srgbClr val="EDF1F4"/>
          </a:solidFill>
          <a:ln cap="flat" cmpd="sng" w="12700">
            <a:solidFill>
              <a:srgbClr val="EDF1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5"/>
          <p:cNvSpPr/>
          <p:nvPr/>
        </p:nvSpPr>
        <p:spPr>
          <a:xfrm>
            <a:off x="3493008" y="4407408"/>
            <a:ext cx="2359152" cy="11887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41821"/>
              </a:buClr>
              <a:buSzPts val="1200"/>
              <a:buFont typeface="Calibri"/>
              <a:buNone/>
            </a:pPr>
            <a:r>
              <a:rPr b="1" i="0" lang="en-US" sz="1200" u="none" cap="none" strike="noStrike">
                <a:solidFill>
                  <a:srgbClr val="141821"/>
                </a:solidFill>
                <a:latin typeface="Calibri"/>
                <a:ea typeface="Calibri"/>
                <a:cs typeface="Calibri"/>
                <a:sym typeface="Calibri"/>
              </a:rPr>
              <a:t>Desktop first-run options</a:t>
            </a:r>
            <a:endParaRPr b="0" i="0" sz="12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4A5262"/>
              </a:buClr>
              <a:buSzPts val="1000"/>
              <a:buFont typeface="Calibri"/>
              <a:buNone/>
            </a:pPr>
            <a:r>
              <a:rPr b="0" i="0" lang="en-US" sz="1000" u="none" cap="none" strike="noStrike">
                <a:solidFill>
                  <a:srgbClr val="4A5262"/>
                </a:solidFill>
                <a:latin typeface="Calibri"/>
                <a:ea typeface="Calibri"/>
                <a:cs typeface="Calibri"/>
                <a:sym typeface="Calibri"/>
              </a:rPr>
              <a:t>Quick setup with an API key, ChatGPT subscription, Tetrate Agent Router, or OpenRouter.</a:t>
            </a:r>
            <a:endParaRPr b="0" i="0" sz="1200" u="none" cap="none" strike="noStrike">
              <a:solidFill>
                <a:schemeClr val="dk1"/>
              </a:solidFill>
              <a:latin typeface="Calibri"/>
              <a:ea typeface="Calibri"/>
              <a:cs typeface="Calibri"/>
              <a:sym typeface="Calibri"/>
            </a:endParaRPr>
          </a:p>
        </p:txBody>
      </p:sp>
      <p:sp>
        <p:nvSpPr>
          <p:cNvPr id="164" name="Google Shape;164;p5"/>
          <p:cNvSpPr/>
          <p:nvPr/>
        </p:nvSpPr>
        <p:spPr>
          <a:xfrm>
            <a:off x="6144768" y="4315968"/>
            <a:ext cx="2651760" cy="1371600"/>
          </a:xfrm>
          <a:prstGeom prst="roundRect">
            <a:avLst>
              <a:gd fmla="val 3333" name="adj"/>
            </a:avLst>
          </a:prstGeom>
          <a:solidFill>
            <a:srgbClr val="F4F6F8"/>
          </a:solidFill>
          <a:ln cap="flat" cmpd="sng" w="12700">
            <a:solidFill>
              <a:srgbClr val="F4F6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5"/>
          <p:cNvSpPr/>
          <p:nvPr/>
        </p:nvSpPr>
        <p:spPr>
          <a:xfrm>
            <a:off x="6291072" y="4407408"/>
            <a:ext cx="2359152" cy="11887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41821"/>
              </a:buClr>
              <a:buSzPts val="1200"/>
              <a:buFont typeface="Calibri"/>
              <a:buNone/>
            </a:pPr>
            <a:r>
              <a:rPr b="1" i="0" lang="en-US" sz="1200" u="none" cap="none" strike="noStrike">
                <a:solidFill>
                  <a:srgbClr val="141821"/>
                </a:solidFill>
                <a:latin typeface="Calibri"/>
                <a:ea typeface="Calibri"/>
                <a:cs typeface="Calibri"/>
                <a:sym typeface="Calibri"/>
              </a:rPr>
              <a:t>Tool calling matters</a:t>
            </a:r>
            <a:endParaRPr b="0" i="0" sz="12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4A5262"/>
              </a:buClr>
              <a:buSzPts val="1000"/>
              <a:buFont typeface="Calibri"/>
              <a:buNone/>
            </a:pPr>
            <a:r>
              <a:rPr b="0" i="0" lang="en-US" sz="1000" u="none" cap="none" strike="noStrike">
                <a:solidFill>
                  <a:srgbClr val="4A5262"/>
                </a:solidFill>
                <a:latin typeface="Calibri"/>
                <a:ea typeface="Calibri"/>
                <a:cs typeface="Calibri"/>
                <a:sym typeface="Calibri"/>
              </a:rPr>
              <a:t>The docs note goose leans heavily on tool calling and currently works best with Claude 4 models.</a:t>
            </a:r>
            <a:endParaRPr b="0" i="0" sz="1200" u="none" cap="none" strike="noStrike">
              <a:solidFill>
                <a:schemeClr val="dk1"/>
              </a:solidFill>
              <a:latin typeface="Calibri"/>
              <a:ea typeface="Calibri"/>
              <a:cs typeface="Calibri"/>
              <a:sym typeface="Calibri"/>
            </a:endParaRPr>
          </a:p>
        </p:txBody>
      </p:sp>
      <p:sp>
        <p:nvSpPr>
          <p:cNvPr id="166" name="Google Shape;166;p5"/>
          <p:cNvSpPr/>
          <p:nvPr/>
        </p:nvSpPr>
        <p:spPr>
          <a:xfrm>
            <a:off x="8942832" y="4315968"/>
            <a:ext cx="2651760" cy="1371600"/>
          </a:xfrm>
          <a:prstGeom prst="roundRect">
            <a:avLst>
              <a:gd fmla="val 3333" name="adj"/>
            </a:avLst>
          </a:prstGeom>
          <a:solidFill>
            <a:srgbClr val="EDF1F4"/>
          </a:solidFill>
          <a:ln cap="flat" cmpd="sng" w="12700">
            <a:solidFill>
              <a:srgbClr val="EDF1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5"/>
          <p:cNvSpPr/>
          <p:nvPr/>
        </p:nvSpPr>
        <p:spPr>
          <a:xfrm>
            <a:off x="9089136" y="4407408"/>
            <a:ext cx="2359152" cy="11887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41821"/>
              </a:buClr>
              <a:buSzPts val="1200"/>
              <a:buFont typeface="Calibri"/>
              <a:buNone/>
            </a:pPr>
            <a:r>
              <a:rPr b="1" i="0" lang="en-US" sz="1200" u="none" cap="none" strike="noStrike">
                <a:solidFill>
                  <a:srgbClr val="141821"/>
                </a:solidFill>
                <a:latin typeface="Calibri"/>
                <a:ea typeface="Calibri"/>
                <a:cs typeface="Calibri"/>
                <a:sym typeface="Calibri"/>
              </a:rPr>
              <a:t>Pin versions in CI</a:t>
            </a:r>
            <a:endParaRPr b="0" i="0" sz="12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4A5262"/>
              </a:buClr>
              <a:buSzPts val="1000"/>
              <a:buFont typeface="Calibri"/>
              <a:buNone/>
            </a:pPr>
            <a:r>
              <a:rPr b="0" i="0" lang="en-US" sz="1000" u="none" cap="none" strike="noStrike">
                <a:solidFill>
                  <a:srgbClr val="4A5262"/>
                </a:solidFill>
                <a:latin typeface="Calibri"/>
                <a:ea typeface="Calibri"/>
                <a:cs typeface="Calibri"/>
                <a:sym typeface="Calibri"/>
              </a:rPr>
              <a:t>Set GOOSE_VERSION for reproducible, non-interactive installs in pipelines.</a:t>
            </a:r>
            <a:endParaRPr b="0" i="0" sz="1200" u="none" cap="none" strike="noStrike">
              <a:solidFill>
                <a:schemeClr val="dk1"/>
              </a:solidFill>
              <a:latin typeface="Calibri"/>
              <a:ea typeface="Calibri"/>
              <a:cs typeface="Calibri"/>
              <a:sym typeface="Calibri"/>
            </a:endParaRPr>
          </a:p>
        </p:txBody>
      </p:sp>
      <p:sp>
        <p:nvSpPr>
          <p:cNvPr id="168" name="Google Shape;168;p5"/>
          <p:cNvSpPr/>
          <p:nvPr/>
        </p:nvSpPr>
        <p:spPr>
          <a:xfrm>
            <a:off x="548640" y="5815584"/>
            <a:ext cx="11082528"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7A8C"/>
              </a:buClr>
              <a:buSzPts val="1150"/>
              <a:buFont typeface="Calibri"/>
              <a:buNone/>
            </a:pPr>
            <a:r>
              <a:rPr b="0" i="1" lang="en-US" sz="1150" u="none" cap="none" strike="noStrike">
                <a:solidFill>
                  <a:srgbClr val="1F7A8C"/>
                </a:solidFill>
                <a:latin typeface="Calibri"/>
                <a:ea typeface="Calibri"/>
                <a:cs typeface="Calibri"/>
                <a:sym typeface="Calibri"/>
              </a:rPr>
              <a:t>Verify everything with  goose info -v  — it prints every active setting and where it came from.</a:t>
            </a:r>
            <a:endParaRPr b="0" i="0" sz="1150" u="none" cap="none" strike="noStrike">
              <a:solidFill>
                <a:schemeClr val="dk1"/>
              </a:solidFill>
              <a:latin typeface="Calibri"/>
              <a:ea typeface="Calibri"/>
              <a:cs typeface="Calibri"/>
              <a:sym typeface="Calibri"/>
            </a:endParaRPr>
          </a:p>
        </p:txBody>
      </p:sp>
      <p:sp>
        <p:nvSpPr>
          <p:cNvPr id="169" name="Google Shape;169;p5"/>
          <p:cNvSpPr/>
          <p:nvPr/>
        </p:nvSpPr>
        <p:spPr>
          <a:xfrm>
            <a:off x="548640" y="6355080"/>
            <a:ext cx="11064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50"/>
              <a:buFont typeface="Calibri"/>
              <a:buNone/>
            </a:pPr>
            <a:r>
              <a:rPr b="0" i="0" lang="en-US" sz="950" u="none" cap="none" strike="noStrike">
                <a:solidFill>
                  <a:srgbClr val="6B7280"/>
                </a:solidFill>
                <a:latin typeface="Calibri"/>
                <a:ea typeface="Calibri"/>
                <a:cs typeface="Calibri"/>
                <a:sym typeface="Calibri"/>
              </a:rPr>
              <a:t>Reference: goose-docs.ai/docs/getting-started/installation</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4" name="Shape 174"/>
        <p:cNvGrpSpPr/>
        <p:nvPr/>
      </p:nvGrpSpPr>
      <p:grpSpPr>
        <a:xfrm>
          <a:off x="0" y="0"/>
          <a:ext cx="0" cy="0"/>
          <a:chOff x="0" y="0"/>
          <a:chExt cx="0" cy="0"/>
        </a:xfrm>
      </p:grpSpPr>
      <p:sp>
        <p:nvSpPr>
          <p:cNvPr id="175" name="Google Shape;175;p6"/>
          <p:cNvSpPr/>
          <p:nvPr/>
        </p:nvSpPr>
        <p:spPr>
          <a:xfrm>
            <a:off x="548640" y="384048"/>
            <a:ext cx="475488" cy="475488"/>
          </a:xfrm>
          <a:prstGeom prst="roundRect">
            <a:avLst>
              <a:gd fmla="val 19231" name="adj"/>
            </a:avLst>
          </a:prstGeom>
          <a:solidFill>
            <a:srgbClr val="E09B34"/>
          </a:solidFill>
          <a:ln cap="flat" cmpd="sng" w="12700">
            <a:solidFill>
              <a:srgbClr val="E09B3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6"/>
          <p:cNvSpPr/>
          <p:nvPr/>
        </p:nvSpPr>
        <p:spPr>
          <a:xfrm>
            <a:off x="548640" y="384048"/>
            <a:ext cx="475488"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1821"/>
              </a:buClr>
              <a:buSzPts val="2000"/>
              <a:buFont typeface="Calibri"/>
              <a:buNone/>
            </a:pPr>
            <a:r>
              <a:rPr b="1" i="0" lang="en-US" sz="2000" u="none" cap="none" strike="noStrike">
                <a:solidFill>
                  <a:srgbClr val="141821"/>
                </a:solidFill>
                <a:latin typeface="Calibri"/>
                <a:ea typeface="Calibri"/>
                <a:cs typeface="Calibri"/>
                <a:sym typeface="Calibri"/>
              </a:rPr>
              <a:t>5</a:t>
            </a:r>
            <a:endParaRPr b="0" i="0" sz="2000" u="none" cap="none" strike="noStrike">
              <a:solidFill>
                <a:schemeClr val="dk1"/>
              </a:solidFill>
              <a:latin typeface="Calibri"/>
              <a:ea typeface="Calibri"/>
              <a:cs typeface="Calibri"/>
              <a:sym typeface="Calibri"/>
            </a:endParaRPr>
          </a:p>
        </p:txBody>
      </p:sp>
      <p:sp>
        <p:nvSpPr>
          <p:cNvPr id="177" name="Google Shape;177;p6"/>
          <p:cNvSpPr/>
          <p:nvPr/>
        </p:nvSpPr>
        <p:spPr>
          <a:xfrm>
            <a:off x="1170432" y="347472"/>
            <a:ext cx="104241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821"/>
              </a:buClr>
              <a:buSzPts val="3000"/>
              <a:buFont typeface="Calibri"/>
              <a:buNone/>
            </a:pPr>
            <a:r>
              <a:rPr b="1" i="0" lang="en-US" sz="3000" u="none" cap="none" strike="noStrike">
                <a:solidFill>
                  <a:srgbClr val="141821"/>
                </a:solidFill>
                <a:latin typeface="Calibri"/>
                <a:ea typeface="Calibri"/>
                <a:cs typeface="Calibri"/>
                <a:sym typeface="Calibri"/>
              </a:rPr>
              <a:t>The goose Folder Structure</a:t>
            </a:r>
            <a:endParaRPr b="0" i="0" sz="3000" u="none" cap="none" strike="noStrike">
              <a:solidFill>
                <a:schemeClr val="dk1"/>
              </a:solidFill>
              <a:latin typeface="Calibri"/>
              <a:ea typeface="Calibri"/>
              <a:cs typeface="Calibri"/>
              <a:sym typeface="Calibri"/>
            </a:endParaRPr>
          </a:p>
        </p:txBody>
      </p:sp>
      <p:sp>
        <p:nvSpPr>
          <p:cNvPr id="178" name="Google Shape;178;p6"/>
          <p:cNvSpPr/>
          <p:nvPr/>
        </p:nvSpPr>
        <p:spPr>
          <a:xfrm>
            <a:off x="1170432" y="914400"/>
            <a:ext cx="104241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300"/>
              <a:buFont typeface="Calibri"/>
              <a:buNone/>
            </a:pPr>
            <a:r>
              <a:rPr b="0" i="1" lang="en-US" sz="1300" u="none" cap="none" strike="noStrike">
                <a:solidFill>
                  <a:srgbClr val="6B7280"/>
                </a:solidFill>
                <a:latin typeface="Calibri"/>
                <a:ea typeface="Calibri"/>
                <a:cs typeface="Calibri"/>
                <a:sym typeface="Calibri"/>
              </a:rPr>
              <a:t>Where state lives — and the precedence rules that decide which setting wins</a:t>
            </a:r>
            <a:endParaRPr b="0" i="0" sz="1300" u="none" cap="none" strike="noStrike">
              <a:solidFill>
                <a:schemeClr val="dk1"/>
              </a:solidFill>
              <a:latin typeface="Calibri"/>
              <a:ea typeface="Calibri"/>
              <a:cs typeface="Calibri"/>
              <a:sym typeface="Calibri"/>
            </a:endParaRPr>
          </a:p>
        </p:txBody>
      </p:sp>
      <p:sp>
        <p:nvSpPr>
          <p:cNvPr id="179" name="Google Shape;179;p6"/>
          <p:cNvSpPr/>
          <p:nvPr/>
        </p:nvSpPr>
        <p:spPr>
          <a:xfrm>
            <a:off x="548640" y="1463040"/>
            <a:ext cx="6492240" cy="3703320"/>
          </a:xfrm>
          <a:prstGeom prst="roundRect">
            <a:avLst>
              <a:gd fmla="val 1235" name="adj"/>
            </a:avLst>
          </a:prstGeom>
          <a:solidFill>
            <a:srgbClr val="141821"/>
          </a:solidFill>
          <a:ln cap="flat" cmpd="sng" w="12700">
            <a:solidFill>
              <a:srgbClr val="1418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6"/>
          <p:cNvSpPr/>
          <p:nvPr/>
        </p:nvSpPr>
        <p:spPr>
          <a:xfrm>
            <a:off x="713232" y="1572768"/>
            <a:ext cx="6163056" cy="3483864"/>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D9E2EC"/>
              </a:buClr>
              <a:buSzPts val="1050"/>
              <a:buFont typeface="Courier New"/>
              <a:buNone/>
            </a:pPr>
            <a:r>
              <a:rPr b="0" i="0" lang="en-US" sz="1050" u="none" cap="none" strike="noStrike">
                <a:solidFill>
                  <a:srgbClr val="D9E2EC"/>
                </a:solidFill>
                <a:latin typeface="Courier New"/>
                <a:ea typeface="Courier New"/>
                <a:cs typeface="Courier New"/>
                <a:sym typeface="Courier New"/>
              </a:rPr>
              <a:t>~/.config/goose/                    # macOS + Linux</a:t>
            </a:r>
            <a:endParaRPr b="0" i="0" sz="105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D9E2EC"/>
              </a:buClr>
              <a:buSzPts val="1050"/>
              <a:buFont typeface="Courier New"/>
              <a:buNone/>
            </a:pPr>
            <a:r>
              <a:rPr b="0" i="0" lang="en-US" sz="1050" u="none" cap="none" strike="noStrike">
                <a:solidFill>
                  <a:srgbClr val="D9E2EC"/>
                </a:solidFill>
                <a:latin typeface="Courier New"/>
                <a:ea typeface="Courier New"/>
                <a:cs typeface="Courier New"/>
                <a:sym typeface="Courier New"/>
              </a:rPr>
              <a:t>├─ config.yaml                      provider, model, extensions,</a:t>
            </a:r>
            <a:endParaRPr b="0" i="0" sz="105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D9E2EC"/>
              </a:buClr>
              <a:buSzPts val="1050"/>
              <a:buFont typeface="Courier New"/>
              <a:buNone/>
            </a:pPr>
            <a:r>
              <a:rPr b="0" i="0" lang="en-US" sz="1050" u="none" cap="none" strike="noStrike">
                <a:solidFill>
                  <a:srgbClr val="D9E2EC"/>
                </a:solidFill>
                <a:latin typeface="Courier New"/>
                <a:ea typeface="Courier New"/>
                <a:cs typeface="Courier New"/>
                <a:sym typeface="Courier New"/>
              </a:rPr>
              <a:t>│                                   global GOOSE_* settings</a:t>
            </a:r>
            <a:endParaRPr b="0" i="0" sz="105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D9E2EC"/>
              </a:buClr>
              <a:buSzPts val="1050"/>
              <a:buFont typeface="Courier New"/>
              <a:buNone/>
            </a:pPr>
            <a:r>
              <a:rPr b="0" i="0" lang="en-US" sz="1050" u="none" cap="none" strike="noStrike">
                <a:solidFill>
                  <a:srgbClr val="D9E2EC"/>
                </a:solidFill>
                <a:latin typeface="Courier New"/>
                <a:ea typeface="Courier New"/>
                <a:cs typeface="Courier New"/>
                <a:sym typeface="Courier New"/>
              </a:rPr>
              <a:t>├─ permission.yaml                  tool permission levels</a:t>
            </a:r>
            <a:endParaRPr b="0" i="0" sz="105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D9E2EC"/>
              </a:buClr>
              <a:buSzPts val="1050"/>
              <a:buFont typeface="Courier New"/>
              <a:buNone/>
            </a:pPr>
            <a:r>
              <a:rPr b="0" i="0" lang="en-US" sz="1050" u="none" cap="none" strike="noStrike">
                <a:solidFill>
                  <a:srgbClr val="D9E2EC"/>
                </a:solidFill>
                <a:latin typeface="Courier New"/>
                <a:ea typeface="Courier New"/>
                <a:cs typeface="Courier New"/>
                <a:sym typeface="Courier New"/>
              </a:rPr>
              <a:t>├─ secrets.yaml                     keys, only if no keyring</a:t>
            </a:r>
            <a:endParaRPr b="0" i="0" sz="105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D9E2EC"/>
              </a:buClr>
              <a:buSzPts val="1050"/>
              <a:buFont typeface="Courier New"/>
              <a:buNone/>
            </a:pPr>
            <a:r>
              <a:rPr b="0" i="0" lang="en-US" sz="1050" u="none" cap="none" strike="noStrike">
                <a:solidFill>
                  <a:srgbClr val="D9E2EC"/>
                </a:solidFill>
                <a:latin typeface="Courier New"/>
                <a:ea typeface="Courier New"/>
                <a:cs typeface="Courier New"/>
                <a:sym typeface="Courier New"/>
              </a:rPr>
              <a:t>├─ permissions/</a:t>
            </a:r>
            <a:endParaRPr b="0" i="0" sz="105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D9E2EC"/>
              </a:buClr>
              <a:buSzPts val="1050"/>
              <a:buFont typeface="Courier New"/>
              <a:buNone/>
            </a:pPr>
            <a:r>
              <a:rPr b="0" i="0" lang="en-US" sz="1050" u="none" cap="none" strike="noStrike">
                <a:solidFill>
                  <a:srgbClr val="D9E2EC"/>
                </a:solidFill>
                <a:latin typeface="Courier New"/>
                <a:ea typeface="Courier New"/>
                <a:cs typeface="Courier New"/>
                <a:sym typeface="Courier New"/>
              </a:rPr>
              <a:t>│  └─ tool_permissions.json         runtime decisions (auto)</a:t>
            </a:r>
            <a:endParaRPr b="0" i="0" sz="105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D9E2EC"/>
              </a:buClr>
              <a:buSzPts val="1050"/>
              <a:buFont typeface="Courier New"/>
              <a:buNone/>
            </a:pPr>
            <a:r>
              <a:rPr b="0" i="0" lang="en-US" sz="1050" u="none" cap="none" strike="noStrike">
                <a:solidFill>
                  <a:srgbClr val="D9E2EC"/>
                </a:solidFill>
                <a:latin typeface="Courier New"/>
                <a:ea typeface="Courier New"/>
                <a:cs typeface="Courier New"/>
                <a:sym typeface="Courier New"/>
              </a:rPr>
              <a:t>└─ prompts/                         custom prompt templates</a:t>
            </a:r>
            <a:endParaRPr b="0" i="0" sz="105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D9E2EC"/>
              </a:buClr>
              <a:buSzPts val="1050"/>
              <a:buFont typeface="Courier New"/>
              <a:buNone/>
            </a:pPr>
            <a:r>
              <a:rPr b="0" i="0" lang="en-US" sz="1050" u="none" cap="none" strike="noStrike">
                <a:solidFill>
                  <a:srgbClr val="D9E2EC"/>
                </a:solidFill>
                <a:latin typeface="Courier New"/>
                <a:ea typeface="Courier New"/>
                <a:cs typeface="Courier New"/>
                <a:sym typeface="Courier New"/>
              </a:rPr>
              <a:t>~/.local/share/goose/</a:t>
            </a:r>
            <a:endParaRPr b="0" i="0" sz="105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D9E2EC"/>
              </a:buClr>
              <a:buSzPts val="1050"/>
              <a:buFont typeface="Courier New"/>
              <a:buNone/>
            </a:pPr>
            <a:r>
              <a:rPr b="0" i="0" lang="en-US" sz="1050" u="none" cap="none" strike="noStrike">
                <a:solidFill>
                  <a:srgbClr val="D9E2EC"/>
                </a:solidFill>
                <a:latin typeface="Courier New"/>
                <a:ea typeface="Courier New"/>
                <a:cs typeface="Courier New"/>
                <a:sym typeface="Courier New"/>
              </a:rPr>
              <a:t>├─ sessions/sessions.db             SQLite store (v1.10.0+)</a:t>
            </a:r>
            <a:endParaRPr b="0" i="0" sz="105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D9E2EC"/>
              </a:buClr>
              <a:buSzPts val="1050"/>
              <a:buFont typeface="Courier New"/>
              <a:buNone/>
            </a:pPr>
            <a:r>
              <a:rPr b="0" i="0" lang="en-US" sz="1050" u="none" cap="none" strike="noStrike">
                <a:solidFill>
                  <a:srgbClr val="D9E2EC"/>
                </a:solidFill>
                <a:latin typeface="Courier New"/>
                <a:ea typeface="Courier New"/>
                <a:cs typeface="Courier New"/>
                <a:sym typeface="Courier New"/>
              </a:rPr>
              <a:t>└─ recipes/                         saved recipes</a:t>
            </a:r>
            <a:endParaRPr b="0" i="0" sz="105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D9E2EC"/>
              </a:buClr>
              <a:buSzPts val="1050"/>
              <a:buFont typeface="Courier New"/>
              <a:buNone/>
            </a:pPr>
            <a:r>
              <a:rPr b="0" i="0" lang="en-US" sz="1050" u="none" cap="none" strike="noStrike">
                <a:solidFill>
                  <a:srgbClr val="D9E2EC"/>
                </a:solidFill>
                <a:latin typeface="Courier New"/>
                <a:ea typeface="Courier New"/>
                <a:cs typeface="Courier New"/>
                <a:sym typeface="Courier New"/>
              </a:rPr>
              <a:t>Windows: %APPDATA%\Block\goose\config\config.yaml</a:t>
            </a:r>
            <a:endParaRPr b="0" i="0" sz="105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D9E2EC"/>
              </a:buClr>
              <a:buSzPts val="1050"/>
              <a:buFont typeface="Courier New"/>
              <a:buNone/>
            </a:pPr>
            <a:r>
              <a:rPr b="0" i="0" lang="en-US" sz="1050" u="none" cap="none" strike="noStrike">
                <a:solidFill>
                  <a:srgbClr val="D9E2EC"/>
                </a:solidFill>
                <a:latin typeface="Courier New"/>
                <a:ea typeface="Courier New"/>
                <a:cs typeface="Courier New"/>
                <a:sym typeface="Courier New"/>
              </a:rPr>
              <a:t>&lt;your-repo&gt;/</a:t>
            </a:r>
            <a:endParaRPr b="0" i="0" sz="105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D9E2EC"/>
              </a:buClr>
              <a:buSzPts val="1050"/>
              <a:buFont typeface="Courier New"/>
              <a:buNone/>
            </a:pPr>
            <a:r>
              <a:rPr b="0" i="0" lang="en-US" sz="1050" u="none" cap="none" strike="noStrike">
                <a:solidFill>
                  <a:srgbClr val="D9E2EC"/>
                </a:solidFill>
                <a:latin typeface="Courier New"/>
                <a:ea typeface="Courier New"/>
                <a:cs typeface="Courier New"/>
                <a:sym typeface="Courier New"/>
              </a:rPr>
              <a:t>├─ AGENTS.md  |  .goosehints         project context &amp; rules</a:t>
            </a:r>
            <a:endParaRPr b="0" i="0" sz="105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D9E2EC"/>
              </a:buClr>
              <a:buSzPts val="1050"/>
              <a:buFont typeface="Courier New"/>
              <a:buNone/>
            </a:pPr>
            <a:r>
              <a:rPr b="0" i="0" lang="en-US" sz="1050" u="none" cap="none" strike="noStrike">
                <a:solidFill>
                  <a:srgbClr val="D9E2EC"/>
                </a:solidFill>
                <a:latin typeface="Courier New"/>
                <a:ea typeface="Courier New"/>
                <a:cs typeface="Courier New"/>
                <a:sym typeface="Courier New"/>
              </a:rPr>
              <a:t>└─ .gooseignore                      paths goose must not touch</a:t>
            </a:r>
            <a:endParaRPr b="0" i="0" sz="1050" u="none" cap="none" strike="noStrike">
              <a:solidFill>
                <a:schemeClr val="dk1"/>
              </a:solidFill>
              <a:latin typeface="Calibri"/>
              <a:ea typeface="Calibri"/>
              <a:cs typeface="Calibri"/>
              <a:sym typeface="Calibri"/>
            </a:endParaRPr>
          </a:p>
        </p:txBody>
      </p:sp>
      <p:sp>
        <p:nvSpPr>
          <p:cNvPr id="181" name="Google Shape;181;p6"/>
          <p:cNvSpPr/>
          <p:nvPr/>
        </p:nvSpPr>
        <p:spPr>
          <a:xfrm>
            <a:off x="7242048" y="1463040"/>
            <a:ext cx="4389120" cy="1481328"/>
          </a:xfrm>
          <a:prstGeom prst="roundRect">
            <a:avLst>
              <a:gd fmla="val 3704" name="adj"/>
            </a:avLst>
          </a:prstGeom>
          <a:solidFill>
            <a:srgbClr val="EDF1F4"/>
          </a:solidFill>
          <a:ln cap="flat" cmpd="sng" w="12700">
            <a:solidFill>
              <a:srgbClr val="EDF1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6"/>
          <p:cNvSpPr/>
          <p:nvPr/>
        </p:nvSpPr>
        <p:spPr>
          <a:xfrm>
            <a:off x="7443216" y="1627632"/>
            <a:ext cx="398678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821"/>
              </a:buClr>
              <a:buSzPts val="1400"/>
              <a:buFont typeface="Calibri"/>
              <a:buNone/>
            </a:pPr>
            <a:r>
              <a:rPr b="1" i="0" lang="en-US" sz="1400" u="none" cap="none" strike="noStrike">
                <a:solidFill>
                  <a:srgbClr val="141821"/>
                </a:solidFill>
                <a:latin typeface="Calibri"/>
                <a:ea typeface="Calibri"/>
                <a:cs typeface="Calibri"/>
                <a:sym typeface="Calibri"/>
              </a:rPr>
              <a:t>Precedence: highest wins</a:t>
            </a:r>
            <a:endParaRPr b="0" i="0" sz="1400" u="none" cap="none" strike="noStrike">
              <a:solidFill>
                <a:schemeClr val="dk1"/>
              </a:solidFill>
              <a:latin typeface="Calibri"/>
              <a:ea typeface="Calibri"/>
              <a:cs typeface="Calibri"/>
              <a:sym typeface="Calibri"/>
            </a:endParaRPr>
          </a:p>
        </p:txBody>
      </p:sp>
      <p:sp>
        <p:nvSpPr>
          <p:cNvPr id="183" name="Google Shape;183;p6"/>
          <p:cNvSpPr/>
          <p:nvPr/>
        </p:nvSpPr>
        <p:spPr>
          <a:xfrm>
            <a:off x="7443216" y="1938528"/>
            <a:ext cx="3986784" cy="87782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3D4553"/>
              </a:buClr>
              <a:buSzPts val="1200"/>
              <a:buFont typeface="Calibri"/>
              <a:buNone/>
            </a:pPr>
            <a:r>
              <a:rPr b="0" i="0" lang="en-US" sz="1200" u="none" cap="none" strike="noStrike">
                <a:solidFill>
                  <a:srgbClr val="3D4553"/>
                </a:solidFill>
                <a:latin typeface="Calibri"/>
                <a:ea typeface="Calibri"/>
                <a:cs typeface="Calibri"/>
                <a:sym typeface="Calibri"/>
              </a:rPr>
              <a:t>1.  Environment variables</a:t>
            </a:r>
            <a:endParaRPr b="0" i="0" sz="12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3D4553"/>
              </a:buClr>
              <a:buSzPts val="1200"/>
              <a:buFont typeface="Calibri"/>
              <a:buNone/>
            </a:pPr>
            <a:r>
              <a:rPr b="0" i="0" lang="en-US" sz="1200" u="none" cap="none" strike="noStrike">
                <a:solidFill>
                  <a:srgbClr val="3D4553"/>
                </a:solidFill>
                <a:latin typeface="Calibri"/>
                <a:ea typeface="Calibri"/>
                <a:cs typeface="Calibri"/>
                <a:sym typeface="Calibri"/>
              </a:rPr>
              <a:t>2.  config.yaml settings</a:t>
            </a:r>
            <a:endParaRPr b="0" i="0" sz="12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3D4553"/>
              </a:buClr>
              <a:buSzPts val="1200"/>
              <a:buFont typeface="Calibri"/>
              <a:buNone/>
            </a:pPr>
            <a:r>
              <a:rPr b="0" i="0" lang="en-US" sz="1200" u="none" cap="none" strike="noStrike">
                <a:solidFill>
                  <a:srgbClr val="3D4553"/>
                </a:solidFill>
                <a:latin typeface="Calibri"/>
                <a:ea typeface="Calibri"/>
                <a:cs typeface="Calibri"/>
                <a:sym typeface="Calibri"/>
              </a:rPr>
              <a:t>3.  Built-in defaults</a:t>
            </a:r>
            <a:endParaRPr b="0" i="0" sz="1200" u="none" cap="none" strike="noStrike">
              <a:solidFill>
                <a:schemeClr val="dk1"/>
              </a:solidFill>
              <a:latin typeface="Calibri"/>
              <a:ea typeface="Calibri"/>
              <a:cs typeface="Calibri"/>
              <a:sym typeface="Calibri"/>
            </a:endParaRPr>
          </a:p>
        </p:txBody>
      </p:sp>
      <p:sp>
        <p:nvSpPr>
          <p:cNvPr id="184" name="Google Shape;184;p6"/>
          <p:cNvSpPr/>
          <p:nvPr/>
        </p:nvSpPr>
        <p:spPr>
          <a:xfrm>
            <a:off x="7242048" y="3063240"/>
            <a:ext cx="4389120" cy="2103120"/>
          </a:xfrm>
          <a:prstGeom prst="roundRect">
            <a:avLst>
              <a:gd fmla="val 2609" name="adj"/>
            </a:avLst>
          </a:prstGeom>
          <a:solidFill>
            <a:srgbClr val="F4F6F8"/>
          </a:solidFill>
          <a:ln cap="flat" cmpd="sng" w="12700">
            <a:solidFill>
              <a:srgbClr val="F4F6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6"/>
          <p:cNvSpPr/>
          <p:nvPr/>
        </p:nvSpPr>
        <p:spPr>
          <a:xfrm>
            <a:off x="7443216" y="3227832"/>
            <a:ext cx="398678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821"/>
              </a:buClr>
              <a:buSzPts val="1400"/>
              <a:buFont typeface="Calibri"/>
              <a:buNone/>
            </a:pPr>
            <a:r>
              <a:rPr b="1" i="0" lang="en-US" sz="1400" u="none" cap="none" strike="noStrike">
                <a:solidFill>
                  <a:srgbClr val="141821"/>
                </a:solidFill>
                <a:latin typeface="Calibri"/>
                <a:ea typeface="Calibri"/>
                <a:cs typeface="Calibri"/>
                <a:sym typeface="Calibri"/>
              </a:rPr>
              <a:t>Settings worth knowing on day one</a:t>
            </a:r>
            <a:endParaRPr b="0" i="0" sz="1400" u="none" cap="none" strike="noStrike">
              <a:solidFill>
                <a:schemeClr val="dk1"/>
              </a:solidFill>
              <a:latin typeface="Calibri"/>
              <a:ea typeface="Calibri"/>
              <a:cs typeface="Calibri"/>
              <a:sym typeface="Calibri"/>
            </a:endParaRPr>
          </a:p>
        </p:txBody>
      </p:sp>
      <p:sp>
        <p:nvSpPr>
          <p:cNvPr id="186" name="Google Shape;186;p6"/>
          <p:cNvSpPr/>
          <p:nvPr/>
        </p:nvSpPr>
        <p:spPr>
          <a:xfrm>
            <a:off x="7443216" y="3538728"/>
            <a:ext cx="3986784" cy="1499616"/>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3D4553"/>
              </a:buClr>
              <a:buSzPts val="1050"/>
              <a:buFont typeface="Calibri"/>
              <a:buNone/>
            </a:pPr>
            <a:r>
              <a:rPr b="0" i="0" lang="en-US" sz="1050" u="none" cap="none" strike="noStrike">
                <a:solidFill>
                  <a:srgbClr val="3D4553"/>
                </a:solidFill>
                <a:latin typeface="Calibri"/>
                <a:ea typeface="Calibri"/>
                <a:cs typeface="Calibri"/>
                <a:sym typeface="Calibri"/>
              </a:rPr>
              <a:t>GOOSE_MODE  — auto | approve | smart_approve | chat</a:t>
            </a:r>
            <a:endParaRPr b="0" i="0" sz="10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3D4553"/>
              </a:buClr>
              <a:buSzPts val="1050"/>
              <a:buFont typeface="Calibri"/>
              <a:buNone/>
            </a:pPr>
            <a:r>
              <a:rPr b="0" i="0" lang="en-US" sz="1050" u="none" cap="none" strike="noStrike">
                <a:solidFill>
                  <a:srgbClr val="3D4553"/>
                </a:solidFill>
                <a:latin typeface="Calibri"/>
                <a:ea typeface="Calibri"/>
                <a:cs typeface="Calibri"/>
                <a:sym typeface="Calibri"/>
              </a:rPr>
              <a:t>GOOSE_MAX_TURNS  — turns without input (default 1000)</a:t>
            </a:r>
            <a:endParaRPr b="0" i="0" sz="10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3D4553"/>
              </a:buClr>
              <a:buSzPts val="1050"/>
              <a:buFont typeface="Calibri"/>
              <a:buNone/>
            </a:pPr>
            <a:r>
              <a:rPr b="0" i="0" lang="en-US" sz="1050" u="none" cap="none" strike="noStrike">
                <a:solidFill>
                  <a:srgbClr val="3D4553"/>
                </a:solidFill>
                <a:latin typeface="Calibri"/>
                <a:ea typeface="Calibri"/>
                <a:cs typeface="Calibri"/>
                <a:sym typeface="Calibri"/>
              </a:rPr>
              <a:t>GOOSE_AUTO_COMPACT_THRESHOLD  — default 0.8</a:t>
            </a:r>
            <a:endParaRPr b="0" i="0" sz="10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3D4553"/>
              </a:buClr>
              <a:buSzPts val="1050"/>
              <a:buFont typeface="Calibri"/>
              <a:buNone/>
            </a:pPr>
            <a:r>
              <a:rPr b="0" i="0" lang="en-US" sz="1050" u="none" cap="none" strike="noStrike">
                <a:solidFill>
                  <a:srgbClr val="3D4553"/>
                </a:solidFill>
                <a:latin typeface="Calibri"/>
                <a:ea typeface="Calibri"/>
                <a:cs typeface="Calibri"/>
                <a:sym typeface="Calibri"/>
              </a:rPr>
              <a:t>GOOSE_TEMPERATURE, GOOSE_MAX_TOKENS</a:t>
            </a:r>
            <a:endParaRPr b="0" i="0" sz="10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3D4553"/>
              </a:buClr>
              <a:buSzPts val="1050"/>
              <a:buFont typeface="Calibri"/>
              <a:buNone/>
            </a:pPr>
            <a:r>
              <a:rPr b="0" i="0" lang="en-US" sz="1050" u="none" cap="none" strike="noStrike">
                <a:solidFill>
                  <a:srgbClr val="3D4553"/>
                </a:solidFill>
                <a:latin typeface="Calibri"/>
                <a:ea typeface="Calibri"/>
                <a:cs typeface="Calibri"/>
                <a:sym typeface="Calibri"/>
              </a:rPr>
              <a:t>GOOSE_ALLOWLIST  — restrict installable extensions</a:t>
            </a:r>
            <a:endParaRPr b="0" i="0" sz="10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3D4553"/>
              </a:buClr>
              <a:buSzPts val="1050"/>
              <a:buFont typeface="Calibri"/>
              <a:buNone/>
            </a:pPr>
            <a:r>
              <a:rPr b="0" i="0" lang="en-US" sz="1050" u="none" cap="none" strike="noStrike">
                <a:solidFill>
                  <a:srgbClr val="3D4553"/>
                </a:solidFill>
                <a:latin typeface="Calibri"/>
                <a:ea typeface="Calibri"/>
                <a:cs typeface="Calibri"/>
                <a:sym typeface="Calibri"/>
              </a:rPr>
              <a:t>SECURITY_PROMPT_ENABLED  — injection detection</a:t>
            </a:r>
            <a:endParaRPr b="0" i="0" sz="1050" u="none" cap="none" strike="noStrike">
              <a:solidFill>
                <a:schemeClr val="dk1"/>
              </a:solidFill>
              <a:latin typeface="Calibri"/>
              <a:ea typeface="Calibri"/>
              <a:cs typeface="Calibri"/>
              <a:sym typeface="Calibri"/>
            </a:endParaRPr>
          </a:p>
        </p:txBody>
      </p:sp>
      <p:sp>
        <p:nvSpPr>
          <p:cNvPr id="187" name="Google Shape;187;p6"/>
          <p:cNvSpPr/>
          <p:nvPr/>
        </p:nvSpPr>
        <p:spPr>
          <a:xfrm>
            <a:off x="548640" y="5394960"/>
            <a:ext cx="11082528" cy="841248"/>
          </a:xfrm>
          <a:prstGeom prst="roundRect">
            <a:avLst>
              <a:gd fmla="val 6522" name="adj"/>
            </a:avLst>
          </a:prstGeom>
          <a:solidFill>
            <a:srgbClr val="141821"/>
          </a:solidFill>
          <a:ln cap="flat" cmpd="sng" w="12700">
            <a:solidFill>
              <a:srgbClr val="1418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6"/>
          <p:cNvSpPr/>
          <p:nvPr/>
        </p:nvSpPr>
        <p:spPr>
          <a:xfrm>
            <a:off x="749808" y="5559552"/>
            <a:ext cx="1068019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9B34"/>
              </a:buClr>
              <a:buSzPts val="1350"/>
              <a:buFont typeface="Calibri"/>
              <a:buNone/>
            </a:pPr>
            <a:r>
              <a:rPr b="1" i="0" lang="en-US" sz="1350" u="none" cap="none" strike="noStrike">
                <a:solidFill>
                  <a:srgbClr val="E09B34"/>
                </a:solidFill>
                <a:latin typeface="Calibri"/>
                <a:ea typeface="Calibri"/>
                <a:cs typeface="Calibri"/>
                <a:sym typeface="Calibri"/>
              </a:rPr>
              <a:t>Gotcha worth ten minutes of debugging</a:t>
            </a:r>
            <a:endParaRPr b="0" i="0" sz="1350" u="none" cap="none" strike="noStrike">
              <a:solidFill>
                <a:schemeClr val="dk1"/>
              </a:solidFill>
              <a:latin typeface="Calibri"/>
              <a:ea typeface="Calibri"/>
              <a:cs typeface="Calibri"/>
              <a:sym typeface="Calibri"/>
            </a:endParaRPr>
          </a:p>
        </p:txBody>
      </p:sp>
      <p:sp>
        <p:nvSpPr>
          <p:cNvPr id="189" name="Google Shape;189;p6"/>
          <p:cNvSpPr/>
          <p:nvPr/>
        </p:nvSpPr>
        <p:spPr>
          <a:xfrm>
            <a:off x="749808" y="5815584"/>
            <a:ext cx="10680192" cy="292608"/>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B8C1D0"/>
              </a:buClr>
              <a:buSzPts val="1050"/>
              <a:buFont typeface="Calibri"/>
              <a:buNone/>
            </a:pPr>
            <a:r>
              <a:rPr b="0" i="0" lang="en-US" sz="1050" u="none" cap="none" strike="noStrike">
                <a:solidFill>
                  <a:srgbClr val="B8C1D0"/>
                </a:solidFill>
                <a:latin typeface="Calibri"/>
                <a:ea typeface="Calibri"/>
                <a:cs typeface="Calibri"/>
                <a:sym typeface="Calibri"/>
              </a:rPr>
              <a:t>goose does not read provider API keys from config.yaml. A key placed there is silently ignored and surfaces later as “No api key passed in.” Store it in the system keyring via goose configure, in secrets.yaml when no keyring is available (headless servers, containers, CI), or export the provider’s environment variable — which takes precedence over stored secrets. Direct file edits usually need a restart to affect existing sessions.</a:t>
            </a:r>
            <a:endParaRPr b="0" i="0" sz="1050" u="none" cap="none" strike="noStrike">
              <a:solidFill>
                <a:schemeClr val="dk1"/>
              </a:solidFill>
              <a:latin typeface="Calibri"/>
              <a:ea typeface="Calibri"/>
              <a:cs typeface="Calibri"/>
              <a:sym typeface="Calibri"/>
            </a:endParaRPr>
          </a:p>
        </p:txBody>
      </p:sp>
      <p:sp>
        <p:nvSpPr>
          <p:cNvPr id="190" name="Google Shape;190;p6"/>
          <p:cNvSpPr/>
          <p:nvPr/>
        </p:nvSpPr>
        <p:spPr>
          <a:xfrm>
            <a:off x="548640" y="6355080"/>
            <a:ext cx="11064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50"/>
              <a:buFont typeface="Calibri"/>
              <a:buNone/>
            </a:pPr>
            <a:r>
              <a:rPr b="0" i="0" lang="en-US" sz="950" u="none" cap="none" strike="noStrike">
                <a:solidFill>
                  <a:srgbClr val="6B7280"/>
                </a:solidFill>
                <a:latin typeface="Calibri"/>
                <a:ea typeface="Calibri"/>
                <a:cs typeface="Calibri"/>
                <a:sym typeface="Calibri"/>
              </a:rPr>
              <a:t>Reference: goose-docs.ai/docs/guides/config-files · /guides/environment-variables</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5" name="Shape 195"/>
        <p:cNvGrpSpPr/>
        <p:nvPr/>
      </p:nvGrpSpPr>
      <p:grpSpPr>
        <a:xfrm>
          <a:off x="0" y="0"/>
          <a:ext cx="0" cy="0"/>
          <a:chOff x="0" y="0"/>
          <a:chExt cx="0" cy="0"/>
        </a:xfrm>
      </p:grpSpPr>
      <p:sp>
        <p:nvSpPr>
          <p:cNvPr id="196" name="Google Shape;196;p7"/>
          <p:cNvSpPr/>
          <p:nvPr/>
        </p:nvSpPr>
        <p:spPr>
          <a:xfrm>
            <a:off x="548640" y="384048"/>
            <a:ext cx="475488" cy="475488"/>
          </a:xfrm>
          <a:prstGeom prst="roundRect">
            <a:avLst>
              <a:gd fmla="val 19231" name="adj"/>
            </a:avLst>
          </a:prstGeom>
          <a:solidFill>
            <a:srgbClr val="E09B34"/>
          </a:solidFill>
          <a:ln cap="flat" cmpd="sng" w="12700">
            <a:solidFill>
              <a:srgbClr val="E09B3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7"/>
          <p:cNvSpPr/>
          <p:nvPr/>
        </p:nvSpPr>
        <p:spPr>
          <a:xfrm>
            <a:off x="548640" y="384048"/>
            <a:ext cx="475488"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1821"/>
              </a:buClr>
              <a:buSzPts val="2000"/>
              <a:buFont typeface="Calibri"/>
              <a:buNone/>
            </a:pPr>
            <a:r>
              <a:rPr b="1" i="0" lang="en-US" sz="2000" u="none" cap="none" strike="noStrike">
                <a:solidFill>
                  <a:srgbClr val="141821"/>
                </a:solidFill>
                <a:latin typeface="Calibri"/>
                <a:ea typeface="Calibri"/>
                <a:cs typeface="Calibri"/>
                <a:sym typeface="Calibri"/>
              </a:rPr>
              <a:t>6</a:t>
            </a:r>
            <a:endParaRPr b="0" i="0" sz="2000" u="none" cap="none" strike="noStrike">
              <a:solidFill>
                <a:schemeClr val="dk1"/>
              </a:solidFill>
              <a:latin typeface="Calibri"/>
              <a:ea typeface="Calibri"/>
              <a:cs typeface="Calibri"/>
              <a:sym typeface="Calibri"/>
            </a:endParaRPr>
          </a:p>
        </p:txBody>
      </p:sp>
      <p:sp>
        <p:nvSpPr>
          <p:cNvPr id="198" name="Google Shape;198;p7"/>
          <p:cNvSpPr/>
          <p:nvPr/>
        </p:nvSpPr>
        <p:spPr>
          <a:xfrm>
            <a:off x="1170432" y="347472"/>
            <a:ext cx="104241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821"/>
              </a:buClr>
              <a:buSzPts val="3000"/>
              <a:buFont typeface="Calibri"/>
              <a:buNone/>
            </a:pPr>
            <a:r>
              <a:rPr b="1" i="0" lang="en-US" sz="3000" u="none" cap="none" strike="noStrike">
                <a:solidFill>
                  <a:srgbClr val="141821"/>
                </a:solidFill>
                <a:latin typeface="Calibri"/>
                <a:ea typeface="Calibri"/>
                <a:cs typeface="Calibri"/>
                <a:sym typeface="Calibri"/>
              </a:rPr>
              <a:t>Feature — Session Management</a:t>
            </a:r>
            <a:endParaRPr b="0" i="0" sz="3000" u="none" cap="none" strike="noStrike">
              <a:solidFill>
                <a:schemeClr val="dk1"/>
              </a:solidFill>
              <a:latin typeface="Calibri"/>
              <a:ea typeface="Calibri"/>
              <a:cs typeface="Calibri"/>
              <a:sym typeface="Calibri"/>
            </a:endParaRPr>
          </a:p>
        </p:txBody>
      </p:sp>
      <p:sp>
        <p:nvSpPr>
          <p:cNvPr id="199" name="Google Shape;199;p7"/>
          <p:cNvSpPr/>
          <p:nvPr/>
        </p:nvSpPr>
        <p:spPr>
          <a:xfrm>
            <a:off x="1170432" y="914400"/>
            <a:ext cx="104241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300"/>
              <a:buFont typeface="Calibri"/>
              <a:buNone/>
            </a:pPr>
            <a:r>
              <a:rPr b="0" i="1" lang="en-US" sz="1300" u="none" cap="none" strike="noStrike">
                <a:solidFill>
                  <a:srgbClr val="6B7280"/>
                </a:solidFill>
                <a:latin typeface="Calibri"/>
                <a:ea typeface="Calibri"/>
                <a:cs typeface="Calibri"/>
                <a:sym typeface="Calibri"/>
              </a:rPr>
              <a:t>A session is one continuous interaction. goose treats it as a first-class, persistent object.</a:t>
            </a:r>
            <a:endParaRPr b="0" i="0" sz="1300" u="none" cap="none" strike="noStrike">
              <a:solidFill>
                <a:schemeClr val="dk1"/>
              </a:solidFill>
              <a:latin typeface="Calibri"/>
              <a:ea typeface="Calibri"/>
              <a:cs typeface="Calibri"/>
              <a:sym typeface="Calibri"/>
            </a:endParaRPr>
          </a:p>
        </p:txBody>
      </p:sp>
      <p:sp>
        <p:nvSpPr>
          <p:cNvPr id="200" name="Google Shape;200;p7"/>
          <p:cNvSpPr/>
          <p:nvPr/>
        </p:nvSpPr>
        <p:spPr>
          <a:xfrm>
            <a:off x="548640" y="1463040"/>
            <a:ext cx="3602736" cy="1316736"/>
          </a:xfrm>
          <a:prstGeom prst="roundRect">
            <a:avLst>
              <a:gd fmla="val 3472" name="adj"/>
            </a:avLst>
          </a:prstGeom>
          <a:solidFill>
            <a:srgbClr val="F4F6F8"/>
          </a:solidFill>
          <a:ln cap="flat" cmpd="sng" w="12700">
            <a:solidFill>
              <a:srgbClr val="F4F6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7"/>
          <p:cNvSpPr/>
          <p:nvPr/>
        </p:nvSpPr>
        <p:spPr>
          <a:xfrm>
            <a:off x="694944" y="1554480"/>
            <a:ext cx="3310128" cy="1133856"/>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41821"/>
              </a:buClr>
              <a:buSzPts val="1300"/>
              <a:buFont typeface="Calibri"/>
              <a:buNone/>
            </a:pPr>
            <a:r>
              <a:rPr b="1" i="0" lang="en-US" sz="1300" u="none" cap="none" strike="noStrike">
                <a:solidFill>
                  <a:srgbClr val="141821"/>
                </a:solidFill>
                <a:latin typeface="Calibri"/>
                <a:ea typeface="Calibri"/>
                <a:cs typeface="Calibri"/>
                <a:sym typeface="Calibri"/>
              </a:rPr>
              <a:t>Start &amp; name</a:t>
            </a:r>
            <a:endParaRPr b="0" i="0" sz="13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4A5262"/>
              </a:buClr>
              <a:buSzPts val="1050"/>
              <a:buFont typeface="Calibri"/>
              <a:buNone/>
            </a:pPr>
            <a:r>
              <a:rPr b="0" i="0" lang="en-US" sz="1050" u="none" cap="none" strike="noStrike">
                <a:solidFill>
                  <a:srgbClr val="4A5262"/>
                </a:solidFill>
                <a:latin typeface="Calibri"/>
                <a:ea typeface="Calibri"/>
                <a:cs typeface="Calibri"/>
                <a:sym typeface="Calibri"/>
              </a:rPr>
              <a:t>Names are auto-generated from your first prompt; IDs use YYYYMMDD_&lt;count&gt;. Disable AI naming with GOOSE_DISABLE_SESSION_NAMING for CI.</a:t>
            </a:r>
            <a:endParaRPr b="0" i="0" sz="1300" u="none" cap="none" strike="noStrike">
              <a:solidFill>
                <a:schemeClr val="dk1"/>
              </a:solidFill>
              <a:latin typeface="Calibri"/>
              <a:ea typeface="Calibri"/>
              <a:cs typeface="Calibri"/>
              <a:sym typeface="Calibri"/>
            </a:endParaRPr>
          </a:p>
        </p:txBody>
      </p:sp>
      <p:sp>
        <p:nvSpPr>
          <p:cNvPr id="202" name="Google Shape;202;p7"/>
          <p:cNvSpPr/>
          <p:nvPr/>
        </p:nvSpPr>
        <p:spPr>
          <a:xfrm>
            <a:off x="4288536" y="1463040"/>
            <a:ext cx="3602736" cy="1316736"/>
          </a:xfrm>
          <a:prstGeom prst="roundRect">
            <a:avLst>
              <a:gd fmla="val 3472" name="adj"/>
            </a:avLst>
          </a:prstGeom>
          <a:solidFill>
            <a:srgbClr val="EDF1F4"/>
          </a:solidFill>
          <a:ln cap="flat" cmpd="sng" w="12700">
            <a:solidFill>
              <a:srgbClr val="EDF1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7"/>
          <p:cNvSpPr/>
          <p:nvPr/>
        </p:nvSpPr>
        <p:spPr>
          <a:xfrm>
            <a:off x="4434840" y="1554480"/>
            <a:ext cx="3310128" cy="1133856"/>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41821"/>
              </a:buClr>
              <a:buSzPts val="1300"/>
              <a:buFont typeface="Calibri"/>
              <a:buNone/>
            </a:pPr>
            <a:r>
              <a:rPr b="1" i="0" lang="en-US" sz="1300" u="none" cap="none" strike="noStrike">
                <a:solidFill>
                  <a:srgbClr val="141821"/>
                </a:solidFill>
                <a:latin typeface="Calibri"/>
                <a:ea typeface="Calibri"/>
                <a:cs typeface="Calibri"/>
                <a:sym typeface="Calibri"/>
              </a:rPr>
              <a:t>Resume</a:t>
            </a:r>
            <a:endParaRPr b="0" i="0" sz="13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4A5262"/>
              </a:buClr>
              <a:buSzPts val="1050"/>
              <a:buFont typeface="Calibri"/>
              <a:buNone/>
            </a:pPr>
            <a:r>
              <a:rPr b="0" i="0" lang="en-US" sz="1050" u="none" cap="none" strike="noStrike">
                <a:solidFill>
                  <a:srgbClr val="4A5262"/>
                </a:solidFill>
                <a:latin typeface="Calibri"/>
                <a:ea typeface="Calibri"/>
                <a:cs typeface="Calibri"/>
                <a:sym typeface="Calibri"/>
              </a:rPr>
              <a:t>goose session -r --name &lt;name&gt;. The 10 most recent sit in the Desktop sidebar; older ones come from Session History.</a:t>
            </a:r>
            <a:endParaRPr b="0" i="0" sz="1300" u="none" cap="none" strike="noStrike">
              <a:solidFill>
                <a:schemeClr val="dk1"/>
              </a:solidFill>
              <a:latin typeface="Calibri"/>
              <a:ea typeface="Calibri"/>
              <a:cs typeface="Calibri"/>
              <a:sym typeface="Calibri"/>
            </a:endParaRPr>
          </a:p>
        </p:txBody>
      </p:sp>
      <p:sp>
        <p:nvSpPr>
          <p:cNvPr id="204" name="Google Shape;204;p7"/>
          <p:cNvSpPr/>
          <p:nvPr/>
        </p:nvSpPr>
        <p:spPr>
          <a:xfrm>
            <a:off x="8028432" y="1463040"/>
            <a:ext cx="3602736" cy="1316736"/>
          </a:xfrm>
          <a:prstGeom prst="roundRect">
            <a:avLst>
              <a:gd fmla="val 3472" name="adj"/>
            </a:avLst>
          </a:prstGeom>
          <a:solidFill>
            <a:srgbClr val="F4F6F8"/>
          </a:solidFill>
          <a:ln cap="flat" cmpd="sng" w="12700">
            <a:solidFill>
              <a:srgbClr val="F4F6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7"/>
          <p:cNvSpPr/>
          <p:nvPr/>
        </p:nvSpPr>
        <p:spPr>
          <a:xfrm>
            <a:off x="8174736" y="1554480"/>
            <a:ext cx="3310128" cy="1133856"/>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41821"/>
              </a:buClr>
              <a:buSzPts val="1300"/>
              <a:buFont typeface="Calibri"/>
              <a:buNone/>
            </a:pPr>
            <a:r>
              <a:rPr b="1" i="0" lang="en-US" sz="1300" u="none" cap="none" strike="noStrike">
                <a:solidFill>
                  <a:srgbClr val="141821"/>
                </a:solidFill>
                <a:latin typeface="Calibri"/>
                <a:ea typeface="Calibri"/>
                <a:cs typeface="Calibri"/>
                <a:sym typeface="Calibri"/>
              </a:rPr>
              <a:t>Search</a:t>
            </a:r>
            <a:endParaRPr b="0" i="0" sz="13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4A5262"/>
              </a:buClr>
              <a:buSzPts val="1050"/>
              <a:buFont typeface="Calibri"/>
              <a:buNone/>
            </a:pPr>
            <a:r>
              <a:rPr b="0" i="0" lang="en-US" sz="1050" u="none" cap="none" strike="noStrike">
                <a:solidFill>
                  <a:srgbClr val="4A5262"/>
                </a:solidFill>
                <a:latin typeface="Calibri"/>
                <a:ea typeface="Calibri"/>
                <a:cs typeface="Calibri"/>
                <a:sym typeface="Calibri"/>
              </a:rPr>
              <a:t>Cmd+F within a session, or across sessions from history. Or just ask goose — the Chat Recall extension searches your history for you.</a:t>
            </a:r>
            <a:endParaRPr b="0" i="0" sz="1300" u="none" cap="none" strike="noStrike">
              <a:solidFill>
                <a:schemeClr val="dk1"/>
              </a:solidFill>
              <a:latin typeface="Calibri"/>
              <a:ea typeface="Calibri"/>
              <a:cs typeface="Calibri"/>
              <a:sym typeface="Calibri"/>
            </a:endParaRPr>
          </a:p>
        </p:txBody>
      </p:sp>
      <p:sp>
        <p:nvSpPr>
          <p:cNvPr id="206" name="Google Shape;206;p7"/>
          <p:cNvSpPr/>
          <p:nvPr/>
        </p:nvSpPr>
        <p:spPr>
          <a:xfrm>
            <a:off x="548640" y="2926080"/>
            <a:ext cx="3602736" cy="1316736"/>
          </a:xfrm>
          <a:prstGeom prst="roundRect">
            <a:avLst>
              <a:gd fmla="val 3472" name="adj"/>
            </a:avLst>
          </a:prstGeom>
          <a:solidFill>
            <a:srgbClr val="EDF1F4"/>
          </a:solidFill>
          <a:ln cap="flat" cmpd="sng" w="12700">
            <a:solidFill>
              <a:srgbClr val="EDF1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7"/>
          <p:cNvSpPr/>
          <p:nvPr/>
        </p:nvSpPr>
        <p:spPr>
          <a:xfrm>
            <a:off x="694944" y="3017520"/>
            <a:ext cx="3310128" cy="1133856"/>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41821"/>
              </a:buClr>
              <a:buSzPts val="1300"/>
              <a:buFont typeface="Calibri"/>
              <a:buNone/>
            </a:pPr>
            <a:r>
              <a:rPr b="1" i="0" lang="en-US" sz="1300" u="none" cap="none" strike="noStrike">
                <a:solidFill>
                  <a:srgbClr val="141821"/>
                </a:solidFill>
                <a:latin typeface="Calibri"/>
                <a:ea typeface="Calibri"/>
                <a:cs typeface="Calibri"/>
                <a:sym typeface="Calibri"/>
              </a:rPr>
              <a:t>Duplicate vs Fork</a:t>
            </a:r>
            <a:endParaRPr b="0" i="0" sz="13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4A5262"/>
              </a:buClr>
              <a:buSzPts val="1050"/>
              <a:buFont typeface="Calibri"/>
              <a:buNone/>
            </a:pPr>
            <a:r>
              <a:rPr b="0" i="0" lang="en-US" sz="1050" u="none" cap="none" strike="noStrike">
                <a:solidFill>
                  <a:srgbClr val="4A5262"/>
                </a:solidFill>
                <a:latin typeface="Calibri"/>
                <a:ea typeface="Calibri"/>
                <a:cs typeface="Calibri"/>
                <a:sym typeface="Calibri"/>
              </a:rPr>
              <a:t>Duplicate copies a whole session to reuse its setup. Fork branches from a specific edited message to explore a different path.</a:t>
            </a:r>
            <a:endParaRPr b="0" i="0" sz="1300" u="none" cap="none" strike="noStrike">
              <a:solidFill>
                <a:schemeClr val="dk1"/>
              </a:solidFill>
              <a:latin typeface="Calibri"/>
              <a:ea typeface="Calibri"/>
              <a:cs typeface="Calibri"/>
              <a:sym typeface="Calibri"/>
            </a:endParaRPr>
          </a:p>
        </p:txBody>
      </p:sp>
      <p:sp>
        <p:nvSpPr>
          <p:cNvPr id="208" name="Google Shape;208;p7"/>
          <p:cNvSpPr/>
          <p:nvPr/>
        </p:nvSpPr>
        <p:spPr>
          <a:xfrm>
            <a:off x="4288536" y="2926080"/>
            <a:ext cx="3602736" cy="1316736"/>
          </a:xfrm>
          <a:prstGeom prst="roundRect">
            <a:avLst>
              <a:gd fmla="val 3472" name="adj"/>
            </a:avLst>
          </a:prstGeom>
          <a:solidFill>
            <a:srgbClr val="F4F6F8"/>
          </a:solidFill>
          <a:ln cap="flat" cmpd="sng" w="12700">
            <a:solidFill>
              <a:srgbClr val="F4F6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7"/>
          <p:cNvSpPr/>
          <p:nvPr/>
        </p:nvSpPr>
        <p:spPr>
          <a:xfrm>
            <a:off x="4434840" y="3017520"/>
            <a:ext cx="3310128" cy="1133856"/>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41821"/>
              </a:buClr>
              <a:buSzPts val="1300"/>
              <a:buFont typeface="Calibri"/>
              <a:buNone/>
            </a:pPr>
            <a:r>
              <a:rPr b="1" i="0" lang="en-US" sz="1300" u="none" cap="none" strike="noStrike">
                <a:solidFill>
                  <a:srgbClr val="141821"/>
                </a:solidFill>
                <a:latin typeface="Calibri"/>
                <a:ea typeface="Calibri"/>
                <a:cs typeface="Calibri"/>
                <a:sym typeface="Calibri"/>
              </a:rPr>
              <a:t>Import &amp; export</a:t>
            </a:r>
            <a:endParaRPr b="0" i="0" sz="13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4A5262"/>
              </a:buClr>
              <a:buSzPts val="1050"/>
              <a:buFont typeface="Calibri"/>
              <a:buNone/>
            </a:pPr>
            <a:r>
              <a:rPr b="0" i="0" lang="en-US" sz="1050" u="none" cap="none" strike="noStrike">
                <a:solidFill>
                  <a:srgbClr val="4A5262"/>
                </a:solidFill>
                <a:latin typeface="Calibri"/>
                <a:ea typeface="Calibri"/>
                <a:cs typeface="Calibri"/>
                <a:sym typeface="Calibri"/>
              </a:rPr>
              <a:t>Export any session to JSON for backup, sharing or migration; import creates a new session rather than overwriting.</a:t>
            </a:r>
            <a:endParaRPr b="0" i="0" sz="1300" u="none" cap="none" strike="noStrike">
              <a:solidFill>
                <a:schemeClr val="dk1"/>
              </a:solidFill>
              <a:latin typeface="Calibri"/>
              <a:ea typeface="Calibri"/>
              <a:cs typeface="Calibri"/>
              <a:sym typeface="Calibri"/>
            </a:endParaRPr>
          </a:p>
        </p:txBody>
      </p:sp>
      <p:sp>
        <p:nvSpPr>
          <p:cNvPr id="210" name="Google Shape;210;p7"/>
          <p:cNvSpPr/>
          <p:nvPr/>
        </p:nvSpPr>
        <p:spPr>
          <a:xfrm>
            <a:off x="8028432" y="2926080"/>
            <a:ext cx="3602736" cy="1316736"/>
          </a:xfrm>
          <a:prstGeom prst="roundRect">
            <a:avLst>
              <a:gd fmla="val 3472" name="adj"/>
            </a:avLst>
          </a:prstGeom>
          <a:solidFill>
            <a:srgbClr val="EDF1F4"/>
          </a:solidFill>
          <a:ln cap="flat" cmpd="sng" w="12700">
            <a:solidFill>
              <a:srgbClr val="EDF1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7"/>
          <p:cNvSpPr/>
          <p:nvPr/>
        </p:nvSpPr>
        <p:spPr>
          <a:xfrm>
            <a:off x="8174736" y="3017520"/>
            <a:ext cx="3310128" cy="1133856"/>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41821"/>
              </a:buClr>
              <a:buSzPts val="1300"/>
              <a:buFont typeface="Calibri"/>
              <a:buNone/>
            </a:pPr>
            <a:r>
              <a:rPr b="1" i="0" lang="en-US" sz="1300" u="none" cap="none" strike="noStrike">
                <a:solidFill>
                  <a:srgbClr val="141821"/>
                </a:solidFill>
                <a:latin typeface="Calibri"/>
                <a:ea typeface="Calibri"/>
                <a:cs typeface="Calibri"/>
                <a:sym typeface="Calibri"/>
              </a:rPr>
              <a:t>Smart context</a:t>
            </a:r>
            <a:endParaRPr b="0" i="0" sz="13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4A5262"/>
              </a:buClr>
              <a:buSzPts val="1050"/>
              <a:buFont typeface="Calibri"/>
              <a:buNone/>
            </a:pPr>
            <a:r>
              <a:rPr b="0" i="0" lang="en-US" sz="1050" u="none" cap="none" strike="noStrike">
                <a:solidFill>
                  <a:srgbClr val="4A5262"/>
                </a:solidFill>
                <a:latin typeface="Calibri"/>
                <a:ea typeface="Calibri"/>
                <a:cs typeface="Calibri"/>
                <a:sym typeface="Calibri"/>
              </a:rPr>
              <a:t>Automatic compaction at 80% of the window by default, plus a max-turns ceiling so a runaway loop stops on its own.</a:t>
            </a:r>
            <a:endParaRPr b="0" i="0" sz="1300" u="none" cap="none" strike="noStrike">
              <a:solidFill>
                <a:schemeClr val="dk1"/>
              </a:solidFill>
              <a:latin typeface="Calibri"/>
              <a:ea typeface="Calibri"/>
              <a:cs typeface="Calibri"/>
              <a:sym typeface="Calibri"/>
            </a:endParaRPr>
          </a:p>
        </p:txBody>
      </p:sp>
      <p:sp>
        <p:nvSpPr>
          <p:cNvPr id="212" name="Google Shape;212;p7"/>
          <p:cNvSpPr/>
          <p:nvPr/>
        </p:nvSpPr>
        <p:spPr>
          <a:xfrm>
            <a:off x="548640" y="4498848"/>
            <a:ext cx="6675120" cy="1737360"/>
          </a:xfrm>
          <a:prstGeom prst="roundRect">
            <a:avLst>
              <a:gd fmla="val 2632" name="adj"/>
            </a:avLst>
          </a:prstGeom>
          <a:solidFill>
            <a:srgbClr val="141821"/>
          </a:solidFill>
          <a:ln cap="flat" cmpd="sng" w="12700">
            <a:solidFill>
              <a:srgbClr val="1418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7"/>
          <p:cNvSpPr/>
          <p:nvPr/>
        </p:nvSpPr>
        <p:spPr>
          <a:xfrm>
            <a:off x="713232" y="4608576"/>
            <a:ext cx="6345936" cy="1517904"/>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D9E2EC"/>
              </a:buClr>
              <a:buSzPts val="1050"/>
              <a:buFont typeface="Courier New"/>
              <a:buNone/>
            </a:pPr>
            <a:r>
              <a:rPr b="0" i="0" lang="en-US" sz="1050" u="none" cap="none" strike="noStrike">
                <a:solidFill>
                  <a:srgbClr val="D9E2EC"/>
                </a:solidFill>
                <a:latin typeface="Courier New"/>
                <a:ea typeface="Courier New"/>
                <a:cs typeface="Courier New"/>
                <a:sym typeface="Courier New"/>
              </a:rPr>
              <a:t>$ goose session                          # new session</a:t>
            </a:r>
            <a:endParaRPr b="0" i="0" sz="105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D9E2EC"/>
              </a:buClr>
              <a:buSzPts val="1050"/>
              <a:buFont typeface="Courier New"/>
              <a:buNone/>
            </a:pPr>
            <a:r>
              <a:rPr b="0" i="0" lang="en-US" sz="1050" u="none" cap="none" strike="noStrike">
                <a:solidFill>
                  <a:srgbClr val="D9E2EC"/>
                </a:solidFill>
                <a:latin typeface="Courier New"/>
                <a:ea typeface="Courier New"/>
                <a:cs typeface="Courier New"/>
                <a:sym typeface="Courier New"/>
              </a:rPr>
              <a:t>$ goose session list -l 1                # most recent</a:t>
            </a:r>
            <a:endParaRPr b="0" i="0" sz="105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D9E2EC"/>
              </a:buClr>
              <a:buSzPts val="1050"/>
              <a:buFont typeface="Courier New"/>
              <a:buNone/>
            </a:pPr>
            <a:r>
              <a:rPr b="0" i="0" lang="en-US" sz="1050" u="none" cap="none" strike="noStrike">
                <a:solidFill>
                  <a:srgbClr val="D9E2EC"/>
                </a:solidFill>
                <a:latin typeface="Courier New"/>
                <a:ea typeface="Courier New"/>
                <a:cs typeface="Courier New"/>
                <a:sym typeface="Courier New"/>
              </a:rPr>
              <a:t>  20260213_9 - react-migration - 2026-02-13 16:20 UTC</a:t>
            </a:r>
            <a:endParaRPr b="0" i="0" sz="105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D9E2EC"/>
              </a:buClr>
              <a:buSzPts val="1050"/>
              <a:buFont typeface="Courier New"/>
              <a:buNone/>
            </a:pPr>
            <a:r>
              <a:rPr b="0" i="0" lang="en-US" sz="1050" u="none" cap="none" strike="noStrike">
                <a:solidFill>
                  <a:srgbClr val="D9E2EC"/>
                </a:solidFill>
                <a:latin typeface="Courier New"/>
                <a:ea typeface="Courier New"/>
                <a:cs typeface="Courier New"/>
                <a:sym typeface="Courier New"/>
              </a:rPr>
              <a:t>$ goose session -r --name react-migration    # resume</a:t>
            </a:r>
            <a:endParaRPr b="0" i="0" sz="105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D9E2EC"/>
              </a:buClr>
              <a:buSzPts val="1050"/>
              <a:buFont typeface="Courier New"/>
              <a:buNone/>
            </a:pPr>
            <a:r>
              <a:rPr b="0" i="0" lang="en-US" sz="1050" u="none" cap="none" strike="noStrike">
                <a:solidFill>
                  <a:srgbClr val="D9E2EC"/>
                </a:solidFill>
                <a:latin typeface="Courier New"/>
                <a:ea typeface="Courier New"/>
                <a:cs typeface="Courier New"/>
                <a:sym typeface="Courier New"/>
              </a:rPr>
              <a:t>$ sqlite3 ~/.local/share/goose/sessions/sessions.db \</a:t>
            </a:r>
            <a:endParaRPr b="0" i="0" sz="105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D9E2EC"/>
              </a:buClr>
              <a:buSzPts val="1050"/>
              <a:buFont typeface="Courier New"/>
              <a:buNone/>
            </a:pPr>
            <a:r>
              <a:rPr b="0" i="0" lang="en-US" sz="1050" u="none" cap="none" strike="noStrike">
                <a:solidFill>
                  <a:srgbClr val="D9E2EC"/>
                </a:solidFill>
                <a:latin typeface="Courier New"/>
                <a:ea typeface="Courier New"/>
                <a:cs typeface="Courier New"/>
                <a:sym typeface="Courier New"/>
              </a:rPr>
              <a:t>    "SELECT id, description FROM sessions LIMIT 10;"</a:t>
            </a:r>
            <a:endParaRPr b="0" i="0" sz="1050" u="none" cap="none" strike="noStrike">
              <a:solidFill>
                <a:schemeClr val="dk1"/>
              </a:solidFill>
              <a:latin typeface="Calibri"/>
              <a:ea typeface="Calibri"/>
              <a:cs typeface="Calibri"/>
              <a:sym typeface="Calibri"/>
            </a:endParaRPr>
          </a:p>
        </p:txBody>
      </p:sp>
      <p:sp>
        <p:nvSpPr>
          <p:cNvPr id="214" name="Google Shape;214;p7"/>
          <p:cNvSpPr/>
          <p:nvPr/>
        </p:nvSpPr>
        <p:spPr>
          <a:xfrm>
            <a:off x="7424928" y="4498848"/>
            <a:ext cx="4206240" cy="1737360"/>
          </a:xfrm>
          <a:prstGeom prst="roundRect">
            <a:avLst>
              <a:gd fmla="val 3158" name="adj"/>
            </a:avLst>
          </a:prstGeom>
          <a:solidFill>
            <a:srgbClr val="EDF1F4"/>
          </a:solidFill>
          <a:ln cap="flat" cmpd="sng" w="12700">
            <a:solidFill>
              <a:srgbClr val="EDF1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7"/>
          <p:cNvSpPr/>
          <p:nvPr/>
        </p:nvSpPr>
        <p:spPr>
          <a:xfrm>
            <a:off x="7626096" y="4663440"/>
            <a:ext cx="3803904"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821"/>
              </a:buClr>
              <a:buSzPts val="1350"/>
              <a:buFont typeface="Calibri"/>
              <a:buNone/>
            </a:pPr>
            <a:r>
              <a:rPr b="1" i="0" lang="en-US" sz="1350" u="none" cap="none" strike="noStrike">
                <a:solidFill>
                  <a:srgbClr val="141821"/>
                </a:solidFill>
                <a:latin typeface="Calibri"/>
                <a:ea typeface="Calibri"/>
                <a:cs typeface="Calibri"/>
                <a:sym typeface="Calibri"/>
              </a:rPr>
              <a:t>Practitioner rules</a:t>
            </a:r>
            <a:endParaRPr b="0" i="0" sz="1350" u="none" cap="none" strike="noStrike">
              <a:solidFill>
                <a:schemeClr val="dk1"/>
              </a:solidFill>
              <a:latin typeface="Calibri"/>
              <a:ea typeface="Calibri"/>
              <a:cs typeface="Calibri"/>
              <a:sym typeface="Calibri"/>
            </a:endParaRPr>
          </a:p>
        </p:txBody>
      </p:sp>
      <p:sp>
        <p:nvSpPr>
          <p:cNvPr id="216" name="Google Shape;216;p7"/>
          <p:cNvSpPr/>
          <p:nvPr/>
        </p:nvSpPr>
        <p:spPr>
          <a:xfrm>
            <a:off x="7626096" y="4937760"/>
            <a:ext cx="3803904" cy="1170432"/>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3D4553"/>
              </a:buClr>
              <a:buSzPts val="1000"/>
              <a:buFont typeface="Calibri"/>
              <a:buNone/>
            </a:pPr>
            <a:r>
              <a:rPr b="0" i="0" lang="en-US" sz="1000" u="none" cap="none" strike="noStrike">
                <a:solidFill>
                  <a:srgbClr val="3D4553"/>
                </a:solidFill>
                <a:latin typeface="Calibri"/>
                <a:ea typeface="Calibri"/>
                <a:cs typeface="Calibri"/>
                <a:sym typeface="Calibri"/>
              </a:rPr>
              <a:t>•  Sessions auto-save on exit — nothing to commit.</a:t>
            </a:r>
            <a:endParaRPr b="0" i="0" sz="10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3D4553"/>
              </a:buClr>
              <a:buSzPts val="1000"/>
              <a:buFont typeface="Calibri"/>
              <a:buNone/>
            </a:pPr>
            <a:r>
              <a:rPr b="0" i="0" lang="en-US" sz="1000" u="none" cap="none" strike="noStrike">
                <a:solidFill>
                  <a:srgbClr val="3D4553"/>
                </a:solidFill>
                <a:latin typeface="Calibri"/>
                <a:ea typeface="Calibri"/>
                <a:cs typeface="Calibri"/>
                <a:sym typeface="Calibri"/>
              </a:rPr>
              <a:t>•  Start in Desktop, resume in the CLI. One database, both interfaces.</a:t>
            </a:r>
            <a:endParaRPr b="0" i="0" sz="10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3D4553"/>
              </a:buClr>
              <a:buSzPts val="1000"/>
              <a:buFont typeface="Calibri"/>
              <a:buNone/>
            </a:pPr>
            <a:r>
              <a:rPr b="0" i="0" lang="en-US" sz="1000" u="none" cap="none" strike="noStrike">
                <a:solidFill>
                  <a:srgbClr val="3D4553"/>
                </a:solidFill>
                <a:latin typeface="Calibri"/>
                <a:ea typeface="Calibri"/>
                <a:cs typeface="Calibri"/>
                <a:sym typeface="Calibri"/>
              </a:rPr>
              <a:t>•  New task, new session. Resuming a stale one invites a doom spiral.</a:t>
            </a:r>
            <a:endParaRPr b="0" i="0" sz="10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3D4553"/>
              </a:buClr>
              <a:buSzPts val="1000"/>
              <a:buFont typeface="Calibri"/>
              <a:buNone/>
            </a:pPr>
            <a:r>
              <a:rPr b="0" i="0" lang="en-US" sz="1000" u="none" cap="none" strike="noStrike">
                <a:solidFill>
                  <a:srgbClr val="3D4553"/>
                </a:solidFill>
                <a:latin typeface="Calibri"/>
                <a:ea typeface="Calibri"/>
                <a:cs typeface="Calibri"/>
                <a:sym typeface="Calibri"/>
              </a:rPr>
              <a:t>•  Deleting in Desktop deletes it in the CLI too. No undo.</a:t>
            </a:r>
            <a:endParaRPr b="0" i="0" sz="1000" u="none" cap="none" strike="noStrike">
              <a:solidFill>
                <a:schemeClr val="dk1"/>
              </a:solidFill>
              <a:latin typeface="Calibri"/>
              <a:ea typeface="Calibri"/>
              <a:cs typeface="Calibri"/>
              <a:sym typeface="Calibri"/>
            </a:endParaRPr>
          </a:p>
        </p:txBody>
      </p:sp>
      <p:sp>
        <p:nvSpPr>
          <p:cNvPr id="217" name="Google Shape;217;p7"/>
          <p:cNvSpPr/>
          <p:nvPr/>
        </p:nvSpPr>
        <p:spPr>
          <a:xfrm>
            <a:off x="548640" y="6355080"/>
            <a:ext cx="11064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50"/>
              <a:buFont typeface="Calibri"/>
              <a:buNone/>
            </a:pPr>
            <a:r>
              <a:rPr b="0" i="0" lang="en-US" sz="950" u="none" cap="none" strike="noStrike">
                <a:solidFill>
                  <a:srgbClr val="6B7280"/>
                </a:solidFill>
                <a:latin typeface="Calibri"/>
                <a:ea typeface="Calibri"/>
                <a:cs typeface="Calibri"/>
                <a:sym typeface="Calibri"/>
              </a:rPr>
              <a:t>Reference: goose-docs.ai/docs/guides/sessions</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2" name="Shape 222"/>
        <p:cNvGrpSpPr/>
        <p:nvPr/>
      </p:nvGrpSpPr>
      <p:grpSpPr>
        <a:xfrm>
          <a:off x="0" y="0"/>
          <a:ext cx="0" cy="0"/>
          <a:chOff x="0" y="0"/>
          <a:chExt cx="0" cy="0"/>
        </a:xfrm>
      </p:grpSpPr>
      <p:sp>
        <p:nvSpPr>
          <p:cNvPr id="223" name="Google Shape;223;p8"/>
          <p:cNvSpPr/>
          <p:nvPr/>
        </p:nvSpPr>
        <p:spPr>
          <a:xfrm>
            <a:off x="548640" y="384048"/>
            <a:ext cx="475488" cy="475488"/>
          </a:xfrm>
          <a:prstGeom prst="roundRect">
            <a:avLst>
              <a:gd fmla="val 19231" name="adj"/>
            </a:avLst>
          </a:prstGeom>
          <a:solidFill>
            <a:srgbClr val="E09B34"/>
          </a:solidFill>
          <a:ln cap="flat" cmpd="sng" w="12700">
            <a:solidFill>
              <a:srgbClr val="E09B3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8"/>
          <p:cNvSpPr/>
          <p:nvPr/>
        </p:nvSpPr>
        <p:spPr>
          <a:xfrm>
            <a:off x="548640" y="384048"/>
            <a:ext cx="475488"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1821"/>
              </a:buClr>
              <a:buSzPts val="2000"/>
              <a:buFont typeface="Calibri"/>
              <a:buNone/>
            </a:pPr>
            <a:r>
              <a:rPr b="1" i="0" lang="en-US" sz="2000" u="none" cap="none" strike="noStrike">
                <a:solidFill>
                  <a:srgbClr val="141821"/>
                </a:solidFill>
                <a:latin typeface="Calibri"/>
                <a:ea typeface="Calibri"/>
                <a:cs typeface="Calibri"/>
                <a:sym typeface="Calibri"/>
              </a:rPr>
              <a:t>7</a:t>
            </a:r>
            <a:endParaRPr b="0" i="0" sz="2000" u="none" cap="none" strike="noStrike">
              <a:solidFill>
                <a:schemeClr val="dk1"/>
              </a:solidFill>
              <a:latin typeface="Calibri"/>
              <a:ea typeface="Calibri"/>
              <a:cs typeface="Calibri"/>
              <a:sym typeface="Calibri"/>
            </a:endParaRPr>
          </a:p>
        </p:txBody>
      </p:sp>
      <p:sp>
        <p:nvSpPr>
          <p:cNvPr id="225" name="Google Shape;225;p8"/>
          <p:cNvSpPr/>
          <p:nvPr/>
        </p:nvSpPr>
        <p:spPr>
          <a:xfrm>
            <a:off x="1170432" y="347472"/>
            <a:ext cx="104241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821"/>
              </a:buClr>
              <a:buSzPts val="3000"/>
              <a:buFont typeface="Calibri"/>
              <a:buNone/>
            </a:pPr>
            <a:r>
              <a:rPr b="1" i="0" lang="en-US" sz="3000" u="none" cap="none" strike="noStrike">
                <a:solidFill>
                  <a:srgbClr val="141821"/>
                </a:solidFill>
                <a:latin typeface="Calibri"/>
                <a:ea typeface="Calibri"/>
                <a:cs typeface="Calibri"/>
                <a:sym typeface="Calibri"/>
              </a:rPr>
              <a:t>Feature — Context Engineering</a:t>
            </a:r>
            <a:endParaRPr b="0" i="0" sz="3000" u="none" cap="none" strike="noStrike">
              <a:solidFill>
                <a:schemeClr val="dk1"/>
              </a:solidFill>
              <a:latin typeface="Calibri"/>
              <a:ea typeface="Calibri"/>
              <a:cs typeface="Calibri"/>
              <a:sym typeface="Calibri"/>
            </a:endParaRPr>
          </a:p>
        </p:txBody>
      </p:sp>
      <p:sp>
        <p:nvSpPr>
          <p:cNvPr id="226" name="Google Shape;226;p8"/>
          <p:cNvSpPr/>
          <p:nvPr/>
        </p:nvSpPr>
        <p:spPr>
          <a:xfrm>
            <a:off x="1170432" y="914400"/>
            <a:ext cx="104241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300"/>
              <a:buFont typeface="Calibri"/>
              <a:buNone/>
            </a:pPr>
            <a:r>
              <a:rPr b="0" i="1" lang="en-US" sz="1300" u="none" cap="none" strike="noStrike">
                <a:solidFill>
                  <a:srgbClr val="6B7280"/>
                </a:solidFill>
                <a:latin typeface="Calibri"/>
                <a:ea typeface="Calibri"/>
                <a:cs typeface="Calibri"/>
                <a:sym typeface="Calibri"/>
              </a:rPr>
              <a:t>Define how you work once, instead of re-explaining it every session. The deepest feature area in goose.</a:t>
            </a:r>
            <a:endParaRPr b="0" i="0" sz="1300" u="none" cap="none" strike="noStrike">
              <a:solidFill>
                <a:schemeClr val="dk1"/>
              </a:solidFill>
              <a:latin typeface="Calibri"/>
              <a:ea typeface="Calibri"/>
              <a:cs typeface="Calibri"/>
              <a:sym typeface="Calibri"/>
            </a:endParaRPr>
          </a:p>
        </p:txBody>
      </p:sp>
      <p:sp>
        <p:nvSpPr>
          <p:cNvPr id="227" name="Google Shape;227;p8"/>
          <p:cNvSpPr/>
          <p:nvPr/>
        </p:nvSpPr>
        <p:spPr>
          <a:xfrm>
            <a:off x="548640" y="1463040"/>
            <a:ext cx="2651760" cy="1097280"/>
          </a:xfrm>
          <a:prstGeom prst="roundRect">
            <a:avLst>
              <a:gd fmla="val 4167" name="adj"/>
            </a:avLst>
          </a:prstGeom>
          <a:solidFill>
            <a:srgbClr val="F4F6F8"/>
          </a:solidFill>
          <a:ln cap="flat" cmpd="sng" w="12700">
            <a:solidFill>
              <a:srgbClr val="F4F6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8"/>
          <p:cNvSpPr/>
          <p:nvPr/>
        </p:nvSpPr>
        <p:spPr>
          <a:xfrm>
            <a:off x="694944" y="1554480"/>
            <a:ext cx="2359152" cy="9144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41821"/>
              </a:buClr>
              <a:buSzPts val="1150"/>
              <a:buFont typeface="Calibri"/>
              <a:buNone/>
            </a:pPr>
            <a:r>
              <a:rPr b="1" i="0" lang="en-US" sz="1150" u="none" cap="none" strike="noStrike">
                <a:solidFill>
                  <a:srgbClr val="141821"/>
                </a:solidFill>
                <a:latin typeface="Calibri"/>
                <a:ea typeface="Calibri"/>
                <a:cs typeface="Calibri"/>
                <a:sym typeface="Calibri"/>
              </a:rPr>
              <a:t>.goosehints </a:t>
            </a:r>
            <a:endParaRPr b="1" sz="1150">
              <a:solidFill>
                <a:srgbClr val="141821"/>
              </a:solidFill>
              <a:latin typeface="Calibri"/>
              <a:ea typeface="Calibri"/>
              <a:cs typeface="Calibri"/>
              <a:sym typeface="Calibri"/>
            </a:endParaRPr>
          </a:p>
          <a:p>
            <a:pPr indent="0" lvl="0" marL="0" marR="0" rtl="0" algn="l">
              <a:lnSpc>
                <a:spcPct val="105000"/>
              </a:lnSpc>
              <a:spcBef>
                <a:spcPts val="0"/>
              </a:spcBef>
              <a:spcAft>
                <a:spcPts val="0"/>
              </a:spcAft>
              <a:buClr>
                <a:srgbClr val="141821"/>
              </a:buClr>
              <a:buSzPts val="1150"/>
              <a:buFont typeface="Calibri"/>
              <a:buNone/>
            </a:pPr>
            <a:r>
              <a:rPr b="0" i="0" lang="en-US" sz="950" u="none" cap="none" strike="noStrike">
                <a:solidFill>
                  <a:srgbClr val="4A5262"/>
                </a:solidFill>
                <a:latin typeface="Calibri"/>
                <a:ea typeface="Calibri"/>
                <a:cs typeface="Calibri"/>
                <a:sym typeface="Calibri"/>
              </a:rPr>
              <a:t>Project context, conventions and preferences loaded automatically at session start.</a:t>
            </a:r>
            <a:endParaRPr b="0" i="0" sz="1150" u="none" cap="none" strike="noStrike">
              <a:solidFill>
                <a:schemeClr val="dk1"/>
              </a:solidFill>
              <a:latin typeface="Calibri"/>
              <a:ea typeface="Calibri"/>
              <a:cs typeface="Calibri"/>
              <a:sym typeface="Calibri"/>
            </a:endParaRPr>
          </a:p>
        </p:txBody>
      </p:sp>
      <p:sp>
        <p:nvSpPr>
          <p:cNvPr id="229" name="Google Shape;229;p8"/>
          <p:cNvSpPr/>
          <p:nvPr/>
        </p:nvSpPr>
        <p:spPr>
          <a:xfrm>
            <a:off x="3346704" y="1463040"/>
            <a:ext cx="2651760" cy="1097280"/>
          </a:xfrm>
          <a:prstGeom prst="roundRect">
            <a:avLst>
              <a:gd fmla="val 4167" name="adj"/>
            </a:avLst>
          </a:prstGeom>
          <a:solidFill>
            <a:srgbClr val="EDF1F4"/>
          </a:solidFill>
          <a:ln cap="flat" cmpd="sng" w="12700">
            <a:solidFill>
              <a:srgbClr val="EDF1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8"/>
          <p:cNvSpPr/>
          <p:nvPr/>
        </p:nvSpPr>
        <p:spPr>
          <a:xfrm>
            <a:off x="3493008" y="1554480"/>
            <a:ext cx="2359152" cy="9144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41821"/>
              </a:buClr>
              <a:buSzPts val="1150"/>
              <a:buFont typeface="Calibri"/>
              <a:buNone/>
            </a:pPr>
            <a:r>
              <a:rPr b="1" i="0" lang="en-US" sz="1150" u="none" cap="none" strike="noStrike">
                <a:solidFill>
                  <a:srgbClr val="141821"/>
                </a:solidFill>
                <a:latin typeface="Calibri"/>
                <a:ea typeface="Calibri"/>
                <a:cs typeface="Calibri"/>
                <a:sym typeface="Calibri"/>
              </a:rPr>
              <a:t>Agent Skills</a:t>
            </a:r>
            <a:endParaRPr b="0" i="0" sz="11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4A5262"/>
              </a:buClr>
              <a:buSzPts val="950"/>
              <a:buFont typeface="Calibri"/>
              <a:buNone/>
            </a:pPr>
            <a:r>
              <a:rPr b="0" i="0" lang="en-US" sz="950" u="none" cap="none" strike="noStrike">
                <a:solidFill>
                  <a:srgbClr val="4A5262"/>
                </a:solidFill>
                <a:latin typeface="Calibri"/>
                <a:ea typeface="Calibri"/>
                <a:cs typeface="Calibri"/>
                <a:sym typeface="Calibri"/>
              </a:rPr>
              <a:t>Reusable instruction sets — workflows, scripts, resources — loaded on demand, not always-on.</a:t>
            </a:r>
            <a:endParaRPr b="0" i="0" sz="1150" u="none" cap="none" strike="noStrike">
              <a:solidFill>
                <a:schemeClr val="dk1"/>
              </a:solidFill>
              <a:latin typeface="Calibri"/>
              <a:ea typeface="Calibri"/>
              <a:cs typeface="Calibri"/>
              <a:sym typeface="Calibri"/>
            </a:endParaRPr>
          </a:p>
        </p:txBody>
      </p:sp>
      <p:sp>
        <p:nvSpPr>
          <p:cNvPr id="231" name="Google Shape;231;p8"/>
          <p:cNvSpPr/>
          <p:nvPr/>
        </p:nvSpPr>
        <p:spPr>
          <a:xfrm>
            <a:off x="6144768" y="1463040"/>
            <a:ext cx="2651760" cy="1097280"/>
          </a:xfrm>
          <a:prstGeom prst="roundRect">
            <a:avLst>
              <a:gd fmla="val 4167" name="adj"/>
            </a:avLst>
          </a:prstGeom>
          <a:solidFill>
            <a:srgbClr val="F4F6F8"/>
          </a:solidFill>
          <a:ln cap="flat" cmpd="sng" w="12700">
            <a:solidFill>
              <a:srgbClr val="F4F6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8"/>
          <p:cNvSpPr/>
          <p:nvPr/>
        </p:nvSpPr>
        <p:spPr>
          <a:xfrm>
            <a:off x="6291072" y="1554480"/>
            <a:ext cx="2359152" cy="9144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41821"/>
              </a:buClr>
              <a:buSzPts val="1150"/>
              <a:buFont typeface="Calibri"/>
              <a:buNone/>
            </a:pPr>
            <a:r>
              <a:rPr b="1" i="0" lang="en-US" sz="1150" u="none" cap="none" strike="noStrike">
                <a:solidFill>
                  <a:srgbClr val="141821"/>
                </a:solidFill>
                <a:latin typeface="Calibri"/>
                <a:ea typeface="Calibri"/>
                <a:cs typeface="Calibri"/>
                <a:sym typeface="Calibri"/>
              </a:rPr>
              <a:t>Custom Agents</a:t>
            </a:r>
            <a:endParaRPr b="0" i="0" sz="11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4A5262"/>
              </a:buClr>
              <a:buSzPts val="950"/>
              <a:buFont typeface="Calibri"/>
              <a:buNone/>
            </a:pPr>
            <a:r>
              <a:rPr b="0" i="0" lang="en-US" sz="950" u="none" cap="none" strike="noStrike">
                <a:solidFill>
                  <a:srgbClr val="4A5262"/>
                </a:solidFill>
                <a:latin typeface="Calibri"/>
                <a:ea typeface="Calibri"/>
                <a:cs typeface="Calibri"/>
                <a:sym typeface="Calibri"/>
              </a:rPr>
              <a:t>Create, edit, import and export specialised agents with reusable prompts and metadata.</a:t>
            </a:r>
            <a:endParaRPr b="0" i="0" sz="1150" u="none" cap="none" strike="noStrike">
              <a:solidFill>
                <a:schemeClr val="dk1"/>
              </a:solidFill>
              <a:latin typeface="Calibri"/>
              <a:ea typeface="Calibri"/>
              <a:cs typeface="Calibri"/>
              <a:sym typeface="Calibri"/>
            </a:endParaRPr>
          </a:p>
        </p:txBody>
      </p:sp>
      <p:sp>
        <p:nvSpPr>
          <p:cNvPr id="233" name="Google Shape;233;p8"/>
          <p:cNvSpPr/>
          <p:nvPr/>
        </p:nvSpPr>
        <p:spPr>
          <a:xfrm>
            <a:off x="8942832" y="1463040"/>
            <a:ext cx="2651760" cy="1097280"/>
          </a:xfrm>
          <a:prstGeom prst="roundRect">
            <a:avLst>
              <a:gd fmla="val 4167" name="adj"/>
            </a:avLst>
          </a:prstGeom>
          <a:solidFill>
            <a:srgbClr val="EDF1F4"/>
          </a:solidFill>
          <a:ln cap="flat" cmpd="sng" w="12700">
            <a:solidFill>
              <a:srgbClr val="EDF1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8"/>
          <p:cNvSpPr/>
          <p:nvPr/>
        </p:nvSpPr>
        <p:spPr>
          <a:xfrm>
            <a:off x="9089136" y="1554480"/>
            <a:ext cx="2359152" cy="9144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41821"/>
              </a:buClr>
              <a:buSzPts val="1150"/>
              <a:buFont typeface="Calibri"/>
              <a:buNone/>
            </a:pPr>
            <a:r>
              <a:rPr b="1" i="0" lang="en-US" sz="1150" u="none" cap="none" strike="noStrike">
                <a:solidFill>
                  <a:srgbClr val="141821"/>
                </a:solidFill>
                <a:latin typeface="Calibri"/>
                <a:ea typeface="Calibri"/>
                <a:cs typeface="Calibri"/>
                <a:sym typeface="Calibri"/>
              </a:rPr>
              <a:t>Plugins</a:t>
            </a:r>
            <a:endParaRPr b="0" i="0" sz="11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4A5262"/>
              </a:buClr>
              <a:buSzPts val="950"/>
              <a:buFont typeface="Calibri"/>
              <a:buNone/>
            </a:pPr>
            <a:r>
              <a:rPr b="0" i="0" lang="en-US" sz="950" u="none" cap="none" strike="noStrike">
                <a:solidFill>
                  <a:srgbClr val="4A5262"/>
                </a:solidFill>
                <a:latin typeface="Calibri"/>
                <a:ea typeface="Calibri"/>
                <a:cs typeface="Calibri"/>
                <a:sym typeface="Calibri"/>
              </a:rPr>
              <a:t>Installable packages that bundle skills, hooks and other reusable components together.</a:t>
            </a:r>
            <a:endParaRPr b="0" i="0" sz="1150" u="none" cap="none" strike="noStrike">
              <a:solidFill>
                <a:schemeClr val="dk1"/>
              </a:solidFill>
              <a:latin typeface="Calibri"/>
              <a:ea typeface="Calibri"/>
              <a:cs typeface="Calibri"/>
              <a:sym typeface="Calibri"/>
            </a:endParaRPr>
          </a:p>
        </p:txBody>
      </p:sp>
      <p:sp>
        <p:nvSpPr>
          <p:cNvPr id="235" name="Google Shape;235;p8"/>
          <p:cNvSpPr/>
          <p:nvPr/>
        </p:nvSpPr>
        <p:spPr>
          <a:xfrm>
            <a:off x="548640" y="2688336"/>
            <a:ext cx="2651760" cy="1097280"/>
          </a:xfrm>
          <a:prstGeom prst="roundRect">
            <a:avLst>
              <a:gd fmla="val 4167" name="adj"/>
            </a:avLst>
          </a:prstGeom>
          <a:solidFill>
            <a:srgbClr val="F4F6F8"/>
          </a:solidFill>
          <a:ln cap="flat" cmpd="sng" w="12700">
            <a:solidFill>
              <a:srgbClr val="F4F6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8"/>
          <p:cNvSpPr/>
          <p:nvPr/>
        </p:nvSpPr>
        <p:spPr>
          <a:xfrm>
            <a:off x="694944" y="2779776"/>
            <a:ext cx="2359152" cy="9144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41821"/>
              </a:buClr>
              <a:buSzPts val="1150"/>
              <a:buFont typeface="Calibri"/>
              <a:buNone/>
            </a:pPr>
            <a:r>
              <a:rPr b="1" i="0" lang="en-US" sz="1150" u="none" cap="none" strike="noStrike">
                <a:solidFill>
                  <a:srgbClr val="141821"/>
                </a:solidFill>
                <a:latin typeface="Calibri"/>
                <a:ea typeface="Calibri"/>
                <a:cs typeface="Calibri"/>
                <a:sym typeface="Calibri"/>
              </a:rPr>
              <a:t>Hooks</a:t>
            </a:r>
            <a:endParaRPr b="0" i="0" sz="11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4A5262"/>
              </a:buClr>
              <a:buSzPts val="950"/>
              <a:buFont typeface="Calibri"/>
              <a:buNone/>
            </a:pPr>
            <a:r>
              <a:rPr b="0" i="0" lang="en-US" sz="950" u="none" cap="none" strike="noStrike">
                <a:solidFill>
                  <a:srgbClr val="4A5262"/>
                </a:solidFill>
                <a:latin typeface="Calibri"/>
                <a:ea typeface="Calibri"/>
                <a:cs typeface="Calibri"/>
                <a:sym typeface="Calibri"/>
              </a:rPr>
              <a:t>Run your own scripts on session start, prompt submit, tool call, file edit or shell execution.</a:t>
            </a:r>
            <a:endParaRPr b="0" i="0" sz="1150" u="none" cap="none" strike="noStrike">
              <a:solidFill>
                <a:schemeClr val="dk1"/>
              </a:solidFill>
              <a:latin typeface="Calibri"/>
              <a:ea typeface="Calibri"/>
              <a:cs typeface="Calibri"/>
              <a:sym typeface="Calibri"/>
            </a:endParaRPr>
          </a:p>
        </p:txBody>
      </p:sp>
      <p:sp>
        <p:nvSpPr>
          <p:cNvPr id="237" name="Google Shape;237;p8"/>
          <p:cNvSpPr/>
          <p:nvPr/>
        </p:nvSpPr>
        <p:spPr>
          <a:xfrm>
            <a:off x="3346704" y="2688336"/>
            <a:ext cx="2651760" cy="1097280"/>
          </a:xfrm>
          <a:prstGeom prst="roundRect">
            <a:avLst>
              <a:gd fmla="val 4167" name="adj"/>
            </a:avLst>
          </a:prstGeom>
          <a:solidFill>
            <a:srgbClr val="EDF1F4"/>
          </a:solidFill>
          <a:ln cap="flat" cmpd="sng" w="12700">
            <a:solidFill>
              <a:srgbClr val="EDF1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8"/>
          <p:cNvSpPr/>
          <p:nvPr/>
        </p:nvSpPr>
        <p:spPr>
          <a:xfrm>
            <a:off x="3493008" y="2779776"/>
            <a:ext cx="2359152" cy="9144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41821"/>
              </a:buClr>
              <a:buSzPts val="1150"/>
              <a:buFont typeface="Calibri"/>
              <a:buNone/>
            </a:pPr>
            <a:r>
              <a:rPr b="1" i="0" lang="en-US" sz="1150" u="none" cap="none" strike="noStrike">
                <a:solidFill>
                  <a:srgbClr val="141821"/>
                </a:solidFill>
                <a:latin typeface="Calibri"/>
                <a:ea typeface="Calibri"/>
                <a:cs typeface="Calibri"/>
                <a:sym typeface="Calibri"/>
              </a:rPr>
              <a:t>Slash Commands</a:t>
            </a:r>
            <a:endParaRPr b="0" i="0" sz="11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4A5262"/>
              </a:buClr>
              <a:buSzPts val="950"/>
              <a:buFont typeface="Calibri"/>
              <a:buNone/>
            </a:pPr>
            <a:r>
              <a:rPr b="0" i="0" lang="en-US" sz="950" u="none" cap="none" strike="noStrike">
                <a:solidFill>
                  <a:srgbClr val="4A5262"/>
                </a:solidFill>
                <a:latin typeface="Calibri"/>
                <a:ea typeface="Calibri"/>
                <a:cs typeface="Calibri"/>
                <a:sym typeface="Calibri"/>
              </a:rPr>
              <a:t>Custom /shortcuts that fire reusable instructions or launch a recipe in any chat.</a:t>
            </a:r>
            <a:endParaRPr b="0" i="0" sz="1150" u="none" cap="none" strike="noStrike">
              <a:solidFill>
                <a:schemeClr val="dk1"/>
              </a:solidFill>
              <a:latin typeface="Calibri"/>
              <a:ea typeface="Calibri"/>
              <a:cs typeface="Calibri"/>
              <a:sym typeface="Calibri"/>
            </a:endParaRPr>
          </a:p>
        </p:txBody>
      </p:sp>
      <p:sp>
        <p:nvSpPr>
          <p:cNvPr id="239" name="Google Shape;239;p8"/>
          <p:cNvSpPr/>
          <p:nvPr/>
        </p:nvSpPr>
        <p:spPr>
          <a:xfrm>
            <a:off x="6144768" y="2688336"/>
            <a:ext cx="2651760" cy="1097280"/>
          </a:xfrm>
          <a:prstGeom prst="roundRect">
            <a:avLst>
              <a:gd fmla="val 4167" name="adj"/>
            </a:avLst>
          </a:prstGeom>
          <a:solidFill>
            <a:srgbClr val="F4F6F8"/>
          </a:solidFill>
          <a:ln cap="flat" cmpd="sng" w="12700">
            <a:solidFill>
              <a:srgbClr val="F4F6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8"/>
          <p:cNvSpPr/>
          <p:nvPr/>
        </p:nvSpPr>
        <p:spPr>
          <a:xfrm>
            <a:off x="6291072" y="2779776"/>
            <a:ext cx="2359152" cy="9144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41821"/>
              </a:buClr>
              <a:buSzPts val="1150"/>
              <a:buFont typeface="Calibri"/>
              <a:buNone/>
            </a:pPr>
            <a:r>
              <a:rPr b="1" i="0" lang="en-US" sz="1150" u="none" cap="none" strike="noStrike">
                <a:solidFill>
                  <a:srgbClr val="141821"/>
                </a:solidFill>
                <a:latin typeface="Calibri"/>
                <a:ea typeface="Calibri"/>
                <a:cs typeface="Calibri"/>
                <a:sym typeface="Calibri"/>
              </a:rPr>
              <a:t>Prompt Templates</a:t>
            </a:r>
            <a:endParaRPr b="0" i="0" sz="11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4A5262"/>
              </a:buClr>
              <a:buSzPts val="950"/>
              <a:buFont typeface="Calibri"/>
              <a:buNone/>
            </a:pPr>
            <a:r>
              <a:rPr b="0" i="0" lang="en-US" sz="950" u="none" cap="none" strike="noStrike">
                <a:solidFill>
                  <a:srgbClr val="4A5262"/>
                </a:solidFill>
                <a:latin typeface="Calibri"/>
                <a:ea typeface="Calibri"/>
                <a:cs typeface="Calibri"/>
                <a:sym typeface="Calibri"/>
              </a:rPr>
              <a:t>Override the built-in prompts that govern how goose responds, plans and compacts.</a:t>
            </a:r>
            <a:endParaRPr b="0" i="0" sz="1150" u="none" cap="none" strike="noStrike">
              <a:solidFill>
                <a:schemeClr val="dk1"/>
              </a:solidFill>
              <a:latin typeface="Calibri"/>
              <a:ea typeface="Calibri"/>
              <a:cs typeface="Calibri"/>
              <a:sym typeface="Calibri"/>
            </a:endParaRPr>
          </a:p>
        </p:txBody>
      </p:sp>
      <p:sp>
        <p:nvSpPr>
          <p:cNvPr id="241" name="Google Shape;241;p8"/>
          <p:cNvSpPr/>
          <p:nvPr/>
        </p:nvSpPr>
        <p:spPr>
          <a:xfrm>
            <a:off x="8942832" y="2688336"/>
            <a:ext cx="2651760" cy="1097280"/>
          </a:xfrm>
          <a:prstGeom prst="roundRect">
            <a:avLst>
              <a:gd fmla="val 4167" name="adj"/>
            </a:avLst>
          </a:prstGeom>
          <a:solidFill>
            <a:srgbClr val="EDF1F4"/>
          </a:solidFill>
          <a:ln cap="flat" cmpd="sng" w="12700">
            <a:solidFill>
              <a:srgbClr val="EDF1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8"/>
          <p:cNvSpPr/>
          <p:nvPr/>
        </p:nvSpPr>
        <p:spPr>
          <a:xfrm>
            <a:off x="9089136" y="2779776"/>
            <a:ext cx="2359152" cy="9144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41821"/>
              </a:buClr>
              <a:buSzPts val="1150"/>
              <a:buFont typeface="Calibri"/>
              <a:buNone/>
            </a:pPr>
            <a:r>
              <a:rPr b="1" i="0" lang="en-US" sz="1150" u="none" cap="none" strike="noStrike">
                <a:solidFill>
                  <a:srgbClr val="141821"/>
                </a:solidFill>
                <a:latin typeface="Calibri"/>
                <a:ea typeface="Calibri"/>
                <a:cs typeface="Calibri"/>
                <a:sym typeface="Calibri"/>
              </a:rPr>
              <a:t>Subagents</a:t>
            </a:r>
            <a:endParaRPr b="0" i="0" sz="11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4A5262"/>
              </a:buClr>
              <a:buSzPts val="950"/>
              <a:buFont typeface="Calibri"/>
              <a:buNone/>
            </a:pPr>
            <a:r>
              <a:rPr b="0" i="0" lang="en-US" sz="950" u="none" cap="none" strike="noStrike">
                <a:solidFill>
                  <a:srgbClr val="4A5262"/>
                </a:solidFill>
                <a:latin typeface="Calibri"/>
                <a:ea typeface="Calibri"/>
                <a:cs typeface="Calibri"/>
                <a:sym typeface="Calibri"/>
              </a:rPr>
              <a:t>Delegate focused work to isolated instances, sequential or parallel, without polluting your context.</a:t>
            </a:r>
            <a:endParaRPr b="0" i="0" sz="1150" u="none" cap="none" strike="noStrike">
              <a:solidFill>
                <a:schemeClr val="dk1"/>
              </a:solidFill>
              <a:latin typeface="Calibri"/>
              <a:ea typeface="Calibri"/>
              <a:cs typeface="Calibri"/>
              <a:sym typeface="Calibri"/>
            </a:endParaRPr>
          </a:p>
        </p:txBody>
      </p:sp>
      <p:sp>
        <p:nvSpPr>
          <p:cNvPr id="243" name="Google Shape;243;p8"/>
          <p:cNvSpPr/>
          <p:nvPr/>
        </p:nvSpPr>
        <p:spPr>
          <a:xfrm>
            <a:off x="548640" y="3913632"/>
            <a:ext cx="2651760" cy="1097280"/>
          </a:xfrm>
          <a:prstGeom prst="roundRect">
            <a:avLst>
              <a:gd fmla="val 4167" name="adj"/>
            </a:avLst>
          </a:prstGeom>
          <a:solidFill>
            <a:srgbClr val="F4F6F8"/>
          </a:solidFill>
          <a:ln cap="flat" cmpd="sng" w="12700">
            <a:solidFill>
              <a:srgbClr val="F4F6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8"/>
          <p:cNvSpPr/>
          <p:nvPr/>
        </p:nvSpPr>
        <p:spPr>
          <a:xfrm>
            <a:off x="694944" y="4005072"/>
            <a:ext cx="2359152" cy="9144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41821"/>
              </a:buClr>
              <a:buSzPts val="1150"/>
              <a:buFont typeface="Calibri"/>
              <a:buNone/>
            </a:pPr>
            <a:r>
              <a:rPr b="1" i="0" lang="en-US" sz="1150" u="none" cap="none" strike="noStrike">
                <a:solidFill>
                  <a:srgbClr val="141821"/>
                </a:solidFill>
                <a:latin typeface="Calibri"/>
                <a:ea typeface="Calibri"/>
                <a:cs typeface="Calibri"/>
                <a:sym typeface="Calibri"/>
              </a:rPr>
              <a:t>.gooseignore</a:t>
            </a:r>
            <a:endParaRPr b="0" i="0" sz="11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4A5262"/>
              </a:buClr>
              <a:buSzPts val="950"/>
              <a:buFont typeface="Calibri"/>
              <a:buNone/>
            </a:pPr>
            <a:r>
              <a:rPr b="0" i="0" lang="en-US" sz="950" u="none" cap="none" strike="noStrike">
                <a:solidFill>
                  <a:srgbClr val="4A5262"/>
                </a:solidFill>
                <a:latin typeface="Calibri"/>
                <a:ea typeface="Calibri"/>
                <a:cs typeface="Calibri"/>
                <a:sym typeface="Calibri"/>
              </a:rPr>
              <a:t>Global or per-project rules for files and directories goose must never read or touch.</a:t>
            </a:r>
            <a:endParaRPr b="0" i="0" sz="1150" u="none" cap="none" strike="noStrike">
              <a:solidFill>
                <a:schemeClr val="dk1"/>
              </a:solidFill>
              <a:latin typeface="Calibri"/>
              <a:ea typeface="Calibri"/>
              <a:cs typeface="Calibri"/>
              <a:sym typeface="Calibri"/>
            </a:endParaRPr>
          </a:p>
        </p:txBody>
      </p:sp>
      <p:sp>
        <p:nvSpPr>
          <p:cNvPr id="245" name="Google Shape;245;p8"/>
          <p:cNvSpPr/>
          <p:nvPr/>
        </p:nvSpPr>
        <p:spPr>
          <a:xfrm>
            <a:off x="3346704" y="3913632"/>
            <a:ext cx="2651760" cy="1097280"/>
          </a:xfrm>
          <a:prstGeom prst="roundRect">
            <a:avLst>
              <a:gd fmla="val 4167" name="adj"/>
            </a:avLst>
          </a:prstGeom>
          <a:solidFill>
            <a:srgbClr val="EDF1F4"/>
          </a:solidFill>
          <a:ln cap="flat" cmpd="sng" w="12700">
            <a:solidFill>
              <a:srgbClr val="EDF1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8"/>
          <p:cNvSpPr/>
          <p:nvPr/>
        </p:nvSpPr>
        <p:spPr>
          <a:xfrm>
            <a:off x="3493008" y="4005072"/>
            <a:ext cx="2359152" cy="9144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41821"/>
              </a:buClr>
              <a:buSzPts val="1150"/>
              <a:buFont typeface="Calibri"/>
              <a:buNone/>
            </a:pPr>
            <a:r>
              <a:rPr b="1" i="0" lang="en-US" sz="1150" u="none" cap="none" strike="noStrike">
                <a:solidFill>
                  <a:srgbClr val="141821"/>
                </a:solidFill>
                <a:latin typeface="Calibri"/>
                <a:ea typeface="Calibri"/>
                <a:cs typeface="Calibri"/>
                <a:sym typeface="Calibri"/>
              </a:rPr>
              <a:t>Planning Mode</a:t>
            </a:r>
            <a:endParaRPr b="0" i="0" sz="11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4A5262"/>
              </a:buClr>
              <a:buSzPts val="950"/>
              <a:buFont typeface="Calibri"/>
              <a:buNone/>
            </a:pPr>
            <a:r>
              <a:rPr b="0" i="0" lang="en-US" sz="950" u="none" cap="none" strike="noStrike">
                <a:solidFill>
                  <a:srgbClr val="4A5262"/>
                </a:solidFill>
                <a:latin typeface="Calibri"/>
                <a:ea typeface="Calibri"/>
                <a:cs typeface="Calibri"/>
                <a:sym typeface="Calibri"/>
              </a:rPr>
              <a:t>Break complex work into reviewed steps before any implementation starts. Separate planner model supported.</a:t>
            </a:r>
            <a:endParaRPr b="0" i="0" sz="1150" u="none" cap="none" strike="noStrike">
              <a:solidFill>
                <a:schemeClr val="dk1"/>
              </a:solidFill>
              <a:latin typeface="Calibri"/>
              <a:ea typeface="Calibri"/>
              <a:cs typeface="Calibri"/>
              <a:sym typeface="Calibri"/>
            </a:endParaRPr>
          </a:p>
        </p:txBody>
      </p:sp>
      <p:sp>
        <p:nvSpPr>
          <p:cNvPr id="247" name="Google Shape;247;p8"/>
          <p:cNvSpPr/>
          <p:nvPr/>
        </p:nvSpPr>
        <p:spPr>
          <a:xfrm>
            <a:off x="6144768" y="3913632"/>
            <a:ext cx="2651760" cy="1097280"/>
          </a:xfrm>
          <a:prstGeom prst="roundRect">
            <a:avLst>
              <a:gd fmla="val 4167" name="adj"/>
            </a:avLst>
          </a:prstGeom>
          <a:solidFill>
            <a:srgbClr val="F4F6F8"/>
          </a:solidFill>
          <a:ln cap="flat" cmpd="sng" w="12700">
            <a:solidFill>
              <a:srgbClr val="F4F6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8"/>
          <p:cNvSpPr/>
          <p:nvPr/>
        </p:nvSpPr>
        <p:spPr>
          <a:xfrm>
            <a:off x="6291072" y="4005072"/>
            <a:ext cx="2359152" cy="9144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41821"/>
              </a:buClr>
              <a:buSzPts val="1150"/>
              <a:buFont typeface="Calibri"/>
              <a:buNone/>
            </a:pPr>
            <a:r>
              <a:rPr b="1" i="0" lang="en-US" sz="1150" u="none" cap="none" strike="noStrike">
                <a:solidFill>
                  <a:srgbClr val="141821"/>
                </a:solidFill>
                <a:latin typeface="Calibri"/>
                <a:ea typeface="Calibri"/>
                <a:cs typeface="Calibri"/>
                <a:sym typeface="Calibri"/>
              </a:rPr>
              <a:t>Persistent Instructions</a:t>
            </a:r>
            <a:endParaRPr b="0" i="0" sz="11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4A5262"/>
              </a:buClr>
              <a:buSzPts val="950"/>
              <a:buFont typeface="Calibri"/>
              <a:buNone/>
            </a:pPr>
            <a:r>
              <a:rPr b="0" i="0" lang="en-US" sz="950" u="none" cap="none" strike="noStrike">
                <a:solidFill>
                  <a:srgbClr val="4A5262"/>
                </a:solidFill>
                <a:latin typeface="Calibri"/>
                <a:ea typeface="Calibri"/>
                <a:cs typeface="Calibri"/>
                <a:sym typeface="Calibri"/>
              </a:rPr>
              <a:t>Injected into working memory every single turn — for guardrails that must never be forgotten.</a:t>
            </a:r>
            <a:endParaRPr b="0" i="0" sz="1150" u="none" cap="none" strike="noStrike">
              <a:solidFill>
                <a:schemeClr val="dk1"/>
              </a:solidFill>
              <a:latin typeface="Calibri"/>
              <a:ea typeface="Calibri"/>
              <a:cs typeface="Calibri"/>
              <a:sym typeface="Calibri"/>
            </a:endParaRPr>
          </a:p>
        </p:txBody>
      </p:sp>
      <p:sp>
        <p:nvSpPr>
          <p:cNvPr id="249" name="Google Shape;249;p8"/>
          <p:cNvSpPr/>
          <p:nvPr/>
        </p:nvSpPr>
        <p:spPr>
          <a:xfrm>
            <a:off x="8942832" y="3913632"/>
            <a:ext cx="2651760" cy="1097280"/>
          </a:xfrm>
          <a:prstGeom prst="roundRect">
            <a:avLst>
              <a:gd fmla="val 4167" name="adj"/>
            </a:avLst>
          </a:prstGeom>
          <a:solidFill>
            <a:srgbClr val="EDF1F4"/>
          </a:solidFill>
          <a:ln cap="flat" cmpd="sng" w="12700">
            <a:solidFill>
              <a:srgbClr val="EDF1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8"/>
          <p:cNvSpPr/>
          <p:nvPr/>
        </p:nvSpPr>
        <p:spPr>
          <a:xfrm>
            <a:off x="9089136" y="4005072"/>
            <a:ext cx="2359152" cy="9144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41821"/>
              </a:buClr>
              <a:buSzPts val="1150"/>
              <a:buFont typeface="Calibri"/>
              <a:buNone/>
            </a:pPr>
            <a:r>
              <a:rPr b="1" i="0" lang="en-US" sz="1150" u="none" cap="none" strike="noStrike">
                <a:solidFill>
                  <a:srgbClr val="141821"/>
                </a:solidFill>
                <a:latin typeface="Calibri"/>
                <a:ea typeface="Calibri"/>
                <a:cs typeface="Calibri"/>
                <a:sym typeface="Calibri"/>
              </a:rPr>
              <a:t>Memory Extension</a:t>
            </a:r>
            <a:endParaRPr b="0" i="0" sz="11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4A5262"/>
              </a:buClr>
              <a:buSzPts val="950"/>
              <a:buFont typeface="Calibri"/>
              <a:buNone/>
            </a:pPr>
            <a:r>
              <a:rPr b="0" i="0" lang="en-US" sz="950" u="none" cap="none" strike="noStrike">
                <a:solidFill>
                  <a:srgbClr val="4A5262"/>
                </a:solidFill>
                <a:latin typeface="Calibri"/>
                <a:ea typeface="Calibri"/>
                <a:cs typeface="Calibri"/>
                <a:sym typeface="Calibri"/>
              </a:rPr>
              <a:t>Durable knowledge across sessions: commands, snippets, preferences goose can recall later.</a:t>
            </a:r>
            <a:endParaRPr b="0" i="0" sz="1150" u="none" cap="none" strike="noStrike">
              <a:solidFill>
                <a:schemeClr val="dk1"/>
              </a:solidFill>
              <a:latin typeface="Calibri"/>
              <a:ea typeface="Calibri"/>
              <a:cs typeface="Calibri"/>
              <a:sym typeface="Calibri"/>
            </a:endParaRPr>
          </a:p>
        </p:txBody>
      </p:sp>
      <p:sp>
        <p:nvSpPr>
          <p:cNvPr id="251" name="Google Shape;251;p8"/>
          <p:cNvSpPr/>
          <p:nvPr/>
        </p:nvSpPr>
        <p:spPr>
          <a:xfrm>
            <a:off x="548640" y="5230368"/>
            <a:ext cx="11082528" cy="1005840"/>
          </a:xfrm>
          <a:prstGeom prst="roundRect">
            <a:avLst>
              <a:gd fmla="val 5455" name="adj"/>
            </a:avLst>
          </a:prstGeom>
          <a:solidFill>
            <a:srgbClr val="141821"/>
          </a:solidFill>
          <a:ln cap="flat" cmpd="sng" w="12700">
            <a:solidFill>
              <a:srgbClr val="1418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8"/>
          <p:cNvSpPr/>
          <p:nvPr/>
        </p:nvSpPr>
        <p:spPr>
          <a:xfrm>
            <a:off x="749808" y="5394960"/>
            <a:ext cx="10680192"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9B34"/>
              </a:buClr>
              <a:buSzPts val="1350"/>
              <a:buFont typeface="Calibri"/>
              <a:buNone/>
            </a:pPr>
            <a:r>
              <a:rPr b="1" i="0" lang="en-US" sz="1350" u="none" cap="none" strike="noStrike">
                <a:solidFill>
                  <a:srgbClr val="E09B34"/>
                </a:solidFill>
                <a:latin typeface="Calibri"/>
                <a:ea typeface="Calibri"/>
                <a:cs typeface="Calibri"/>
                <a:sym typeface="Calibri"/>
              </a:rPr>
              <a:t>Pick the right tool: hint vs skill vs memory vs persistent instruction</a:t>
            </a:r>
            <a:endParaRPr b="0" i="0" sz="1350" u="none" cap="none" strike="noStrike">
              <a:solidFill>
                <a:schemeClr val="dk1"/>
              </a:solidFill>
              <a:latin typeface="Calibri"/>
              <a:ea typeface="Calibri"/>
              <a:cs typeface="Calibri"/>
              <a:sym typeface="Calibri"/>
            </a:endParaRPr>
          </a:p>
        </p:txBody>
      </p:sp>
      <p:sp>
        <p:nvSpPr>
          <p:cNvPr id="253" name="Google Shape;253;p8"/>
          <p:cNvSpPr/>
          <p:nvPr/>
        </p:nvSpPr>
        <p:spPr>
          <a:xfrm>
            <a:off x="749808" y="5669280"/>
            <a:ext cx="10680192" cy="438912"/>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B8C1D0"/>
              </a:buClr>
              <a:buSzPts val="1050"/>
              <a:buFont typeface="Calibri"/>
              <a:buNone/>
            </a:pPr>
            <a:r>
              <a:rPr b="0" i="0" lang="en-US" sz="1050" u="none" cap="none" strike="noStrike">
                <a:solidFill>
                  <a:srgbClr val="B8C1D0"/>
                </a:solidFill>
                <a:latin typeface="Calibri"/>
                <a:ea typeface="Calibri"/>
                <a:cs typeface="Calibri"/>
                <a:sym typeface="Calibri"/>
              </a:rPr>
              <a:t>.goosehints is always loaded — keep it small and stable.  Skills load on demand — put long procedures there.  Memory persists across sessions — use it for facts you will need again.  Persistent instructions re-inject every turn — reserve them for hard guardrails, because they cost tokens on every single call. Everything competes for the same context window, so budget it deliberately.</a:t>
            </a:r>
            <a:endParaRPr b="0" i="0" sz="1050" u="none" cap="none" strike="noStrike">
              <a:solidFill>
                <a:schemeClr val="dk1"/>
              </a:solidFill>
              <a:latin typeface="Calibri"/>
              <a:ea typeface="Calibri"/>
              <a:cs typeface="Calibri"/>
              <a:sym typeface="Calibri"/>
            </a:endParaRPr>
          </a:p>
        </p:txBody>
      </p:sp>
      <p:sp>
        <p:nvSpPr>
          <p:cNvPr id="254" name="Google Shape;254;p8"/>
          <p:cNvSpPr/>
          <p:nvPr/>
        </p:nvSpPr>
        <p:spPr>
          <a:xfrm>
            <a:off x="548640" y="6355080"/>
            <a:ext cx="11064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50"/>
              <a:buFont typeface="Calibri"/>
              <a:buNone/>
            </a:pPr>
            <a:r>
              <a:rPr b="0" i="0" lang="en-US" sz="950" u="none" cap="none" strike="noStrike">
                <a:solidFill>
                  <a:srgbClr val="6B7280"/>
                </a:solidFill>
                <a:latin typeface="Calibri"/>
                <a:ea typeface="Calibri"/>
                <a:cs typeface="Calibri"/>
                <a:sym typeface="Calibri"/>
              </a:rPr>
              <a:t>Reference: goose-docs.ai/docs/guides/context-engineering (12 guides)</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9" name="Shape 259"/>
        <p:cNvGrpSpPr/>
        <p:nvPr/>
      </p:nvGrpSpPr>
      <p:grpSpPr>
        <a:xfrm>
          <a:off x="0" y="0"/>
          <a:ext cx="0" cy="0"/>
          <a:chOff x="0" y="0"/>
          <a:chExt cx="0" cy="0"/>
        </a:xfrm>
      </p:grpSpPr>
      <p:sp>
        <p:nvSpPr>
          <p:cNvPr id="260" name="Google Shape;260;p9"/>
          <p:cNvSpPr/>
          <p:nvPr/>
        </p:nvSpPr>
        <p:spPr>
          <a:xfrm>
            <a:off x="548640" y="384048"/>
            <a:ext cx="475488" cy="475488"/>
          </a:xfrm>
          <a:prstGeom prst="roundRect">
            <a:avLst>
              <a:gd fmla="val 19231" name="adj"/>
            </a:avLst>
          </a:prstGeom>
          <a:solidFill>
            <a:srgbClr val="E09B34"/>
          </a:solidFill>
          <a:ln cap="flat" cmpd="sng" w="12700">
            <a:solidFill>
              <a:srgbClr val="E09B3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9"/>
          <p:cNvSpPr/>
          <p:nvPr/>
        </p:nvSpPr>
        <p:spPr>
          <a:xfrm>
            <a:off x="548640" y="384048"/>
            <a:ext cx="475488"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1821"/>
              </a:buClr>
              <a:buSzPts val="2000"/>
              <a:buFont typeface="Calibri"/>
              <a:buNone/>
            </a:pPr>
            <a:r>
              <a:rPr b="1" i="0" lang="en-US" sz="2000" u="none" cap="none" strike="noStrike">
                <a:solidFill>
                  <a:srgbClr val="141821"/>
                </a:solidFill>
                <a:latin typeface="Calibri"/>
                <a:ea typeface="Calibri"/>
                <a:cs typeface="Calibri"/>
                <a:sym typeface="Calibri"/>
              </a:rPr>
              <a:t>8</a:t>
            </a:r>
            <a:endParaRPr b="0" i="0" sz="2000" u="none" cap="none" strike="noStrike">
              <a:solidFill>
                <a:schemeClr val="dk1"/>
              </a:solidFill>
              <a:latin typeface="Calibri"/>
              <a:ea typeface="Calibri"/>
              <a:cs typeface="Calibri"/>
              <a:sym typeface="Calibri"/>
            </a:endParaRPr>
          </a:p>
        </p:txBody>
      </p:sp>
      <p:sp>
        <p:nvSpPr>
          <p:cNvPr id="262" name="Google Shape;262;p9"/>
          <p:cNvSpPr/>
          <p:nvPr/>
        </p:nvSpPr>
        <p:spPr>
          <a:xfrm>
            <a:off x="1170432" y="347472"/>
            <a:ext cx="104241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821"/>
              </a:buClr>
              <a:buSzPts val="3000"/>
              <a:buFont typeface="Calibri"/>
              <a:buNone/>
            </a:pPr>
            <a:r>
              <a:rPr b="1" i="0" lang="en-US" sz="3000" u="none" cap="none" strike="noStrike">
                <a:solidFill>
                  <a:srgbClr val="141821"/>
                </a:solidFill>
                <a:latin typeface="Calibri"/>
                <a:ea typeface="Calibri"/>
                <a:cs typeface="Calibri"/>
                <a:sym typeface="Calibri"/>
              </a:rPr>
              <a:t>Feature — Recipes &amp; Subrecipes</a:t>
            </a:r>
            <a:endParaRPr b="0" i="0" sz="3000" u="none" cap="none" strike="noStrike">
              <a:solidFill>
                <a:schemeClr val="dk1"/>
              </a:solidFill>
              <a:latin typeface="Calibri"/>
              <a:ea typeface="Calibri"/>
              <a:cs typeface="Calibri"/>
              <a:sym typeface="Calibri"/>
            </a:endParaRPr>
          </a:p>
        </p:txBody>
      </p:sp>
      <p:sp>
        <p:nvSpPr>
          <p:cNvPr id="263" name="Google Shape;263;p9"/>
          <p:cNvSpPr/>
          <p:nvPr/>
        </p:nvSpPr>
        <p:spPr>
          <a:xfrm>
            <a:off x="1170432" y="914400"/>
            <a:ext cx="104241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300"/>
              <a:buFont typeface="Calibri"/>
              <a:buNone/>
            </a:pPr>
            <a:r>
              <a:rPr b="0" i="1" lang="en-US" sz="1300" u="none" cap="none" strike="noStrike">
                <a:solidFill>
                  <a:srgbClr val="6B7280"/>
                </a:solidFill>
                <a:latin typeface="Calibri"/>
                <a:ea typeface="Calibri"/>
                <a:cs typeface="Calibri"/>
                <a:sym typeface="Calibri"/>
              </a:rPr>
              <a:t>Package a working session — tools, prompt, parameters, settings — into something a teammate can launch in one click</a:t>
            </a:r>
            <a:endParaRPr b="0" i="0" sz="1300" u="none" cap="none" strike="noStrike">
              <a:solidFill>
                <a:schemeClr val="dk1"/>
              </a:solidFill>
              <a:latin typeface="Calibri"/>
              <a:ea typeface="Calibri"/>
              <a:cs typeface="Calibri"/>
              <a:sym typeface="Calibri"/>
            </a:endParaRPr>
          </a:p>
        </p:txBody>
      </p:sp>
      <p:sp>
        <p:nvSpPr>
          <p:cNvPr id="264" name="Google Shape;264;p9"/>
          <p:cNvSpPr/>
          <p:nvPr/>
        </p:nvSpPr>
        <p:spPr>
          <a:xfrm>
            <a:off x="548640" y="1463040"/>
            <a:ext cx="5394960" cy="1874520"/>
          </a:xfrm>
          <a:prstGeom prst="roundRect">
            <a:avLst>
              <a:gd fmla="val 2927" name="adj"/>
            </a:avLst>
          </a:prstGeom>
          <a:solidFill>
            <a:srgbClr val="F4F6F8"/>
          </a:solidFill>
          <a:ln cap="flat" cmpd="sng" w="12700">
            <a:solidFill>
              <a:srgbClr val="F4F6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9"/>
          <p:cNvSpPr/>
          <p:nvPr/>
        </p:nvSpPr>
        <p:spPr>
          <a:xfrm>
            <a:off x="749808" y="1627632"/>
            <a:ext cx="499262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821"/>
              </a:buClr>
              <a:buSzPts val="1400"/>
              <a:buFont typeface="Calibri"/>
              <a:buNone/>
            </a:pPr>
            <a:r>
              <a:rPr b="1" i="0" lang="en-US" sz="1400" u="none" cap="none" strike="noStrike">
                <a:solidFill>
                  <a:srgbClr val="141821"/>
                </a:solidFill>
                <a:latin typeface="Calibri"/>
                <a:ea typeface="Calibri"/>
                <a:cs typeface="Calibri"/>
                <a:sym typeface="Calibri"/>
              </a:rPr>
              <a:t>What a recipe carries</a:t>
            </a:r>
            <a:endParaRPr b="0" i="0" sz="1400" u="none" cap="none" strike="noStrike">
              <a:solidFill>
                <a:schemeClr val="dk1"/>
              </a:solidFill>
              <a:latin typeface="Calibri"/>
              <a:ea typeface="Calibri"/>
              <a:cs typeface="Calibri"/>
              <a:sym typeface="Calibri"/>
            </a:endParaRPr>
          </a:p>
        </p:txBody>
      </p:sp>
      <p:sp>
        <p:nvSpPr>
          <p:cNvPr id="266" name="Google Shape;266;p9"/>
          <p:cNvSpPr/>
          <p:nvPr/>
        </p:nvSpPr>
        <p:spPr>
          <a:xfrm>
            <a:off x="749808" y="1938528"/>
            <a:ext cx="4992624" cy="1271016"/>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3D4553"/>
              </a:buClr>
              <a:buSzPts val="1150"/>
              <a:buFont typeface="Calibri"/>
              <a:buNone/>
            </a:pPr>
            <a:r>
              <a:rPr b="0" i="0" lang="en-US" sz="1150" u="none" cap="none" strike="noStrike">
                <a:solidFill>
                  <a:srgbClr val="3D4553"/>
                </a:solidFill>
                <a:latin typeface="Calibri"/>
                <a:ea typeface="Calibri"/>
                <a:cs typeface="Calibri"/>
                <a:sym typeface="Calibri"/>
              </a:rPr>
              <a:t>•  The instructions and goal for the session</a:t>
            </a:r>
            <a:endParaRPr b="0" i="0" sz="11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3D4553"/>
              </a:buClr>
              <a:buSzPts val="1150"/>
              <a:buFont typeface="Calibri"/>
              <a:buNone/>
            </a:pPr>
            <a:r>
              <a:rPr b="0" i="0" lang="en-US" sz="1150" u="none" cap="none" strike="noStrike">
                <a:solidFill>
                  <a:srgbClr val="3D4553"/>
                </a:solidFill>
                <a:latin typeface="Calibri"/>
                <a:ea typeface="Calibri"/>
                <a:cs typeface="Calibri"/>
                <a:sym typeface="Calibri"/>
              </a:rPr>
              <a:t>•  Which extensions must be enabled</a:t>
            </a:r>
            <a:endParaRPr b="0" i="0" sz="11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3D4553"/>
              </a:buClr>
              <a:buSzPts val="1150"/>
              <a:buFont typeface="Calibri"/>
              <a:buNone/>
            </a:pPr>
            <a:r>
              <a:rPr b="0" i="0" lang="en-US" sz="1150" u="none" cap="none" strike="noStrike">
                <a:solidFill>
                  <a:srgbClr val="3D4553"/>
                </a:solidFill>
                <a:latin typeface="Calibri"/>
                <a:ea typeface="Calibri"/>
                <a:cs typeface="Calibri"/>
                <a:sym typeface="Calibri"/>
              </a:rPr>
              <a:t>•  Parameters the runner fills in at launch</a:t>
            </a:r>
            <a:endParaRPr b="0" i="0" sz="11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3D4553"/>
              </a:buClr>
              <a:buSzPts val="1150"/>
              <a:buFont typeface="Calibri"/>
              <a:buNone/>
            </a:pPr>
            <a:r>
              <a:rPr b="0" i="0" lang="en-US" sz="1150" u="none" cap="none" strike="noStrike">
                <a:solidFill>
                  <a:srgbClr val="3D4553"/>
                </a:solidFill>
                <a:latin typeface="Calibri"/>
                <a:ea typeface="Calibri"/>
                <a:cs typeface="Calibri"/>
                <a:sym typeface="Calibri"/>
              </a:rPr>
              <a:t>•  Provider, model and behaviour settings</a:t>
            </a:r>
            <a:endParaRPr b="0" i="0" sz="11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3D4553"/>
              </a:buClr>
              <a:buSzPts val="1150"/>
              <a:buFont typeface="Calibri"/>
              <a:buNone/>
            </a:pPr>
            <a:r>
              <a:rPr b="0" i="0" lang="en-US" sz="1150" u="none" cap="none" strike="noStrike">
                <a:solidFill>
                  <a:srgbClr val="3D4553"/>
                </a:solidFill>
                <a:latin typeface="Calibri"/>
                <a:ea typeface="Calibri"/>
                <a:cs typeface="Calibri"/>
                <a:sym typeface="Calibri"/>
              </a:rPr>
              <a:t>•  Optional subrecipes for delegated sub-tasks</a:t>
            </a:r>
            <a:endParaRPr b="0" i="0" sz="1150" u="none" cap="none" strike="noStrike">
              <a:solidFill>
                <a:schemeClr val="dk1"/>
              </a:solidFill>
              <a:latin typeface="Calibri"/>
              <a:ea typeface="Calibri"/>
              <a:cs typeface="Calibri"/>
              <a:sym typeface="Calibri"/>
            </a:endParaRPr>
          </a:p>
        </p:txBody>
      </p:sp>
      <p:sp>
        <p:nvSpPr>
          <p:cNvPr id="267" name="Google Shape;267;p9"/>
          <p:cNvSpPr/>
          <p:nvPr/>
        </p:nvSpPr>
        <p:spPr>
          <a:xfrm>
            <a:off x="548640" y="3474720"/>
            <a:ext cx="5394960" cy="1828800"/>
          </a:xfrm>
          <a:prstGeom prst="roundRect">
            <a:avLst>
              <a:gd fmla="val 3000" name="adj"/>
            </a:avLst>
          </a:prstGeom>
          <a:solidFill>
            <a:srgbClr val="EDF1F4"/>
          </a:solidFill>
          <a:ln cap="flat" cmpd="sng" w="12700">
            <a:solidFill>
              <a:srgbClr val="EDF1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9"/>
          <p:cNvSpPr/>
          <p:nvPr/>
        </p:nvSpPr>
        <p:spPr>
          <a:xfrm>
            <a:off x="749808" y="3639312"/>
            <a:ext cx="499262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821"/>
              </a:buClr>
              <a:buSzPts val="1400"/>
              <a:buFont typeface="Calibri"/>
              <a:buNone/>
            </a:pPr>
            <a:r>
              <a:rPr b="1" i="0" lang="en-US" sz="1400" u="none" cap="none" strike="noStrike">
                <a:solidFill>
                  <a:srgbClr val="141821"/>
                </a:solidFill>
                <a:latin typeface="Calibri"/>
                <a:ea typeface="Calibri"/>
                <a:cs typeface="Calibri"/>
                <a:sym typeface="Calibri"/>
              </a:rPr>
              <a:t>Subrecipes</a:t>
            </a:r>
            <a:endParaRPr b="0" i="0" sz="1400" u="none" cap="none" strike="noStrike">
              <a:solidFill>
                <a:schemeClr val="dk1"/>
              </a:solidFill>
              <a:latin typeface="Calibri"/>
              <a:ea typeface="Calibri"/>
              <a:cs typeface="Calibri"/>
              <a:sym typeface="Calibri"/>
            </a:endParaRPr>
          </a:p>
        </p:txBody>
      </p:sp>
      <p:sp>
        <p:nvSpPr>
          <p:cNvPr id="269" name="Google Shape;269;p9"/>
          <p:cNvSpPr/>
          <p:nvPr/>
        </p:nvSpPr>
        <p:spPr>
          <a:xfrm>
            <a:off x="749808" y="3950208"/>
            <a:ext cx="4992624" cy="1225296"/>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3D4553"/>
              </a:buClr>
              <a:buSzPts val="1150"/>
              <a:buFont typeface="Calibri"/>
              <a:buNone/>
            </a:pPr>
            <a:r>
              <a:rPr b="0" i="0" lang="en-US" sz="1150" u="none" cap="none" strike="noStrike">
                <a:solidFill>
                  <a:srgbClr val="3D4553"/>
                </a:solidFill>
                <a:latin typeface="Calibri"/>
                <a:ea typeface="Calibri"/>
                <a:cs typeface="Calibri"/>
                <a:sym typeface="Calibri"/>
              </a:rPr>
              <a:t>A recipe can call other recipes to handle specific tasks — sequentially, or several instances in parallel. This is how you fan out repetitive work (audit twenty services, migrate thirty files) without one enormous context window trying to hold all of it at once.</a:t>
            </a:r>
            <a:endParaRPr b="0" i="0" sz="1150" u="none" cap="none" strike="noStrike">
              <a:solidFill>
                <a:schemeClr val="dk1"/>
              </a:solidFill>
              <a:latin typeface="Calibri"/>
              <a:ea typeface="Calibri"/>
              <a:cs typeface="Calibri"/>
              <a:sym typeface="Calibri"/>
            </a:endParaRPr>
          </a:p>
        </p:txBody>
      </p:sp>
      <p:sp>
        <p:nvSpPr>
          <p:cNvPr id="270" name="Google Shape;270;p9"/>
          <p:cNvSpPr/>
          <p:nvPr/>
        </p:nvSpPr>
        <p:spPr>
          <a:xfrm>
            <a:off x="6144768" y="1463040"/>
            <a:ext cx="2651760" cy="1097280"/>
          </a:xfrm>
          <a:prstGeom prst="roundRect">
            <a:avLst>
              <a:gd fmla="val 4167" name="adj"/>
            </a:avLst>
          </a:prstGeom>
          <a:solidFill>
            <a:srgbClr val="EDF1F4"/>
          </a:solidFill>
          <a:ln cap="flat" cmpd="sng" w="12700">
            <a:solidFill>
              <a:srgbClr val="EDF1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9"/>
          <p:cNvSpPr/>
          <p:nvPr/>
        </p:nvSpPr>
        <p:spPr>
          <a:xfrm>
            <a:off x="6291072" y="1554480"/>
            <a:ext cx="2359152" cy="9144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41821"/>
              </a:buClr>
              <a:buSzPts val="1200"/>
              <a:buFont typeface="Calibri"/>
              <a:buNone/>
            </a:pPr>
            <a:r>
              <a:rPr b="1" i="0" lang="en-US" sz="1200" u="none" cap="none" strike="noStrike">
                <a:solidFill>
                  <a:srgbClr val="141821"/>
                </a:solidFill>
                <a:latin typeface="Calibri"/>
                <a:ea typeface="Calibri"/>
                <a:cs typeface="Calibri"/>
                <a:sym typeface="Calibri"/>
              </a:rPr>
              <a:t>Reusable Recipes</a:t>
            </a:r>
            <a:endParaRPr b="0" i="0" sz="12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4A5262"/>
              </a:buClr>
              <a:buSzPts val="950"/>
              <a:buFont typeface="Calibri"/>
              <a:buNone/>
            </a:pPr>
            <a:r>
              <a:rPr b="0" i="0" lang="en-US" sz="950" u="none" cap="none" strike="noStrike">
                <a:solidFill>
                  <a:srgbClr val="4A5262"/>
                </a:solidFill>
                <a:latin typeface="Calibri"/>
                <a:ea typeface="Calibri"/>
                <a:cs typeface="Calibri"/>
                <a:sym typeface="Calibri"/>
              </a:rPr>
              <a:t>Share a session setup others launch with one click, including via deeplink.</a:t>
            </a:r>
            <a:endParaRPr b="0" i="0" sz="1200" u="none" cap="none" strike="noStrike">
              <a:solidFill>
                <a:schemeClr val="dk1"/>
              </a:solidFill>
              <a:latin typeface="Calibri"/>
              <a:ea typeface="Calibri"/>
              <a:cs typeface="Calibri"/>
              <a:sym typeface="Calibri"/>
            </a:endParaRPr>
          </a:p>
        </p:txBody>
      </p:sp>
      <p:sp>
        <p:nvSpPr>
          <p:cNvPr id="272" name="Google Shape;272;p9"/>
          <p:cNvSpPr/>
          <p:nvPr/>
        </p:nvSpPr>
        <p:spPr>
          <a:xfrm>
            <a:off x="8942832" y="1463040"/>
            <a:ext cx="2651760" cy="1097280"/>
          </a:xfrm>
          <a:prstGeom prst="roundRect">
            <a:avLst>
              <a:gd fmla="val 4167" name="adj"/>
            </a:avLst>
          </a:prstGeom>
          <a:solidFill>
            <a:srgbClr val="F4F6F8"/>
          </a:solidFill>
          <a:ln cap="flat" cmpd="sng" w="12700">
            <a:solidFill>
              <a:srgbClr val="F4F6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9"/>
          <p:cNvSpPr/>
          <p:nvPr/>
        </p:nvSpPr>
        <p:spPr>
          <a:xfrm>
            <a:off x="9089136" y="1554480"/>
            <a:ext cx="2359152" cy="9144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41821"/>
              </a:buClr>
              <a:buSzPts val="1200"/>
              <a:buFont typeface="Calibri"/>
              <a:buNone/>
            </a:pPr>
            <a:r>
              <a:rPr b="1" i="0" lang="en-US" sz="1200" u="none" cap="none" strike="noStrike">
                <a:solidFill>
                  <a:srgbClr val="141821"/>
                </a:solidFill>
                <a:latin typeface="Calibri"/>
                <a:ea typeface="Calibri"/>
                <a:cs typeface="Calibri"/>
                <a:sym typeface="Calibri"/>
              </a:rPr>
              <a:t>Recipe Reference</a:t>
            </a:r>
            <a:endParaRPr b="0" i="0" sz="12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4A5262"/>
              </a:buClr>
              <a:buSzPts val="950"/>
              <a:buFont typeface="Calibri"/>
              <a:buNone/>
            </a:pPr>
            <a:r>
              <a:rPr b="0" i="0" lang="en-US" sz="950" u="none" cap="none" strike="noStrike">
                <a:solidFill>
                  <a:srgbClr val="4A5262"/>
                </a:solidFill>
                <a:latin typeface="Calibri"/>
                <a:ea typeface="Calibri"/>
                <a:cs typeface="Calibri"/>
                <a:sym typeface="Calibri"/>
              </a:rPr>
              <a:t>The full technical schema for authoring recipes from the CLI.</a:t>
            </a:r>
            <a:endParaRPr b="0" i="0" sz="1200" u="none" cap="none" strike="noStrike">
              <a:solidFill>
                <a:schemeClr val="dk1"/>
              </a:solidFill>
              <a:latin typeface="Calibri"/>
              <a:ea typeface="Calibri"/>
              <a:cs typeface="Calibri"/>
              <a:sym typeface="Calibri"/>
            </a:endParaRPr>
          </a:p>
        </p:txBody>
      </p:sp>
      <p:sp>
        <p:nvSpPr>
          <p:cNvPr id="274" name="Google Shape;274;p9"/>
          <p:cNvSpPr/>
          <p:nvPr/>
        </p:nvSpPr>
        <p:spPr>
          <a:xfrm>
            <a:off x="6144768" y="2688336"/>
            <a:ext cx="2651760" cy="1097280"/>
          </a:xfrm>
          <a:prstGeom prst="roundRect">
            <a:avLst>
              <a:gd fmla="val 4167" name="adj"/>
            </a:avLst>
          </a:prstGeom>
          <a:solidFill>
            <a:srgbClr val="EDF1F4"/>
          </a:solidFill>
          <a:ln cap="flat" cmpd="sng" w="12700">
            <a:solidFill>
              <a:srgbClr val="EDF1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9"/>
          <p:cNvSpPr/>
          <p:nvPr/>
        </p:nvSpPr>
        <p:spPr>
          <a:xfrm>
            <a:off x="6291072" y="2779776"/>
            <a:ext cx="2359152" cy="9144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41821"/>
              </a:buClr>
              <a:buSzPts val="1200"/>
              <a:buFont typeface="Calibri"/>
              <a:buNone/>
            </a:pPr>
            <a:r>
              <a:rPr b="1" i="0" lang="en-US" sz="1200" u="none" cap="none" strike="noStrike">
                <a:solidFill>
                  <a:srgbClr val="141821"/>
                </a:solidFill>
                <a:latin typeface="Calibri"/>
                <a:ea typeface="Calibri"/>
                <a:cs typeface="Calibri"/>
                <a:sym typeface="Calibri"/>
              </a:rPr>
              <a:t>Saving Recipes</a:t>
            </a:r>
            <a:endParaRPr b="0" i="0" sz="12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4A5262"/>
              </a:buClr>
              <a:buSzPts val="950"/>
              <a:buFont typeface="Calibri"/>
              <a:buNone/>
            </a:pPr>
            <a:r>
              <a:rPr b="0" i="0" lang="en-US" sz="950" u="none" cap="none" strike="noStrike">
                <a:solidFill>
                  <a:srgbClr val="4A5262"/>
                </a:solidFill>
                <a:latin typeface="Calibri"/>
                <a:ea typeface="Calibri"/>
                <a:cs typeface="Calibri"/>
                <a:sym typeface="Calibri"/>
              </a:rPr>
              <a:t>Save, organise and discover recipes; back them with a GitHub repo.</a:t>
            </a:r>
            <a:endParaRPr b="0" i="0" sz="1200" u="none" cap="none" strike="noStrike">
              <a:solidFill>
                <a:schemeClr val="dk1"/>
              </a:solidFill>
              <a:latin typeface="Calibri"/>
              <a:ea typeface="Calibri"/>
              <a:cs typeface="Calibri"/>
              <a:sym typeface="Calibri"/>
            </a:endParaRPr>
          </a:p>
        </p:txBody>
      </p:sp>
      <p:sp>
        <p:nvSpPr>
          <p:cNvPr id="276" name="Google Shape;276;p9"/>
          <p:cNvSpPr/>
          <p:nvPr/>
        </p:nvSpPr>
        <p:spPr>
          <a:xfrm>
            <a:off x="8942832" y="2688336"/>
            <a:ext cx="2651760" cy="1097280"/>
          </a:xfrm>
          <a:prstGeom prst="roundRect">
            <a:avLst>
              <a:gd fmla="val 4167" name="adj"/>
            </a:avLst>
          </a:prstGeom>
          <a:solidFill>
            <a:srgbClr val="F4F6F8"/>
          </a:solidFill>
          <a:ln cap="flat" cmpd="sng" w="12700">
            <a:solidFill>
              <a:srgbClr val="F4F6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9"/>
          <p:cNvSpPr/>
          <p:nvPr/>
        </p:nvSpPr>
        <p:spPr>
          <a:xfrm>
            <a:off x="9089136" y="2779776"/>
            <a:ext cx="2359152" cy="9144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41821"/>
              </a:buClr>
              <a:buSzPts val="1200"/>
              <a:buFont typeface="Calibri"/>
              <a:buNone/>
            </a:pPr>
            <a:r>
              <a:rPr b="1" i="0" lang="en-US" sz="1200" u="none" cap="none" strike="noStrike">
                <a:solidFill>
                  <a:srgbClr val="141821"/>
                </a:solidFill>
                <a:latin typeface="Calibri"/>
                <a:ea typeface="Calibri"/>
                <a:cs typeface="Calibri"/>
                <a:sym typeface="Calibri"/>
              </a:rPr>
              <a:t>Recipe Cookbook</a:t>
            </a:r>
            <a:endParaRPr b="0" i="0" sz="12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4A5262"/>
              </a:buClr>
              <a:buSzPts val="950"/>
              <a:buFont typeface="Calibri"/>
              <a:buNone/>
            </a:pPr>
            <a:r>
              <a:rPr b="0" i="0" lang="en-US" sz="950" u="none" cap="none" strike="noStrike">
                <a:solidFill>
                  <a:srgbClr val="4A5262"/>
                </a:solidFill>
                <a:latin typeface="Calibri"/>
                <a:ea typeface="Calibri"/>
                <a:cs typeface="Calibri"/>
                <a:sym typeface="Calibri"/>
              </a:rPr>
              <a:t>Ready-made recipes for common development scenarios, ready to adapt.</a:t>
            </a:r>
            <a:endParaRPr b="0" i="0" sz="1200" u="none" cap="none" strike="noStrike">
              <a:solidFill>
                <a:schemeClr val="dk1"/>
              </a:solidFill>
              <a:latin typeface="Calibri"/>
              <a:ea typeface="Calibri"/>
              <a:cs typeface="Calibri"/>
              <a:sym typeface="Calibri"/>
            </a:endParaRPr>
          </a:p>
        </p:txBody>
      </p:sp>
      <p:sp>
        <p:nvSpPr>
          <p:cNvPr id="278" name="Google Shape;278;p9"/>
          <p:cNvSpPr/>
          <p:nvPr/>
        </p:nvSpPr>
        <p:spPr>
          <a:xfrm>
            <a:off x="6144768" y="3968496"/>
            <a:ext cx="5486400" cy="2267712"/>
          </a:xfrm>
          <a:prstGeom prst="roundRect">
            <a:avLst>
              <a:gd fmla="val 2016" name="adj"/>
            </a:avLst>
          </a:prstGeom>
          <a:solidFill>
            <a:srgbClr val="141821"/>
          </a:solidFill>
          <a:ln cap="flat" cmpd="sng" w="12700">
            <a:solidFill>
              <a:srgbClr val="1418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9"/>
          <p:cNvSpPr/>
          <p:nvPr/>
        </p:nvSpPr>
        <p:spPr>
          <a:xfrm>
            <a:off x="6309360" y="4078224"/>
            <a:ext cx="5157216" cy="2048256"/>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D9E2EC"/>
              </a:buClr>
              <a:buSzPts val="1000"/>
              <a:buFont typeface="Courier New"/>
              <a:buNone/>
            </a:pPr>
            <a:r>
              <a:rPr b="0" i="0" lang="en-US" sz="1000" u="none" cap="none" strike="noStrike">
                <a:solidFill>
                  <a:srgbClr val="D9E2EC"/>
                </a:solidFill>
                <a:latin typeface="Courier New"/>
                <a:ea typeface="Courier New"/>
                <a:cs typeface="Courier New"/>
                <a:sym typeface="Courier New"/>
              </a:rPr>
              <a:t># config.yaml — bind a recipe to a slash command</a:t>
            </a:r>
            <a:endParaRPr b="0" i="0" sz="1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D9E2EC"/>
              </a:buClr>
              <a:buSzPts val="1000"/>
              <a:buFont typeface="Courier New"/>
              <a:buNone/>
            </a:pPr>
            <a:r>
              <a:rPr b="0" i="0" lang="en-US" sz="1000" u="none" cap="none" strike="noStrike">
                <a:solidFill>
                  <a:srgbClr val="D9E2EC"/>
                </a:solidFill>
                <a:latin typeface="Courier New"/>
                <a:ea typeface="Courier New"/>
                <a:cs typeface="Courier New"/>
                <a:sym typeface="Courier New"/>
              </a:rPr>
              <a:t>slash_commands:</a:t>
            </a:r>
            <a:endParaRPr b="0" i="0" sz="1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D9E2EC"/>
              </a:buClr>
              <a:buSzPts val="1000"/>
              <a:buFont typeface="Courier New"/>
              <a:buNone/>
            </a:pPr>
            <a:r>
              <a:rPr b="0" i="0" lang="en-US" sz="1000" u="none" cap="none" strike="noStrike">
                <a:solidFill>
                  <a:srgbClr val="D9E2EC"/>
                </a:solidFill>
                <a:latin typeface="Courier New"/>
                <a:ea typeface="Courier New"/>
                <a:cs typeface="Courier New"/>
                <a:sym typeface="Courier New"/>
              </a:rPr>
              <a:t>  - command: "run-tests"</a:t>
            </a:r>
            <a:endParaRPr b="0" i="0" sz="1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D9E2EC"/>
              </a:buClr>
              <a:buSzPts val="1000"/>
              <a:buFont typeface="Courier New"/>
              <a:buNone/>
            </a:pPr>
            <a:r>
              <a:rPr b="0" i="0" lang="en-US" sz="1000" u="none" cap="none" strike="noStrike">
                <a:solidFill>
                  <a:srgbClr val="D9E2EC"/>
                </a:solidFill>
                <a:latin typeface="Courier New"/>
                <a:ea typeface="Courier New"/>
                <a:cs typeface="Courier New"/>
                <a:sym typeface="Courier New"/>
              </a:rPr>
              <a:t>    recipe_path: "/path/to/recipe.yaml"</a:t>
            </a:r>
            <a:endParaRPr b="0" i="0" sz="1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D9E2EC"/>
              </a:buClr>
              <a:buSzPts val="1000"/>
              <a:buFont typeface="Courier New"/>
              <a:buNone/>
            </a:pPr>
            <a:r>
              <a:rPr b="0" i="0" lang="en-US" sz="1000" u="none" cap="none" strike="noStrike">
                <a:solidFill>
                  <a:srgbClr val="D9E2EC"/>
                </a:solidFill>
                <a:latin typeface="Courier New"/>
                <a:ea typeface="Courier New"/>
                <a:cs typeface="Courier New"/>
                <a:sym typeface="Courier New"/>
              </a:rPr>
              <a:t>  - command: "daily-standup"</a:t>
            </a:r>
            <a:endParaRPr b="0" i="0" sz="1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D9E2EC"/>
              </a:buClr>
              <a:buSzPts val="1000"/>
              <a:buFont typeface="Courier New"/>
              <a:buNone/>
            </a:pPr>
            <a:r>
              <a:rPr b="0" i="0" lang="en-US" sz="1000" u="none" cap="none" strike="noStrike">
                <a:solidFill>
                  <a:srgbClr val="D9E2EC"/>
                </a:solidFill>
                <a:latin typeface="Courier New"/>
                <a:ea typeface="Courier New"/>
                <a:cs typeface="Courier New"/>
                <a:sym typeface="Courier New"/>
              </a:rPr>
              <a:t>    recipe_path: "~/.local/share/goose/recipes/\</a:t>
            </a:r>
            <a:endParaRPr b="0" i="0" sz="1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D9E2EC"/>
              </a:buClr>
              <a:buSzPts val="1000"/>
              <a:buFont typeface="Courier New"/>
              <a:buNone/>
            </a:pPr>
            <a:r>
              <a:rPr b="0" i="0" lang="en-US" sz="1000" u="none" cap="none" strike="noStrike">
                <a:solidFill>
                  <a:srgbClr val="D9E2EC"/>
                </a:solidFill>
                <a:latin typeface="Courier New"/>
                <a:ea typeface="Courier New"/>
                <a:cs typeface="Courier New"/>
                <a:sym typeface="Courier New"/>
              </a:rPr>
              <a:t>                  standup.yaml"</a:t>
            </a:r>
            <a:endParaRPr b="0" i="0" sz="1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000"/>
              <a:buFont typeface="Calibri"/>
              <a:buNone/>
            </a:pPr>
            <a:r>
              <a:t/>
            </a:r>
            <a:endParaRPr b="0" i="0" sz="1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D9E2EC"/>
              </a:buClr>
              <a:buSzPts val="1000"/>
              <a:buFont typeface="Courier New"/>
              <a:buNone/>
            </a:pPr>
            <a:r>
              <a:rPr b="0" i="0" lang="en-US" sz="1000" u="none" cap="none" strike="noStrike">
                <a:solidFill>
                  <a:srgbClr val="D9E2EC"/>
                </a:solidFill>
                <a:latin typeface="Courier New"/>
                <a:ea typeface="Courier New"/>
                <a:cs typeface="Courier New"/>
                <a:sym typeface="Courier New"/>
              </a:rPr>
              <a:t># point goose at a shared team recipe repo</a:t>
            </a:r>
            <a:endParaRPr b="0" i="0" sz="1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D9E2EC"/>
              </a:buClr>
              <a:buSzPts val="1000"/>
              <a:buFont typeface="Courier New"/>
              <a:buNone/>
            </a:pPr>
            <a:r>
              <a:rPr b="0" i="0" lang="en-US" sz="1000" u="none" cap="none" strike="noStrike">
                <a:solidFill>
                  <a:srgbClr val="D9E2EC"/>
                </a:solidFill>
                <a:latin typeface="Courier New"/>
                <a:ea typeface="Courier New"/>
                <a:cs typeface="Courier New"/>
                <a:sym typeface="Courier New"/>
              </a:rPr>
              <a:t>GOOSE_RECIPE_GITHUB_REPO: "aaif-goose/goose-recipes"</a:t>
            </a:r>
            <a:endParaRPr b="0" i="0" sz="1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000"/>
              <a:buFont typeface="Calibri"/>
              <a:buNone/>
            </a:pPr>
            <a:r>
              <a:t/>
            </a:r>
            <a:endParaRPr b="0" i="0" sz="1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D9E2EC"/>
              </a:buClr>
              <a:buSzPts val="1000"/>
              <a:buFont typeface="Courier New"/>
              <a:buNone/>
            </a:pPr>
            <a:r>
              <a:rPr b="0" i="0" lang="en-US" sz="1000" u="none" cap="none" strike="noStrike">
                <a:solidFill>
                  <a:srgbClr val="D9E2EC"/>
                </a:solidFill>
                <a:latin typeface="Courier New"/>
                <a:ea typeface="Courier New"/>
                <a:cs typeface="Courier New"/>
                <a:sym typeface="Courier New"/>
              </a:rPr>
              <a:t>goose › /run-tests</a:t>
            </a:r>
            <a:endParaRPr b="0" i="0" sz="1000" u="none" cap="none" strike="noStrike">
              <a:solidFill>
                <a:schemeClr val="dk1"/>
              </a:solidFill>
              <a:latin typeface="Calibri"/>
              <a:ea typeface="Calibri"/>
              <a:cs typeface="Calibri"/>
              <a:sym typeface="Calibri"/>
            </a:endParaRPr>
          </a:p>
        </p:txBody>
      </p:sp>
      <p:sp>
        <p:nvSpPr>
          <p:cNvPr id="280" name="Google Shape;280;p9"/>
          <p:cNvSpPr/>
          <p:nvPr/>
        </p:nvSpPr>
        <p:spPr>
          <a:xfrm>
            <a:off x="548640" y="6355080"/>
            <a:ext cx="11064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50"/>
              <a:buFont typeface="Calibri"/>
              <a:buNone/>
            </a:pPr>
            <a:r>
              <a:rPr b="0" i="0" lang="en-US" sz="950" u="none" cap="none" strike="noStrike">
                <a:solidFill>
                  <a:srgbClr val="6B7280"/>
                </a:solidFill>
                <a:latin typeface="Calibri"/>
                <a:ea typeface="Calibri"/>
                <a:cs typeface="Calibri"/>
                <a:sym typeface="Calibri"/>
              </a:rPr>
              <a:t>Reference: goose-docs.ai/docs/guides/recipes · goose-docs.ai/recipes</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5" name="Shape 285"/>
        <p:cNvGrpSpPr/>
        <p:nvPr/>
      </p:nvGrpSpPr>
      <p:grpSpPr>
        <a:xfrm>
          <a:off x="0" y="0"/>
          <a:ext cx="0" cy="0"/>
          <a:chOff x="0" y="0"/>
          <a:chExt cx="0" cy="0"/>
        </a:xfrm>
      </p:grpSpPr>
      <p:sp>
        <p:nvSpPr>
          <p:cNvPr id="286" name="Google Shape;286;p10"/>
          <p:cNvSpPr/>
          <p:nvPr/>
        </p:nvSpPr>
        <p:spPr>
          <a:xfrm>
            <a:off x="548640" y="384048"/>
            <a:ext cx="475488" cy="475488"/>
          </a:xfrm>
          <a:prstGeom prst="roundRect">
            <a:avLst>
              <a:gd fmla="val 19231" name="adj"/>
            </a:avLst>
          </a:prstGeom>
          <a:solidFill>
            <a:srgbClr val="E09B34"/>
          </a:solidFill>
          <a:ln cap="flat" cmpd="sng" w="12700">
            <a:solidFill>
              <a:srgbClr val="E09B3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0"/>
          <p:cNvSpPr/>
          <p:nvPr/>
        </p:nvSpPr>
        <p:spPr>
          <a:xfrm>
            <a:off x="548640" y="384048"/>
            <a:ext cx="475488"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1821"/>
              </a:buClr>
              <a:buSzPts val="2000"/>
              <a:buFont typeface="Calibri"/>
              <a:buNone/>
            </a:pPr>
            <a:r>
              <a:rPr b="1" i="0" lang="en-US" sz="2000" u="none" cap="none" strike="noStrike">
                <a:solidFill>
                  <a:srgbClr val="141821"/>
                </a:solidFill>
                <a:latin typeface="Calibri"/>
                <a:ea typeface="Calibri"/>
                <a:cs typeface="Calibri"/>
                <a:sym typeface="Calibri"/>
              </a:rPr>
              <a:t>9</a:t>
            </a:r>
            <a:endParaRPr b="0" i="0" sz="2000" u="none" cap="none" strike="noStrike">
              <a:solidFill>
                <a:schemeClr val="dk1"/>
              </a:solidFill>
              <a:latin typeface="Calibri"/>
              <a:ea typeface="Calibri"/>
              <a:cs typeface="Calibri"/>
              <a:sym typeface="Calibri"/>
            </a:endParaRPr>
          </a:p>
        </p:txBody>
      </p:sp>
      <p:sp>
        <p:nvSpPr>
          <p:cNvPr id="288" name="Google Shape;288;p10"/>
          <p:cNvSpPr/>
          <p:nvPr/>
        </p:nvSpPr>
        <p:spPr>
          <a:xfrm>
            <a:off x="1170432" y="347472"/>
            <a:ext cx="104241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821"/>
              </a:buClr>
              <a:buSzPts val="3000"/>
              <a:buFont typeface="Calibri"/>
              <a:buNone/>
            </a:pPr>
            <a:r>
              <a:rPr b="1" i="0" lang="en-US" sz="3000" u="none" cap="none" strike="noStrike">
                <a:solidFill>
                  <a:srgbClr val="141821"/>
                </a:solidFill>
                <a:latin typeface="Calibri"/>
                <a:ea typeface="Calibri"/>
                <a:cs typeface="Calibri"/>
                <a:sym typeface="Calibri"/>
              </a:rPr>
              <a:t>Feature — Managing Tools &amp; Permissions</a:t>
            </a:r>
            <a:endParaRPr b="0" i="0" sz="3000" u="none" cap="none" strike="noStrike">
              <a:solidFill>
                <a:schemeClr val="dk1"/>
              </a:solidFill>
              <a:latin typeface="Calibri"/>
              <a:ea typeface="Calibri"/>
              <a:cs typeface="Calibri"/>
              <a:sym typeface="Calibri"/>
            </a:endParaRPr>
          </a:p>
        </p:txBody>
      </p:sp>
      <p:sp>
        <p:nvSpPr>
          <p:cNvPr id="289" name="Google Shape;289;p10"/>
          <p:cNvSpPr/>
          <p:nvPr/>
        </p:nvSpPr>
        <p:spPr>
          <a:xfrm>
            <a:off x="1170432" y="914400"/>
            <a:ext cx="104241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300"/>
              <a:buFont typeface="Calibri"/>
              <a:buNone/>
            </a:pPr>
            <a:r>
              <a:rPr b="0" i="1" lang="en-US" sz="1300" u="none" cap="none" strike="noStrike">
                <a:solidFill>
                  <a:srgbClr val="6B7280"/>
                </a:solidFill>
                <a:latin typeface="Calibri"/>
                <a:ea typeface="Calibri"/>
                <a:cs typeface="Calibri"/>
                <a:sym typeface="Calibri"/>
              </a:rPr>
              <a:t>How much autonomy the agent gets, which tools it may reach for, and how much of it you have to watch</a:t>
            </a:r>
            <a:endParaRPr b="0" i="0" sz="1300" u="none" cap="none" strike="noStrike">
              <a:solidFill>
                <a:schemeClr val="dk1"/>
              </a:solidFill>
              <a:latin typeface="Calibri"/>
              <a:ea typeface="Calibri"/>
              <a:cs typeface="Calibri"/>
              <a:sym typeface="Calibri"/>
            </a:endParaRPr>
          </a:p>
        </p:txBody>
      </p:sp>
      <p:sp>
        <p:nvSpPr>
          <p:cNvPr id="290" name="Google Shape;290;p10"/>
          <p:cNvSpPr/>
          <p:nvPr/>
        </p:nvSpPr>
        <p:spPr>
          <a:xfrm>
            <a:off x="548640" y="1444752"/>
            <a:ext cx="1108252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9B34"/>
              </a:buClr>
              <a:buSzPts val="1300"/>
              <a:buFont typeface="Calibri"/>
              <a:buNone/>
            </a:pPr>
            <a:r>
              <a:rPr b="1" i="0" lang="en-US" sz="1300" u="none" cap="none" strike="noStrike">
                <a:solidFill>
                  <a:srgbClr val="E09B34"/>
                </a:solidFill>
                <a:latin typeface="Calibri"/>
                <a:ea typeface="Calibri"/>
                <a:cs typeface="Calibri"/>
                <a:sym typeface="Calibri"/>
              </a:rPr>
              <a:t>GOOSE_MODE  —  four levels of autonomy</a:t>
            </a:r>
            <a:endParaRPr b="0" i="0" sz="1300" u="none" cap="none" strike="noStrike">
              <a:solidFill>
                <a:schemeClr val="dk1"/>
              </a:solidFill>
              <a:latin typeface="Calibri"/>
              <a:ea typeface="Calibri"/>
              <a:cs typeface="Calibri"/>
              <a:sym typeface="Calibri"/>
            </a:endParaRPr>
          </a:p>
        </p:txBody>
      </p:sp>
      <p:sp>
        <p:nvSpPr>
          <p:cNvPr id="291" name="Google Shape;291;p10"/>
          <p:cNvSpPr/>
          <p:nvPr/>
        </p:nvSpPr>
        <p:spPr>
          <a:xfrm>
            <a:off x="548640" y="1783080"/>
            <a:ext cx="2651760" cy="1481328"/>
          </a:xfrm>
          <a:prstGeom prst="roundRect">
            <a:avLst>
              <a:gd fmla="val 3704" name="adj"/>
            </a:avLst>
          </a:prstGeom>
          <a:solidFill>
            <a:srgbClr val="141821"/>
          </a:solidFill>
          <a:ln cap="flat" cmpd="sng" w="12700">
            <a:solidFill>
              <a:srgbClr val="1418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0"/>
          <p:cNvSpPr/>
          <p:nvPr/>
        </p:nvSpPr>
        <p:spPr>
          <a:xfrm>
            <a:off x="713232" y="1883664"/>
            <a:ext cx="2322576"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9B34"/>
              </a:buClr>
              <a:buSzPts val="1300"/>
              <a:buFont typeface="Courier New"/>
              <a:buNone/>
            </a:pPr>
            <a:r>
              <a:rPr b="1" i="0" lang="en-US" sz="1300" u="none" cap="none" strike="noStrike">
                <a:solidFill>
                  <a:srgbClr val="E09B34"/>
                </a:solidFill>
                <a:latin typeface="Courier New"/>
                <a:ea typeface="Courier New"/>
                <a:cs typeface="Courier New"/>
                <a:sym typeface="Courier New"/>
              </a:rPr>
              <a:t>auto</a:t>
            </a:r>
            <a:endParaRPr b="0" i="0" sz="1300" u="none" cap="none" strike="noStrike">
              <a:solidFill>
                <a:schemeClr val="dk1"/>
              </a:solidFill>
              <a:latin typeface="Calibri"/>
              <a:ea typeface="Calibri"/>
              <a:cs typeface="Calibri"/>
              <a:sym typeface="Calibri"/>
            </a:endParaRPr>
          </a:p>
        </p:txBody>
      </p:sp>
      <p:sp>
        <p:nvSpPr>
          <p:cNvPr id="293" name="Google Shape;293;p10"/>
          <p:cNvSpPr/>
          <p:nvPr/>
        </p:nvSpPr>
        <p:spPr>
          <a:xfrm>
            <a:off x="713232" y="2212848"/>
            <a:ext cx="2322576" cy="9601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B8C1D0"/>
              </a:buClr>
              <a:buSzPts val="1000"/>
              <a:buFont typeface="Calibri"/>
              <a:buNone/>
            </a:pPr>
            <a:r>
              <a:rPr b="0" i="0" lang="en-US" sz="1000" u="none" cap="none" strike="noStrike">
                <a:solidFill>
                  <a:srgbClr val="B8C1D0"/>
                </a:solidFill>
                <a:latin typeface="Calibri"/>
                <a:ea typeface="Calibri"/>
                <a:cs typeface="Calibri"/>
                <a:sym typeface="Calibri"/>
              </a:rPr>
              <a:t>Full autonomy. goose runs tools without asking. Fast, and appropriate only in a sandbox or a throwaway branch.</a:t>
            </a:r>
            <a:endParaRPr b="0" i="0" sz="1000" u="none" cap="none" strike="noStrike">
              <a:solidFill>
                <a:schemeClr val="dk1"/>
              </a:solidFill>
              <a:latin typeface="Calibri"/>
              <a:ea typeface="Calibri"/>
              <a:cs typeface="Calibri"/>
              <a:sym typeface="Calibri"/>
            </a:endParaRPr>
          </a:p>
        </p:txBody>
      </p:sp>
      <p:sp>
        <p:nvSpPr>
          <p:cNvPr id="294" name="Google Shape;294;p10"/>
          <p:cNvSpPr/>
          <p:nvPr/>
        </p:nvSpPr>
        <p:spPr>
          <a:xfrm>
            <a:off x="3346704" y="1783080"/>
            <a:ext cx="2651760" cy="1481328"/>
          </a:xfrm>
          <a:prstGeom prst="roundRect">
            <a:avLst>
              <a:gd fmla="val 3704" name="adj"/>
            </a:avLst>
          </a:prstGeom>
          <a:solidFill>
            <a:srgbClr val="F4F6F8"/>
          </a:solidFill>
          <a:ln cap="flat" cmpd="sng" w="12700">
            <a:solidFill>
              <a:srgbClr val="F4F6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0"/>
          <p:cNvSpPr/>
          <p:nvPr/>
        </p:nvSpPr>
        <p:spPr>
          <a:xfrm>
            <a:off x="3511296" y="1883664"/>
            <a:ext cx="2322576"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7A8C"/>
              </a:buClr>
              <a:buSzPts val="1300"/>
              <a:buFont typeface="Courier New"/>
              <a:buNone/>
            </a:pPr>
            <a:r>
              <a:rPr b="1" i="0" lang="en-US" sz="1300" u="none" cap="none" strike="noStrike">
                <a:solidFill>
                  <a:srgbClr val="1F7A8C"/>
                </a:solidFill>
                <a:latin typeface="Courier New"/>
                <a:ea typeface="Courier New"/>
                <a:cs typeface="Courier New"/>
                <a:sym typeface="Courier New"/>
              </a:rPr>
              <a:t>smart_approve</a:t>
            </a:r>
            <a:endParaRPr b="0" i="0" sz="1300" u="none" cap="none" strike="noStrike">
              <a:solidFill>
                <a:schemeClr val="dk1"/>
              </a:solidFill>
              <a:latin typeface="Calibri"/>
              <a:ea typeface="Calibri"/>
              <a:cs typeface="Calibri"/>
              <a:sym typeface="Calibri"/>
            </a:endParaRPr>
          </a:p>
        </p:txBody>
      </p:sp>
      <p:sp>
        <p:nvSpPr>
          <p:cNvPr id="296" name="Google Shape;296;p10"/>
          <p:cNvSpPr/>
          <p:nvPr/>
        </p:nvSpPr>
        <p:spPr>
          <a:xfrm>
            <a:off x="3511296" y="2212848"/>
            <a:ext cx="2322576" cy="9601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3D4553"/>
              </a:buClr>
              <a:buSzPts val="1000"/>
              <a:buFont typeface="Calibri"/>
              <a:buNone/>
            </a:pPr>
            <a:r>
              <a:rPr b="0" i="0" lang="en-US" sz="1000" u="none" cap="none" strike="noStrike">
                <a:solidFill>
                  <a:srgbClr val="3D4553"/>
                </a:solidFill>
                <a:latin typeface="Calibri"/>
                <a:ea typeface="Calibri"/>
                <a:cs typeface="Calibri"/>
                <a:sym typeface="Calibri"/>
              </a:rPr>
              <a:t>goose judges risk and prompts only for consequential actions. The sensible everyday default.</a:t>
            </a:r>
            <a:endParaRPr b="0" i="0" sz="1000" u="none" cap="none" strike="noStrike">
              <a:solidFill>
                <a:schemeClr val="dk1"/>
              </a:solidFill>
              <a:latin typeface="Calibri"/>
              <a:ea typeface="Calibri"/>
              <a:cs typeface="Calibri"/>
              <a:sym typeface="Calibri"/>
            </a:endParaRPr>
          </a:p>
        </p:txBody>
      </p:sp>
      <p:sp>
        <p:nvSpPr>
          <p:cNvPr id="297" name="Google Shape;297;p10"/>
          <p:cNvSpPr/>
          <p:nvPr/>
        </p:nvSpPr>
        <p:spPr>
          <a:xfrm>
            <a:off x="6144768" y="1783080"/>
            <a:ext cx="2651760" cy="1481328"/>
          </a:xfrm>
          <a:prstGeom prst="roundRect">
            <a:avLst>
              <a:gd fmla="val 3704" name="adj"/>
            </a:avLst>
          </a:prstGeom>
          <a:solidFill>
            <a:srgbClr val="F4F6F8"/>
          </a:solidFill>
          <a:ln cap="flat" cmpd="sng" w="12700">
            <a:solidFill>
              <a:srgbClr val="F4F6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0"/>
          <p:cNvSpPr/>
          <p:nvPr/>
        </p:nvSpPr>
        <p:spPr>
          <a:xfrm>
            <a:off x="6309360" y="1883664"/>
            <a:ext cx="2322576"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7A8C"/>
              </a:buClr>
              <a:buSzPts val="1300"/>
              <a:buFont typeface="Courier New"/>
              <a:buNone/>
            </a:pPr>
            <a:r>
              <a:rPr b="1" i="0" lang="en-US" sz="1300" u="none" cap="none" strike="noStrike">
                <a:solidFill>
                  <a:srgbClr val="1F7A8C"/>
                </a:solidFill>
                <a:latin typeface="Courier New"/>
                <a:ea typeface="Courier New"/>
                <a:cs typeface="Courier New"/>
                <a:sym typeface="Courier New"/>
              </a:rPr>
              <a:t>approve</a:t>
            </a:r>
            <a:endParaRPr b="0" i="0" sz="1300" u="none" cap="none" strike="noStrike">
              <a:solidFill>
                <a:schemeClr val="dk1"/>
              </a:solidFill>
              <a:latin typeface="Calibri"/>
              <a:ea typeface="Calibri"/>
              <a:cs typeface="Calibri"/>
              <a:sym typeface="Calibri"/>
            </a:endParaRPr>
          </a:p>
        </p:txBody>
      </p:sp>
      <p:sp>
        <p:nvSpPr>
          <p:cNvPr id="299" name="Google Shape;299;p10"/>
          <p:cNvSpPr/>
          <p:nvPr/>
        </p:nvSpPr>
        <p:spPr>
          <a:xfrm>
            <a:off x="6309360" y="2212848"/>
            <a:ext cx="2322576" cy="9601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3D4553"/>
              </a:buClr>
              <a:buSzPts val="1000"/>
              <a:buFont typeface="Calibri"/>
              <a:buNone/>
            </a:pPr>
            <a:r>
              <a:rPr b="0" i="0" lang="en-US" sz="1000" u="none" cap="none" strike="noStrike">
                <a:solidFill>
                  <a:srgbClr val="3D4553"/>
                </a:solidFill>
                <a:latin typeface="Calibri"/>
                <a:ea typeface="Calibri"/>
                <a:cs typeface="Calibri"/>
                <a:sym typeface="Calibri"/>
              </a:rPr>
              <a:t>Every tool call waits for your explicit yes. Slow, but right when the blast radius is production.</a:t>
            </a:r>
            <a:endParaRPr b="0" i="0" sz="1000" u="none" cap="none" strike="noStrike">
              <a:solidFill>
                <a:schemeClr val="dk1"/>
              </a:solidFill>
              <a:latin typeface="Calibri"/>
              <a:ea typeface="Calibri"/>
              <a:cs typeface="Calibri"/>
              <a:sym typeface="Calibri"/>
            </a:endParaRPr>
          </a:p>
        </p:txBody>
      </p:sp>
      <p:sp>
        <p:nvSpPr>
          <p:cNvPr id="300" name="Google Shape;300;p10"/>
          <p:cNvSpPr/>
          <p:nvPr/>
        </p:nvSpPr>
        <p:spPr>
          <a:xfrm>
            <a:off x="8942832" y="1783080"/>
            <a:ext cx="2651760" cy="1481328"/>
          </a:xfrm>
          <a:prstGeom prst="roundRect">
            <a:avLst>
              <a:gd fmla="val 3704" name="adj"/>
            </a:avLst>
          </a:prstGeom>
          <a:solidFill>
            <a:srgbClr val="F4F6F8"/>
          </a:solidFill>
          <a:ln cap="flat" cmpd="sng" w="12700">
            <a:solidFill>
              <a:srgbClr val="F4F6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0"/>
          <p:cNvSpPr/>
          <p:nvPr/>
        </p:nvSpPr>
        <p:spPr>
          <a:xfrm>
            <a:off x="9107424" y="1883664"/>
            <a:ext cx="2322576"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7A8C"/>
              </a:buClr>
              <a:buSzPts val="1300"/>
              <a:buFont typeface="Courier New"/>
              <a:buNone/>
            </a:pPr>
            <a:r>
              <a:rPr b="1" i="0" lang="en-US" sz="1300" u="none" cap="none" strike="noStrike">
                <a:solidFill>
                  <a:srgbClr val="1F7A8C"/>
                </a:solidFill>
                <a:latin typeface="Courier New"/>
                <a:ea typeface="Courier New"/>
                <a:cs typeface="Courier New"/>
                <a:sym typeface="Courier New"/>
              </a:rPr>
              <a:t>chat</a:t>
            </a:r>
            <a:endParaRPr b="0" i="0" sz="1300" u="none" cap="none" strike="noStrike">
              <a:solidFill>
                <a:schemeClr val="dk1"/>
              </a:solidFill>
              <a:latin typeface="Calibri"/>
              <a:ea typeface="Calibri"/>
              <a:cs typeface="Calibri"/>
              <a:sym typeface="Calibri"/>
            </a:endParaRPr>
          </a:p>
        </p:txBody>
      </p:sp>
      <p:sp>
        <p:nvSpPr>
          <p:cNvPr id="302" name="Google Shape;302;p10"/>
          <p:cNvSpPr/>
          <p:nvPr/>
        </p:nvSpPr>
        <p:spPr>
          <a:xfrm>
            <a:off x="9107424" y="2212848"/>
            <a:ext cx="2322576" cy="9601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3D4553"/>
              </a:buClr>
              <a:buSzPts val="1000"/>
              <a:buFont typeface="Calibri"/>
              <a:buNone/>
            </a:pPr>
            <a:r>
              <a:rPr b="0" i="0" lang="en-US" sz="1000" u="none" cap="none" strike="noStrike">
                <a:solidFill>
                  <a:srgbClr val="3D4553"/>
                </a:solidFill>
                <a:latin typeface="Calibri"/>
                <a:ea typeface="Calibri"/>
                <a:cs typeface="Calibri"/>
                <a:sym typeface="Calibri"/>
              </a:rPr>
              <a:t>No tool execution at all. Conversation only — useful for design discussions and code review.</a:t>
            </a:r>
            <a:endParaRPr b="0" i="0" sz="1000" u="none" cap="none" strike="noStrike">
              <a:solidFill>
                <a:schemeClr val="dk1"/>
              </a:solidFill>
              <a:latin typeface="Calibri"/>
              <a:ea typeface="Calibri"/>
              <a:cs typeface="Calibri"/>
              <a:sym typeface="Calibri"/>
            </a:endParaRPr>
          </a:p>
        </p:txBody>
      </p:sp>
      <p:sp>
        <p:nvSpPr>
          <p:cNvPr id="303" name="Google Shape;303;p10"/>
          <p:cNvSpPr/>
          <p:nvPr/>
        </p:nvSpPr>
        <p:spPr>
          <a:xfrm>
            <a:off x="548640" y="3493008"/>
            <a:ext cx="3602736" cy="1170432"/>
          </a:xfrm>
          <a:prstGeom prst="roundRect">
            <a:avLst>
              <a:gd fmla="val 3906" name="adj"/>
            </a:avLst>
          </a:prstGeom>
          <a:solidFill>
            <a:srgbClr val="EDF1F4"/>
          </a:solidFill>
          <a:ln cap="flat" cmpd="sng" w="12700">
            <a:solidFill>
              <a:srgbClr val="EDF1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0"/>
          <p:cNvSpPr/>
          <p:nvPr/>
        </p:nvSpPr>
        <p:spPr>
          <a:xfrm>
            <a:off x="694944" y="3584448"/>
            <a:ext cx="3310128" cy="987552"/>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41821"/>
              </a:buClr>
              <a:buSzPts val="1250"/>
              <a:buFont typeface="Calibri"/>
              <a:buNone/>
            </a:pPr>
            <a:r>
              <a:rPr b="1" i="0" lang="en-US" sz="1250" u="none" cap="none" strike="noStrike">
                <a:solidFill>
                  <a:srgbClr val="141821"/>
                </a:solidFill>
                <a:latin typeface="Calibri"/>
                <a:ea typeface="Calibri"/>
                <a:cs typeface="Calibri"/>
                <a:sym typeface="Calibri"/>
              </a:rPr>
              <a:t>Tool Permissions</a:t>
            </a:r>
            <a:endParaRPr b="0" i="0" sz="12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4A5262"/>
              </a:buClr>
              <a:buSzPts val="1000"/>
              <a:buFont typeface="Calibri"/>
              <a:buNone/>
            </a:pPr>
            <a:r>
              <a:rPr b="0" i="0" lang="en-US" sz="1000" u="none" cap="none" strike="noStrike">
                <a:solidFill>
                  <a:srgbClr val="4A5262"/>
                </a:solidFill>
                <a:latin typeface="Calibri"/>
                <a:ea typeface="Calibri"/>
                <a:cs typeface="Calibri"/>
                <a:sym typeface="Calibri"/>
              </a:rPr>
              <a:t>Fine-grained, per-tool control layered under the global mode, persisted in permission.yaml.</a:t>
            </a:r>
            <a:endParaRPr b="0" i="0" sz="1250" u="none" cap="none" strike="noStrike">
              <a:solidFill>
                <a:schemeClr val="dk1"/>
              </a:solidFill>
              <a:latin typeface="Calibri"/>
              <a:ea typeface="Calibri"/>
              <a:cs typeface="Calibri"/>
              <a:sym typeface="Calibri"/>
            </a:endParaRPr>
          </a:p>
        </p:txBody>
      </p:sp>
      <p:sp>
        <p:nvSpPr>
          <p:cNvPr id="305" name="Google Shape;305;p10"/>
          <p:cNvSpPr/>
          <p:nvPr/>
        </p:nvSpPr>
        <p:spPr>
          <a:xfrm>
            <a:off x="4288536" y="3493008"/>
            <a:ext cx="3602736" cy="1170432"/>
          </a:xfrm>
          <a:prstGeom prst="roundRect">
            <a:avLst>
              <a:gd fmla="val 3906" name="adj"/>
            </a:avLst>
          </a:prstGeom>
          <a:solidFill>
            <a:srgbClr val="F4F6F8"/>
          </a:solidFill>
          <a:ln cap="flat" cmpd="sng" w="12700">
            <a:solidFill>
              <a:srgbClr val="F4F6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0"/>
          <p:cNvSpPr/>
          <p:nvPr/>
        </p:nvSpPr>
        <p:spPr>
          <a:xfrm>
            <a:off x="4434840" y="3584448"/>
            <a:ext cx="3310128" cy="987552"/>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41821"/>
              </a:buClr>
              <a:buSzPts val="1250"/>
              <a:buFont typeface="Calibri"/>
              <a:buNone/>
            </a:pPr>
            <a:r>
              <a:rPr b="1" i="0" lang="en-US" sz="1250" u="none" cap="none" strike="noStrike">
                <a:solidFill>
                  <a:srgbClr val="141821"/>
                </a:solidFill>
                <a:latin typeface="Calibri"/>
                <a:ea typeface="Calibri"/>
                <a:cs typeface="Calibri"/>
                <a:sym typeface="Calibri"/>
              </a:rPr>
              <a:t>Code Mode</a:t>
            </a:r>
            <a:endParaRPr b="0" i="0" sz="12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4A5262"/>
              </a:buClr>
              <a:buSzPts val="1000"/>
              <a:buFont typeface="Calibri"/>
              <a:buNone/>
            </a:pPr>
            <a:r>
              <a:rPr b="0" i="0" lang="en-US" sz="1000" u="none" cap="none" strike="noStrike">
                <a:solidFill>
                  <a:srgbClr val="4A5262"/>
                </a:solidFill>
                <a:latin typeface="Calibri"/>
                <a:ea typeface="Calibri"/>
                <a:cs typeface="Calibri"/>
                <a:sym typeface="Calibri"/>
              </a:rPr>
              <a:t>Instead of pre-loading every tool schema, goose discovers and calls MCP tools programmatically, on demand.</a:t>
            </a:r>
            <a:endParaRPr b="0" i="0" sz="1250" u="none" cap="none" strike="noStrike">
              <a:solidFill>
                <a:schemeClr val="dk1"/>
              </a:solidFill>
              <a:latin typeface="Calibri"/>
              <a:ea typeface="Calibri"/>
              <a:cs typeface="Calibri"/>
              <a:sym typeface="Calibri"/>
            </a:endParaRPr>
          </a:p>
        </p:txBody>
      </p:sp>
      <p:sp>
        <p:nvSpPr>
          <p:cNvPr id="307" name="Google Shape;307;p10"/>
          <p:cNvSpPr/>
          <p:nvPr/>
        </p:nvSpPr>
        <p:spPr>
          <a:xfrm>
            <a:off x="8028432" y="3493008"/>
            <a:ext cx="3602736" cy="1170432"/>
          </a:xfrm>
          <a:prstGeom prst="roundRect">
            <a:avLst>
              <a:gd fmla="val 3906" name="adj"/>
            </a:avLst>
          </a:prstGeom>
          <a:solidFill>
            <a:srgbClr val="EDF1F4"/>
          </a:solidFill>
          <a:ln cap="flat" cmpd="sng" w="12700">
            <a:solidFill>
              <a:srgbClr val="EDF1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0"/>
          <p:cNvSpPr/>
          <p:nvPr/>
        </p:nvSpPr>
        <p:spPr>
          <a:xfrm>
            <a:off x="8174736" y="3584448"/>
            <a:ext cx="3310128" cy="987552"/>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41821"/>
              </a:buClr>
              <a:buSzPts val="1250"/>
              <a:buFont typeface="Calibri"/>
              <a:buNone/>
            </a:pPr>
            <a:r>
              <a:rPr b="1" i="0" lang="en-US" sz="1250" u="none" cap="none" strike="noStrike">
                <a:solidFill>
                  <a:srgbClr val="141821"/>
                </a:solidFill>
                <a:latin typeface="Calibri"/>
                <a:ea typeface="Calibri"/>
                <a:cs typeface="Calibri"/>
                <a:sym typeface="Calibri"/>
              </a:rPr>
              <a:t>Adjust Tool Output</a:t>
            </a:r>
            <a:endParaRPr b="0" i="0" sz="12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4A5262"/>
              </a:buClr>
              <a:buSzPts val="1000"/>
              <a:buFont typeface="Calibri"/>
              <a:buNone/>
            </a:pPr>
            <a:r>
              <a:rPr b="0" i="0" lang="en-US" sz="1000" u="none" cap="none" strike="noStrike">
                <a:solidFill>
                  <a:srgbClr val="4A5262"/>
                </a:solidFill>
                <a:latin typeface="Calibri"/>
                <a:ea typeface="Calibri"/>
                <a:cs typeface="Calibri"/>
                <a:sym typeface="Calibri"/>
              </a:rPr>
              <a:t>Dial verbosity from full transcripts to clean summaries with GOOSE_CLI_MIN_PRIORITY.</a:t>
            </a:r>
            <a:endParaRPr b="0" i="0" sz="1250" u="none" cap="none" strike="noStrike">
              <a:solidFill>
                <a:schemeClr val="dk1"/>
              </a:solidFill>
              <a:latin typeface="Calibri"/>
              <a:ea typeface="Calibri"/>
              <a:cs typeface="Calibri"/>
              <a:sym typeface="Calibri"/>
            </a:endParaRPr>
          </a:p>
        </p:txBody>
      </p:sp>
      <p:sp>
        <p:nvSpPr>
          <p:cNvPr id="309" name="Google Shape;309;p10"/>
          <p:cNvSpPr/>
          <p:nvPr/>
        </p:nvSpPr>
        <p:spPr>
          <a:xfrm>
            <a:off x="548640" y="4809744"/>
            <a:ext cx="3602736" cy="1170432"/>
          </a:xfrm>
          <a:prstGeom prst="roundRect">
            <a:avLst>
              <a:gd fmla="val 3906" name="adj"/>
            </a:avLst>
          </a:prstGeom>
          <a:solidFill>
            <a:srgbClr val="F4F6F8"/>
          </a:solidFill>
          <a:ln cap="flat" cmpd="sng" w="12700">
            <a:solidFill>
              <a:srgbClr val="F4F6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0"/>
          <p:cNvSpPr/>
          <p:nvPr/>
        </p:nvSpPr>
        <p:spPr>
          <a:xfrm>
            <a:off x="694944" y="4901184"/>
            <a:ext cx="3310128" cy="987552"/>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41821"/>
              </a:buClr>
              <a:buSzPts val="1250"/>
              <a:buFont typeface="Calibri"/>
              <a:buNone/>
            </a:pPr>
            <a:r>
              <a:rPr b="1" i="0" lang="en-US" sz="1250" u="none" cap="none" strike="noStrike">
                <a:solidFill>
                  <a:srgbClr val="141821"/>
                </a:solidFill>
                <a:latin typeface="Calibri"/>
                <a:ea typeface="Calibri"/>
                <a:cs typeface="Calibri"/>
                <a:sym typeface="Calibri"/>
              </a:rPr>
              <a:t>Tool Filtering</a:t>
            </a:r>
            <a:endParaRPr b="0" i="0" sz="12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4A5262"/>
              </a:buClr>
              <a:buSzPts val="1000"/>
              <a:buFont typeface="Calibri"/>
              <a:buNone/>
            </a:pPr>
            <a:r>
              <a:rPr b="0" i="0" lang="en-US" sz="1000" u="none" cap="none" strike="noStrike">
                <a:solidFill>
                  <a:srgbClr val="4A5262"/>
                </a:solidFill>
                <a:latin typeface="Calibri"/>
                <a:ea typeface="Calibri"/>
                <a:cs typeface="Calibri"/>
                <a:sym typeface="Calibri"/>
              </a:rPr>
              <a:t>available_tools in config.yaml loads only the tools you need — fewer schemas, fewer tokens.</a:t>
            </a:r>
            <a:endParaRPr b="0" i="0" sz="1250" u="none" cap="none" strike="noStrike">
              <a:solidFill>
                <a:schemeClr val="dk1"/>
              </a:solidFill>
              <a:latin typeface="Calibri"/>
              <a:ea typeface="Calibri"/>
              <a:cs typeface="Calibri"/>
              <a:sym typeface="Calibri"/>
            </a:endParaRPr>
          </a:p>
        </p:txBody>
      </p:sp>
      <p:sp>
        <p:nvSpPr>
          <p:cNvPr id="311" name="Google Shape;311;p10"/>
          <p:cNvSpPr/>
          <p:nvPr/>
        </p:nvSpPr>
        <p:spPr>
          <a:xfrm>
            <a:off x="4288536" y="4809744"/>
            <a:ext cx="3602736" cy="1170432"/>
          </a:xfrm>
          <a:prstGeom prst="roundRect">
            <a:avLst>
              <a:gd fmla="val 3906" name="adj"/>
            </a:avLst>
          </a:prstGeom>
          <a:solidFill>
            <a:srgbClr val="EDF1F4"/>
          </a:solidFill>
          <a:ln cap="flat" cmpd="sng" w="12700">
            <a:solidFill>
              <a:srgbClr val="EDF1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0"/>
          <p:cNvSpPr/>
          <p:nvPr/>
        </p:nvSpPr>
        <p:spPr>
          <a:xfrm>
            <a:off x="4434840" y="4901184"/>
            <a:ext cx="3310128" cy="987552"/>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41821"/>
              </a:buClr>
              <a:buSzPts val="1250"/>
              <a:buFont typeface="Calibri"/>
              <a:buNone/>
            </a:pPr>
            <a:r>
              <a:rPr b="1" i="0" lang="en-US" sz="1250" u="none" cap="none" strike="noStrike">
                <a:solidFill>
                  <a:srgbClr val="141821"/>
                </a:solidFill>
                <a:latin typeface="Calibri"/>
                <a:ea typeface="Calibri"/>
                <a:cs typeface="Calibri"/>
                <a:sym typeface="Calibri"/>
              </a:rPr>
              <a:t>Ollama Tool Shim</a:t>
            </a:r>
            <a:endParaRPr b="0" i="0" sz="12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4A5262"/>
              </a:buClr>
              <a:buSzPts val="1000"/>
              <a:buFont typeface="Calibri"/>
              <a:buNone/>
            </a:pPr>
            <a:r>
              <a:rPr b="0" i="0" lang="en-US" sz="1000" u="none" cap="none" strike="noStrike">
                <a:solidFill>
                  <a:srgbClr val="4A5262"/>
                </a:solidFill>
                <a:latin typeface="Calibri"/>
                <a:ea typeface="Calibri"/>
                <a:cs typeface="Calibri"/>
                <a:sym typeface="Calibri"/>
              </a:rPr>
              <a:t>Experimental interpreter layer that adds tool calling to local models that lack native support.</a:t>
            </a:r>
            <a:endParaRPr b="0" i="0" sz="1250" u="none" cap="none" strike="noStrike">
              <a:solidFill>
                <a:schemeClr val="dk1"/>
              </a:solidFill>
              <a:latin typeface="Calibri"/>
              <a:ea typeface="Calibri"/>
              <a:cs typeface="Calibri"/>
              <a:sym typeface="Calibri"/>
            </a:endParaRPr>
          </a:p>
        </p:txBody>
      </p:sp>
      <p:sp>
        <p:nvSpPr>
          <p:cNvPr id="313" name="Google Shape;313;p10"/>
          <p:cNvSpPr/>
          <p:nvPr/>
        </p:nvSpPr>
        <p:spPr>
          <a:xfrm>
            <a:off x="8028432" y="4809744"/>
            <a:ext cx="3602736" cy="1170432"/>
          </a:xfrm>
          <a:prstGeom prst="roundRect">
            <a:avLst>
              <a:gd fmla="val 3906" name="adj"/>
            </a:avLst>
          </a:prstGeom>
          <a:solidFill>
            <a:srgbClr val="F4F6F8"/>
          </a:solidFill>
          <a:ln cap="flat" cmpd="sng" w="12700">
            <a:solidFill>
              <a:srgbClr val="F4F6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0"/>
          <p:cNvSpPr/>
          <p:nvPr/>
        </p:nvSpPr>
        <p:spPr>
          <a:xfrm>
            <a:off x="8174736" y="4901184"/>
            <a:ext cx="3310128" cy="987552"/>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41821"/>
              </a:buClr>
              <a:buSzPts val="1250"/>
              <a:buFont typeface="Calibri"/>
              <a:buNone/>
            </a:pPr>
            <a:r>
              <a:rPr b="1" i="0" lang="en-US" sz="1250" u="none" cap="none" strike="noStrike">
                <a:solidFill>
                  <a:srgbClr val="141821"/>
                </a:solidFill>
                <a:latin typeface="Calibri"/>
                <a:ea typeface="Calibri"/>
                <a:cs typeface="Calibri"/>
                <a:sym typeface="Calibri"/>
              </a:rPr>
              <a:t>Extension Allowlist</a:t>
            </a:r>
            <a:endParaRPr b="0" i="0" sz="12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4A5262"/>
              </a:buClr>
              <a:buSzPts val="1000"/>
              <a:buFont typeface="Calibri"/>
              <a:buNone/>
            </a:pPr>
            <a:r>
              <a:rPr b="0" i="0" lang="en-US" sz="1000" u="none" cap="none" strike="noStrike">
                <a:solidFill>
                  <a:srgbClr val="4A5262"/>
                </a:solidFill>
                <a:latin typeface="Calibri"/>
                <a:ea typeface="Calibri"/>
                <a:cs typeface="Calibri"/>
                <a:sym typeface="Calibri"/>
              </a:rPr>
              <a:t>GOOSE_ALLOWLIST restricts which MCP servers can be installed — essential in corporate estates.</a:t>
            </a:r>
            <a:endParaRPr b="0" i="0" sz="1250" u="none" cap="none" strike="noStrike">
              <a:solidFill>
                <a:schemeClr val="dk1"/>
              </a:solidFill>
              <a:latin typeface="Calibri"/>
              <a:ea typeface="Calibri"/>
              <a:cs typeface="Calibri"/>
              <a:sym typeface="Calibri"/>
            </a:endParaRPr>
          </a:p>
        </p:txBody>
      </p:sp>
      <p:sp>
        <p:nvSpPr>
          <p:cNvPr id="315" name="Google Shape;315;p10"/>
          <p:cNvSpPr/>
          <p:nvPr/>
        </p:nvSpPr>
        <p:spPr>
          <a:xfrm>
            <a:off x="548640" y="6355080"/>
            <a:ext cx="11064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50"/>
              <a:buFont typeface="Calibri"/>
              <a:buNone/>
            </a:pPr>
            <a:r>
              <a:rPr b="0" i="0" lang="en-US" sz="950" u="none" cap="none" strike="noStrike">
                <a:solidFill>
                  <a:srgbClr val="6B7280"/>
                </a:solidFill>
                <a:latin typeface="Calibri"/>
                <a:ea typeface="Calibri"/>
                <a:cs typeface="Calibri"/>
                <a:sym typeface="Calibri"/>
              </a:rPr>
              <a:t>Reference: goose-docs.ai/docs/guides/managing-tools</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0" name="Shape 320"/>
        <p:cNvGrpSpPr/>
        <p:nvPr/>
      </p:nvGrpSpPr>
      <p:grpSpPr>
        <a:xfrm>
          <a:off x="0" y="0"/>
          <a:ext cx="0" cy="0"/>
          <a:chOff x="0" y="0"/>
          <a:chExt cx="0" cy="0"/>
        </a:xfrm>
      </p:grpSpPr>
      <p:sp>
        <p:nvSpPr>
          <p:cNvPr id="321" name="Google Shape;321;p11"/>
          <p:cNvSpPr/>
          <p:nvPr/>
        </p:nvSpPr>
        <p:spPr>
          <a:xfrm>
            <a:off x="548640" y="384048"/>
            <a:ext cx="475488" cy="475488"/>
          </a:xfrm>
          <a:prstGeom prst="roundRect">
            <a:avLst>
              <a:gd fmla="val 19231" name="adj"/>
            </a:avLst>
          </a:prstGeom>
          <a:solidFill>
            <a:srgbClr val="E09B34"/>
          </a:solidFill>
          <a:ln cap="flat" cmpd="sng" w="12700">
            <a:solidFill>
              <a:srgbClr val="E09B3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1"/>
          <p:cNvSpPr/>
          <p:nvPr/>
        </p:nvSpPr>
        <p:spPr>
          <a:xfrm>
            <a:off x="548640" y="384048"/>
            <a:ext cx="475488"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1821"/>
              </a:buClr>
              <a:buSzPts val="2000"/>
              <a:buFont typeface="Calibri"/>
              <a:buNone/>
            </a:pPr>
            <a:r>
              <a:rPr b="1" i="0" lang="en-US" sz="2000" u="none" cap="none" strike="noStrike">
                <a:solidFill>
                  <a:srgbClr val="141821"/>
                </a:solidFill>
                <a:latin typeface="Calibri"/>
                <a:ea typeface="Calibri"/>
                <a:cs typeface="Calibri"/>
                <a:sym typeface="Calibri"/>
              </a:rPr>
              <a:t>10</a:t>
            </a:r>
            <a:endParaRPr b="0" i="0" sz="2000" u="none" cap="none" strike="noStrike">
              <a:solidFill>
                <a:schemeClr val="dk1"/>
              </a:solidFill>
              <a:latin typeface="Calibri"/>
              <a:ea typeface="Calibri"/>
              <a:cs typeface="Calibri"/>
              <a:sym typeface="Calibri"/>
            </a:endParaRPr>
          </a:p>
        </p:txBody>
      </p:sp>
      <p:sp>
        <p:nvSpPr>
          <p:cNvPr id="323" name="Google Shape;323;p11"/>
          <p:cNvSpPr/>
          <p:nvPr/>
        </p:nvSpPr>
        <p:spPr>
          <a:xfrm>
            <a:off x="1170432" y="347472"/>
            <a:ext cx="104241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821"/>
              </a:buClr>
              <a:buSzPts val="3000"/>
              <a:buFont typeface="Calibri"/>
              <a:buNone/>
            </a:pPr>
            <a:r>
              <a:rPr b="1" i="0" lang="en-US" sz="3000" u="none" cap="none" strike="noStrike">
                <a:solidFill>
                  <a:srgbClr val="141821"/>
                </a:solidFill>
                <a:latin typeface="Calibri"/>
                <a:ea typeface="Calibri"/>
                <a:cs typeface="Calibri"/>
                <a:sym typeface="Calibri"/>
              </a:rPr>
              <a:t>Feature — Security &amp; Safe Autonomy</a:t>
            </a:r>
            <a:endParaRPr b="0" i="0" sz="3000" u="none" cap="none" strike="noStrike">
              <a:solidFill>
                <a:schemeClr val="dk1"/>
              </a:solidFill>
              <a:latin typeface="Calibri"/>
              <a:ea typeface="Calibri"/>
              <a:cs typeface="Calibri"/>
              <a:sym typeface="Calibri"/>
            </a:endParaRPr>
          </a:p>
        </p:txBody>
      </p:sp>
      <p:sp>
        <p:nvSpPr>
          <p:cNvPr id="324" name="Google Shape;324;p11"/>
          <p:cNvSpPr/>
          <p:nvPr/>
        </p:nvSpPr>
        <p:spPr>
          <a:xfrm>
            <a:off x="1170432" y="914400"/>
            <a:ext cx="104241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300"/>
              <a:buFont typeface="Calibri"/>
              <a:buNone/>
            </a:pPr>
            <a:r>
              <a:rPr b="0" i="1" lang="en-US" sz="1300" u="none" cap="none" strike="noStrike">
                <a:solidFill>
                  <a:srgbClr val="6B7280"/>
                </a:solidFill>
                <a:latin typeface="Calibri"/>
                <a:ea typeface="Calibri"/>
                <a:cs typeface="Calibri"/>
                <a:sym typeface="Calibri"/>
              </a:rPr>
              <a:t>An agent with shell access is a supply-chain surface. goose ships controls for that.</a:t>
            </a:r>
            <a:endParaRPr b="0" i="0" sz="1300" u="none" cap="none" strike="noStrike">
              <a:solidFill>
                <a:schemeClr val="dk1"/>
              </a:solidFill>
              <a:latin typeface="Calibri"/>
              <a:ea typeface="Calibri"/>
              <a:cs typeface="Calibri"/>
              <a:sym typeface="Calibri"/>
            </a:endParaRPr>
          </a:p>
        </p:txBody>
      </p:sp>
      <p:sp>
        <p:nvSpPr>
          <p:cNvPr id="325" name="Google Shape;325;p11"/>
          <p:cNvSpPr/>
          <p:nvPr/>
        </p:nvSpPr>
        <p:spPr>
          <a:xfrm>
            <a:off x="548640" y="1463040"/>
            <a:ext cx="5504688" cy="2212848"/>
          </a:xfrm>
          <a:prstGeom prst="roundRect">
            <a:avLst>
              <a:gd fmla="val 2479" name="adj"/>
            </a:avLst>
          </a:prstGeom>
          <a:solidFill>
            <a:srgbClr val="141821"/>
          </a:solidFill>
          <a:ln cap="flat" cmpd="sng" w="12700">
            <a:solidFill>
              <a:srgbClr val="1418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1"/>
          <p:cNvSpPr/>
          <p:nvPr/>
        </p:nvSpPr>
        <p:spPr>
          <a:xfrm>
            <a:off x="749808" y="1627632"/>
            <a:ext cx="510235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9B34"/>
              </a:buClr>
              <a:buSzPts val="1600"/>
              <a:buFont typeface="Calibri"/>
              <a:buNone/>
            </a:pPr>
            <a:r>
              <a:rPr b="1" i="0" lang="en-US" sz="1600" u="none" cap="none" strike="noStrike">
                <a:solidFill>
                  <a:srgbClr val="E09B34"/>
                </a:solidFill>
                <a:latin typeface="Calibri"/>
                <a:ea typeface="Calibri"/>
                <a:cs typeface="Calibri"/>
                <a:sym typeface="Calibri"/>
              </a:rPr>
              <a:t>Adversary Mode</a:t>
            </a:r>
            <a:endParaRPr b="0" i="0" sz="1600" u="none" cap="none" strike="noStrike">
              <a:solidFill>
                <a:schemeClr val="dk1"/>
              </a:solidFill>
              <a:latin typeface="Calibri"/>
              <a:ea typeface="Calibri"/>
              <a:cs typeface="Calibri"/>
              <a:sym typeface="Calibri"/>
            </a:endParaRPr>
          </a:p>
        </p:txBody>
      </p:sp>
      <p:sp>
        <p:nvSpPr>
          <p:cNvPr id="327" name="Google Shape;327;p11"/>
          <p:cNvSpPr/>
          <p:nvPr/>
        </p:nvSpPr>
        <p:spPr>
          <a:xfrm>
            <a:off x="749808" y="1938528"/>
            <a:ext cx="5102352" cy="160934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B8C1D0"/>
              </a:buClr>
              <a:buSzPts val="1150"/>
              <a:buFont typeface="Calibri"/>
              <a:buNone/>
            </a:pPr>
            <a:r>
              <a:rPr b="0" i="0" lang="en-US" sz="1150" u="none" cap="none" strike="noStrike">
                <a:solidFill>
                  <a:srgbClr val="B8C1D0"/>
                </a:solidFill>
                <a:latin typeface="Calibri"/>
                <a:ea typeface="Calibri"/>
                <a:cs typeface="Calibri"/>
                <a:sym typeface="Calibri"/>
              </a:rPr>
              <a:t>An independent agent reviewer that silently watches tool calls as they happen, so there is a second opinion in the loop if the primary agent starts going somewhere it should not.</a:t>
            </a:r>
            <a:endParaRPr b="0" i="0" sz="11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chemeClr val="dk1"/>
              </a:buClr>
              <a:buSzPts val="1150"/>
              <a:buFont typeface="Calibri"/>
              <a:buNone/>
            </a:pPr>
            <a:r>
              <a:t/>
            </a:r>
            <a:endParaRPr b="0" i="0" sz="11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B8C1D0"/>
              </a:buClr>
              <a:buSzPts val="1150"/>
              <a:buFont typeface="Calibri"/>
              <a:buNone/>
            </a:pPr>
            <a:r>
              <a:rPr b="0" i="0" lang="en-US" sz="1150" u="none" cap="none" strike="noStrike">
                <a:solidFill>
                  <a:srgbClr val="B8C1D0"/>
                </a:solidFill>
                <a:latin typeface="Calibri"/>
                <a:ea typeface="Calibri"/>
                <a:cs typeface="Calibri"/>
                <a:sym typeface="Calibri"/>
              </a:rPr>
              <a:t>Think of it as a runtime guard rather than a policy file — it evaluates what is actually being executed, not what was declared up front.</a:t>
            </a:r>
            <a:endParaRPr b="0" i="0" sz="1150" u="none" cap="none" strike="noStrike">
              <a:solidFill>
                <a:schemeClr val="dk1"/>
              </a:solidFill>
              <a:latin typeface="Calibri"/>
              <a:ea typeface="Calibri"/>
              <a:cs typeface="Calibri"/>
              <a:sym typeface="Calibri"/>
            </a:endParaRPr>
          </a:p>
        </p:txBody>
      </p:sp>
      <p:sp>
        <p:nvSpPr>
          <p:cNvPr id="328" name="Google Shape;328;p11"/>
          <p:cNvSpPr/>
          <p:nvPr/>
        </p:nvSpPr>
        <p:spPr>
          <a:xfrm>
            <a:off x="6272784" y="1463040"/>
            <a:ext cx="5358384" cy="2212848"/>
          </a:xfrm>
          <a:prstGeom prst="roundRect">
            <a:avLst>
              <a:gd fmla="val 2479" name="adj"/>
            </a:avLst>
          </a:prstGeom>
          <a:solidFill>
            <a:srgbClr val="F4F6F8"/>
          </a:solidFill>
          <a:ln cap="flat" cmpd="sng" w="12700">
            <a:solidFill>
              <a:srgbClr val="F4F6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1"/>
          <p:cNvSpPr/>
          <p:nvPr/>
        </p:nvSpPr>
        <p:spPr>
          <a:xfrm>
            <a:off x="6473952" y="1627632"/>
            <a:ext cx="495604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821"/>
              </a:buClr>
              <a:buSzPts val="1600"/>
              <a:buFont typeface="Calibri"/>
              <a:buNone/>
            </a:pPr>
            <a:r>
              <a:rPr b="1" i="0" lang="en-US" sz="1600" u="none" cap="none" strike="noStrike">
                <a:solidFill>
                  <a:srgbClr val="141821"/>
                </a:solidFill>
                <a:latin typeface="Calibri"/>
                <a:ea typeface="Calibri"/>
                <a:cs typeface="Calibri"/>
                <a:sym typeface="Calibri"/>
              </a:rPr>
              <a:t>Prompt Injection Detection</a:t>
            </a:r>
            <a:endParaRPr b="0" i="0" sz="1600" u="none" cap="none" strike="noStrike">
              <a:solidFill>
                <a:schemeClr val="dk1"/>
              </a:solidFill>
              <a:latin typeface="Calibri"/>
              <a:ea typeface="Calibri"/>
              <a:cs typeface="Calibri"/>
              <a:sym typeface="Calibri"/>
            </a:endParaRPr>
          </a:p>
        </p:txBody>
      </p:sp>
      <p:sp>
        <p:nvSpPr>
          <p:cNvPr id="330" name="Google Shape;330;p11"/>
          <p:cNvSpPr/>
          <p:nvPr/>
        </p:nvSpPr>
        <p:spPr>
          <a:xfrm>
            <a:off x="6473952" y="1938528"/>
            <a:ext cx="4956048" cy="160934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3D4553"/>
              </a:buClr>
              <a:buSzPts val="1150"/>
              <a:buFont typeface="Calibri"/>
              <a:buNone/>
            </a:pPr>
            <a:r>
              <a:rPr b="0" i="0" lang="en-US" sz="1150" u="none" cap="none" strike="noStrike">
                <a:solidFill>
                  <a:srgbClr val="3D4553"/>
                </a:solidFill>
                <a:latin typeface="Calibri"/>
                <a:ea typeface="Calibri"/>
                <a:cs typeface="Calibri"/>
                <a:sym typeface="Calibri"/>
              </a:rPr>
              <a:t>Screens for harmful or hijacking instructions before they run — the file you read, the issue you fetched and the web page you scraped are all untrusted input.</a:t>
            </a:r>
            <a:endParaRPr b="0" i="0" sz="11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chemeClr val="dk1"/>
              </a:buClr>
              <a:buSzPts val="1150"/>
              <a:buFont typeface="Calibri"/>
              <a:buNone/>
            </a:pPr>
            <a:r>
              <a:t/>
            </a:r>
            <a:endParaRPr b="0" i="0" sz="11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3D4553"/>
              </a:buClr>
              <a:buSzPts val="1150"/>
              <a:buFont typeface="Calibri"/>
              <a:buNone/>
            </a:pPr>
            <a:r>
              <a:rPr b="0" i="0" lang="en-US" sz="1150" u="none" cap="none" strike="noStrike">
                <a:solidFill>
                  <a:srgbClr val="3D4553"/>
                </a:solidFill>
                <a:latin typeface="Calibri"/>
                <a:ea typeface="Calibri"/>
                <a:cs typeface="Calibri"/>
                <a:sym typeface="Calibri"/>
              </a:rPr>
              <a:t>SECURITY_PROMPT_ENABLED turns it on; SECURITY_PROMPT_THRESHOLD (default 0.8) tunes strictness. An optional ML classifier endpoint can be self-hosted against a published API spec.</a:t>
            </a:r>
            <a:endParaRPr b="0" i="0" sz="1150" u="none" cap="none" strike="noStrike">
              <a:solidFill>
                <a:schemeClr val="dk1"/>
              </a:solidFill>
              <a:latin typeface="Calibri"/>
              <a:ea typeface="Calibri"/>
              <a:cs typeface="Calibri"/>
              <a:sym typeface="Calibri"/>
            </a:endParaRPr>
          </a:p>
        </p:txBody>
      </p:sp>
      <p:sp>
        <p:nvSpPr>
          <p:cNvPr id="331" name="Google Shape;331;p11"/>
          <p:cNvSpPr/>
          <p:nvPr/>
        </p:nvSpPr>
        <p:spPr>
          <a:xfrm>
            <a:off x="548640" y="3840480"/>
            <a:ext cx="2651760" cy="1371600"/>
          </a:xfrm>
          <a:prstGeom prst="roundRect">
            <a:avLst>
              <a:gd fmla="val 3333" name="adj"/>
            </a:avLst>
          </a:prstGeom>
          <a:solidFill>
            <a:srgbClr val="EDF1F4"/>
          </a:solidFill>
          <a:ln cap="flat" cmpd="sng" w="12700">
            <a:solidFill>
              <a:srgbClr val="EDF1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1"/>
          <p:cNvSpPr/>
          <p:nvPr/>
        </p:nvSpPr>
        <p:spPr>
          <a:xfrm>
            <a:off x="694944" y="3931920"/>
            <a:ext cx="2359152" cy="11887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41821"/>
              </a:buClr>
              <a:buSzPts val="1200"/>
              <a:buFont typeface="Calibri"/>
              <a:buNone/>
            </a:pPr>
            <a:r>
              <a:rPr b="1" i="0" lang="en-US" sz="1200" u="none" cap="none" strike="noStrike">
                <a:solidFill>
                  <a:srgbClr val="141821"/>
                </a:solidFill>
                <a:latin typeface="Calibri"/>
                <a:ea typeface="Calibri"/>
                <a:cs typeface="Calibri"/>
                <a:sym typeface="Calibri"/>
              </a:rPr>
              <a:t>macOS Sandbox</a:t>
            </a:r>
            <a:endParaRPr b="0" i="0" sz="12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4A5262"/>
              </a:buClr>
              <a:buSzPts val="1000"/>
              <a:buFont typeface="Calibri"/>
              <a:buNone/>
            </a:pPr>
            <a:r>
              <a:rPr b="0" i="0" lang="en-US" sz="1000" u="none" cap="none" strike="noStrike">
                <a:solidFill>
                  <a:srgbClr val="4A5262"/>
                </a:solidFill>
                <a:latin typeface="Calibri"/>
                <a:ea typeface="Calibri"/>
                <a:cs typeface="Calibri"/>
                <a:sym typeface="Calibri"/>
              </a:rPr>
              <a:t>Apple sandbox controls over file access, network connections and process restrictions for goose Desktop.</a:t>
            </a:r>
            <a:endParaRPr b="0" i="0" sz="1200" u="none" cap="none" strike="noStrike">
              <a:solidFill>
                <a:schemeClr val="dk1"/>
              </a:solidFill>
              <a:latin typeface="Calibri"/>
              <a:ea typeface="Calibri"/>
              <a:cs typeface="Calibri"/>
              <a:sym typeface="Calibri"/>
            </a:endParaRPr>
          </a:p>
        </p:txBody>
      </p:sp>
      <p:sp>
        <p:nvSpPr>
          <p:cNvPr id="333" name="Google Shape;333;p11"/>
          <p:cNvSpPr/>
          <p:nvPr/>
        </p:nvSpPr>
        <p:spPr>
          <a:xfrm>
            <a:off x="3346704" y="3840480"/>
            <a:ext cx="2651760" cy="1371600"/>
          </a:xfrm>
          <a:prstGeom prst="roundRect">
            <a:avLst>
              <a:gd fmla="val 3333" name="adj"/>
            </a:avLst>
          </a:prstGeom>
          <a:solidFill>
            <a:srgbClr val="F4F6F8"/>
          </a:solidFill>
          <a:ln cap="flat" cmpd="sng" w="12700">
            <a:solidFill>
              <a:srgbClr val="F4F6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1"/>
          <p:cNvSpPr/>
          <p:nvPr/>
        </p:nvSpPr>
        <p:spPr>
          <a:xfrm>
            <a:off x="3493008" y="3931920"/>
            <a:ext cx="2359152" cy="11887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41821"/>
              </a:buClr>
              <a:buSzPts val="1200"/>
              <a:buFont typeface="Calibri"/>
              <a:buNone/>
            </a:pPr>
            <a:r>
              <a:rPr b="1" i="0" lang="en-US" sz="1200" u="none" cap="none" strike="noStrike">
                <a:solidFill>
                  <a:srgbClr val="141821"/>
                </a:solidFill>
                <a:latin typeface="Calibri"/>
                <a:ea typeface="Calibri"/>
                <a:cs typeface="Calibri"/>
                <a:sym typeface="Calibri"/>
              </a:rPr>
              <a:t>Extension Allowlist</a:t>
            </a:r>
            <a:endParaRPr b="0" i="0" sz="12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4A5262"/>
              </a:buClr>
              <a:buSzPts val="1000"/>
              <a:buFont typeface="Calibri"/>
              <a:buNone/>
            </a:pPr>
            <a:r>
              <a:rPr b="0" i="0" lang="en-US" sz="1000" u="none" cap="none" strike="noStrike">
                <a:solidFill>
                  <a:srgbClr val="4A5262"/>
                </a:solidFill>
                <a:latin typeface="Calibri"/>
                <a:ea typeface="Calibri"/>
                <a:cs typeface="Calibri"/>
                <a:sym typeface="Calibri"/>
              </a:rPr>
              <a:t>Point GOOSE_ALLOWLIST at a URL of approved MCP servers so only vetted extensions install.</a:t>
            </a:r>
            <a:endParaRPr b="0" i="0" sz="1200" u="none" cap="none" strike="noStrike">
              <a:solidFill>
                <a:schemeClr val="dk1"/>
              </a:solidFill>
              <a:latin typeface="Calibri"/>
              <a:ea typeface="Calibri"/>
              <a:cs typeface="Calibri"/>
              <a:sym typeface="Calibri"/>
            </a:endParaRPr>
          </a:p>
        </p:txBody>
      </p:sp>
      <p:sp>
        <p:nvSpPr>
          <p:cNvPr id="335" name="Google Shape;335;p11"/>
          <p:cNvSpPr/>
          <p:nvPr/>
        </p:nvSpPr>
        <p:spPr>
          <a:xfrm>
            <a:off x="6144768" y="3840480"/>
            <a:ext cx="2651760" cy="1371600"/>
          </a:xfrm>
          <a:prstGeom prst="roundRect">
            <a:avLst>
              <a:gd fmla="val 3333" name="adj"/>
            </a:avLst>
          </a:prstGeom>
          <a:solidFill>
            <a:srgbClr val="EDF1F4"/>
          </a:solidFill>
          <a:ln cap="flat" cmpd="sng" w="12700">
            <a:solidFill>
              <a:srgbClr val="EDF1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1"/>
          <p:cNvSpPr/>
          <p:nvPr/>
        </p:nvSpPr>
        <p:spPr>
          <a:xfrm>
            <a:off x="6291072" y="3931920"/>
            <a:ext cx="2359152" cy="11887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41821"/>
              </a:buClr>
              <a:buSzPts val="1200"/>
              <a:buFont typeface="Calibri"/>
              <a:buNone/>
            </a:pPr>
            <a:r>
              <a:rPr b="1" i="0" lang="en-US" sz="1200" u="none" cap="none" strike="noStrike">
                <a:solidFill>
                  <a:srgbClr val="141821"/>
                </a:solidFill>
                <a:latin typeface="Calibri"/>
                <a:ea typeface="Calibri"/>
                <a:cs typeface="Calibri"/>
                <a:sym typeface="Calibri"/>
              </a:rPr>
              <a:t>.gooseignore</a:t>
            </a:r>
            <a:endParaRPr b="0" i="0" sz="12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4A5262"/>
              </a:buClr>
              <a:buSzPts val="1000"/>
              <a:buFont typeface="Calibri"/>
              <a:buNone/>
            </a:pPr>
            <a:r>
              <a:rPr b="0" i="0" lang="en-US" sz="1000" u="none" cap="none" strike="noStrike">
                <a:solidFill>
                  <a:srgbClr val="4A5262"/>
                </a:solidFill>
                <a:latin typeface="Calibri"/>
                <a:ea typeface="Calibri"/>
                <a:cs typeface="Calibri"/>
                <a:sym typeface="Calibri"/>
              </a:rPr>
              <a:t>Keep secrets, key material and vendored directories out of the agent’s reach entirely.</a:t>
            </a:r>
            <a:endParaRPr b="0" i="0" sz="1200" u="none" cap="none" strike="noStrike">
              <a:solidFill>
                <a:schemeClr val="dk1"/>
              </a:solidFill>
              <a:latin typeface="Calibri"/>
              <a:ea typeface="Calibri"/>
              <a:cs typeface="Calibri"/>
              <a:sym typeface="Calibri"/>
            </a:endParaRPr>
          </a:p>
        </p:txBody>
      </p:sp>
      <p:sp>
        <p:nvSpPr>
          <p:cNvPr id="337" name="Google Shape;337;p11"/>
          <p:cNvSpPr/>
          <p:nvPr/>
        </p:nvSpPr>
        <p:spPr>
          <a:xfrm>
            <a:off x="8942832" y="3840480"/>
            <a:ext cx="2651760" cy="1371600"/>
          </a:xfrm>
          <a:prstGeom prst="roundRect">
            <a:avLst>
              <a:gd fmla="val 3333" name="adj"/>
            </a:avLst>
          </a:prstGeom>
          <a:solidFill>
            <a:srgbClr val="F4F6F8"/>
          </a:solidFill>
          <a:ln cap="flat" cmpd="sng" w="12700">
            <a:solidFill>
              <a:srgbClr val="F4F6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1"/>
          <p:cNvSpPr/>
          <p:nvPr/>
        </p:nvSpPr>
        <p:spPr>
          <a:xfrm>
            <a:off x="9089136" y="3931920"/>
            <a:ext cx="2359152" cy="11887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41821"/>
              </a:buClr>
              <a:buSzPts val="1200"/>
              <a:buFont typeface="Calibri"/>
              <a:buNone/>
            </a:pPr>
            <a:r>
              <a:rPr b="1" i="0" lang="en-US" sz="1200" u="none" cap="none" strike="noStrike">
                <a:solidFill>
                  <a:srgbClr val="141821"/>
                </a:solidFill>
                <a:latin typeface="Calibri"/>
                <a:ea typeface="Calibri"/>
                <a:cs typeface="Calibri"/>
                <a:sym typeface="Calibri"/>
              </a:rPr>
              <a:t>Secrets handling</a:t>
            </a:r>
            <a:endParaRPr b="0" i="0" sz="12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4A5262"/>
              </a:buClr>
              <a:buSzPts val="1000"/>
              <a:buFont typeface="Calibri"/>
              <a:buNone/>
            </a:pPr>
            <a:r>
              <a:rPr b="0" i="0" lang="en-US" sz="1000" u="none" cap="none" strike="noStrike">
                <a:solidFill>
                  <a:srgbClr val="4A5262"/>
                </a:solidFill>
                <a:latin typeface="Calibri"/>
                <a:ea typeface="Calibri"/>
                <a:cs typeface="Calibri"/>
                <a:sym typeface="Calibri"/>
              </a:rPr>
              <a:t>Keyring by default. secrets.yaml is plaintext fallback — treat it accordingly in CI and containers.</a:t>
            </a:r>
            <a:endParaRPr b="0" i="0" sz="1200" u="none" cap="none" strike="noStrike">
              <a:solidFill>
                <a:schemeClr val="dk1"/>
              </a:solidFill>
              <a:latin typeface="Calibri"/>
              <a:ea typeface="Calibri"/>
              <a:cs typeface="Calibri"/>
              <a:sym typeface="Calibri"/>
            </a:endParaRPr>
          </a:p>
        </p:txBody>
      </p:sp>
      <p:sp>
        <p:nvSpPr>
          <p:cNvPr id="339" name="Google Shape;339;p11"/>
          <p:cNvSpPr/>
          <p:nvPr/>
        </p:nvSpPr>
        <p:spPr>
          <a:xfrm>
            <a:off x="548640" y="5394960"/>
            <a:ext cx="11082528" cy="5486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F7A8C"/>
              </a:buClr>
              <a:buSzPts val="1200"/>
              <a:buFont typeface="Calibri"/>
              <a:buNone/>
            </a:pPr>
            <a:r>
              <a:rPr b="0" i="1" lang="en-US" sz="1200" u="none" cap="none" strike="noStrike">
                <a:solidFill>
                  <a:srgbClr val="1F7A8C"/>
                </a:solidFill>
                <a:latin typeface="Calibri"/>
                <a:ea typeface="Calibri"/>
                <a:cs typeface="Calibri"/>
                <a:sym typeface="Calibri"/>
              </a:rPr>
              <a:t>Before you connect any MCP server: read what it actually does. An extension is code you are granting your agent’s privileges to — the docs have a dedicated guide on judging whether an MCP server is safe.</a:t>
            </a:r>
            <a:endParaRPr b="0" i="0" sz="1200" u="none" cap="none" strike="noStrike">
              <a:solidFill>
                <a:schemeClr val="dk1"/>
              </a:solidFill>
              <a:latin typeface="Calibri"/>
              <a:ea typeface="Calibri"/>
              <a:cs typeface="Calibri"/>
              <a:sym typeface="Calibri"/>
            </a:endParaRPr>
          </a:p>
        </p:txBody>
      </p:sp>
      <p:sp>
        <p:nvSpPr>
          <p:cNvPr id="340" name="Google Shape;340;p11"/>
          <p:cNvSpPr/>
          <p:nvPr/>
        </p:nvSpPr>
        <p:spPr>
          <a:xfrm>
            <a:off x="548640" y="6355080"/>
            <a:ext cx="11064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50"/>
              <a:buFont typeface="Calibri"/>
              <a:buNone/>
            </a:pPr>
            <a:r>
              <a:rPr b="0" i="0" lang="en-US" sz="950" u="none" cap="none" strike="noStrike">
                <a:solidFill>
                  <a:srgbClr val="6B7280"/>
                </a:solidFill>
                <a:latin typeface="Calibri"/>
                <a:ea typeface="Calibri"/>
                <a:cs typeface="Calibri"/>
                <a:sym typeface="Calibri"/>
              </a:rPr>
              <a:t>Reference: goose-docs.ai/docs/guides/security · /guides/sandbox · /guides/allowlist</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5" name="Shape 345"/>
        <p:cNvGrpSpPr/>
        <p:nvPr/>
      </p:nvGrpSpPr>
      <p:grpSpPr>
        <a:xfrm>
          <a:off x="0" y="0"/>
          <a:ext cx="0" cy="0"/>
          <a:chOff x="0" y="0"/>
          <a:chExt cx="0" cy="0"/>
        </a:xfrm>
      </p:grpSpPr>
      <p:sp>
        <p:nvSpPr>
          <p:cNvPr id="346" name="Google Shape;346;p12"/>
          <p:cNvSpPr/>
          <p:nvPr/>
        </p:nvSpPr>
        <p:spPr>
          <a:xfrm>
            <a:off x="548640" y="384048"/>
            <a:ext cx="475488" cy="475488"/>
          </a:xfrm>
          <a:prstGeom prst="roundRect">
            <a:avLst>
              <a:gd fmla="val 19231" name="adj"/>
            </a:avLst>
          </a:prstGeom>
          <a:solidFill>
            <a:srgbClr val="E09B34"/>
          </a:solidFill>
          <a:ln cap="flat" cmpd="sng" w="12700">
            <a:solidFill>
              <a:srgbClr val="E09B3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2"/>
          <p:cNvSpPr/>
          <p:nvPr/>
        </p:nvSpPr>
        <p:spPr>
          <a:xfrm>
            <a:off x="548640" y="384048"/>
            <a:ext cx="475488"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1821"/>
              </a:buClr>
              <a:buSzPts val="2000"/>
              <a:buFont typeface="Calibri"/>
              <a:buNone/>
            </a:pPr>
            <a:r>
              <a:rPr b="1" i="0" lang="en-US" sz="2000" u="none" cap="none" strike="noStrike">
                <a:solidFill>
                  <a:srgbClr val="141821"/>
                </a:solidFill>
                <a:latin typeface="Calibri"/>
                <a:ea typeface="Calibri"/>
                <a:cs typeface="Calibri"/>
                <a:sym typeface="Calibri"/>
              </a:rPr>
              <a:t>11</a:t>
            </a:r>
            <a:endParaRPr b="0" i="0" sz="2000" u="none" cap="none" strike="noStrike">
              <a:solidFill>
                <a:schemeClr val="dk1"/>
              </a:solidFill>
              <a:latin typeface="Calibri"/>
              <a:ea typeface="Calibri"/>
              <a:cs typeface="Calibri"/>
              <a:sym typeface="Calibri"/>
            </a:endParaRPr>
          </a:p>
        </p:txBody>
      </p:sp>
      <p:sp>
        <p:nvSpPr>
          <p:cNvPr id="348" name="Google Shape;348;p12"/>
          <p:cNvSpPr/>
          <p:nvPr/>
        </p:nvSpPr>
        <p:spPr>
          <a:xfrm>
            <a:off x="1170432" y="347472"/>
            <a:ext cx="104241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821"/>
              </a:buClr>
              <a:buSzPts val="3000"/>
              <a:buFont typeface="Calibri"/>
              <a:buNone/>
            </a:pPr>
            <a:r>
              <a:rPr b="1" i="0" lang="en-US" sz="3000" u="none" cap="none" strike="noStrike">
                <a:solidFill>
                  <a:srgbClr val="141821"/>
                </a:solidFill>
                <a:latin typeface="Calibri"/>
                <a:ea typeface="Calibri"/>
                <a:cs typeface="Calibri"/>
                <a:sym typeface="Calibri"/>
              </a:rPr>
              <a:t>Feature — MCP Surface &amp; Platform Operations</a:t>
            </a:r>
            <a:endParaRPr b="0" i="0" sz="3000" u="none" cap="none" strike="noStrike">
              <a:solidFill>
                <a:schemeClr val="dk1"/>
              </a:solidFill>
              <a:latin typeface="Calibri"/>
              <a:ea typeface="Calibri"/>
              <a:cs typeface="Calibri"/>
              <a:sym typeface="Calibri"/>
            </a:endParaRPr>
          </a:p>
        </p:txBody>
      </p:sp>
      <p:sp>
        <p:nvSpPr>
          <p:cNvPr id="349" name="Google Shape;349;p12"/>
          <p:cNvSpPr/>
          <p:nvPr/>
        </p:nvSpPr>
        <p:spPr>
          <a:xfrm>
            <a:off x="1170432" y="914400"/>
            <a:ext cx="104241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300"/>
              <a:buFont typeface="Calibri"/>
              <a:buNone/>
            </a:pPr>
            <a:r>
              <a:rPr b="0" i="1" lang="en-US" sz="1300" u="none" cap="none" strike="noStrike">
                <a:solidFill>
                  <a:srgbClr val="6B7280"/>
                </a:solidFill>
                <a:latin typeface="Calibri"/>
                <a:ea typeface="Calibri"/>
                <a:cs typeface="Calibri"/>
                <a:sym typeface="Calibri"/>
              </a:rPr>
              <a:t>The rest of the guides: protocol capabilities on the left, running goose at scale on the right</a:t>
            </a:r>
            <a:endParaRPr b="0" i="0" sz="1300" u="none" cap="none" strike="noStrike">
              <a:solidFill>
                <a:schemeClr val="dk1"/>
              </a:solidFill>
              <a:latin typeface="Calibri"/>
              <a:ea typeface="Calibri"/>
              <a:cs typeface="Calibri"/>
              <a:sym typeface="Calibri"/>
            </a:endParaRPr>
          </a:p>
        </p:txBody>
      </p:sp>
      <p:sp>
        <p:nvSpPr>
          <p:cNvPr id="350" name="Google Shape;350;p12"/>
          <p:cNvSpPr/>
          <p:nvPr/>
        </p:nvSpPr>
        <p:spPr>
          <a:xfrm>
            <a:off x="548640" y="1444752"/>
            <a:ext cx="53949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9B34"/>
              </a:buClr>
              <a:buSzPts val="1000"/>
              <a:buFont typeface="Calibri"/>
              <a:buNone/>
            </a:pPr>
            <a:r>
              <a:rPr b="1" i="0" lang="en-US" sz="1000" u="none" cap="none" strike="noStrike">
                <a:solidFill>
                  <a:srgbClr val="E09B34"/>
                </a:solidFill>
                <a:latin typeface="Calibri"/>
                <a:ea typeface="Calibri"/>
                <a:cs typeface="Calibri"/>
                <a:sym typeface="Calibri"/>
              </a:rPr>
              <a:t>MCP PROTOCOL CAPABILITIES</a:t>
            </a:r>
            <a:endParaRPr b="0" i="0" sz="1000" u="none" cap="none" strike="noStrike">
              <a:solidFill>
                <a:schemeClr val="dk1"/>
              </a:solidFill>
              <a:latin typeface="Calibri"/>
              <a:ea typeface="Calibri"/>
              <a:cs typeface="Calibri"/>
              <a:sym typeface="Calibri"/>
            </a:endParaRPr>
          </a:p>
        </p:txBody>
      </p:sp>
      <p:sp>
        <p:nvSpPr>
          <p:cNvPr id="351" name="Google Shape;351;p12"/>
          <p:cNvSpPr/>
          <p:nvPr/>
        </p:nvSpPr>
        <p:spPr>
          <a:xfrm>
            <a:off x="548640" y="1755648"/>
            <a:ext cx="2651760" cy="1060704"/>
          </a:xfrm>
          <a:prstGeom prst="roundRect">
            <a:avLst>
              <a:gd fmla="val 4310" name="adj"/>
            </a:avLst>
          </a:prstGeom>
          <a:solidFill>
            <a:srgbClr val="F4F6F8"/>
          </a:solidFill>
          <a:ln cap="flat" cmpd="sng" w="12700">
            <a:solidFill>
              <a:srgbClr val="F4F6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2"/>
          <p:cNvSpPr/>
          <p:nvPr/>
        </p:nvSpPr>
        <p:spPr>
          <a:xfrm>
            <a:off x="694944" y="1847088"/>
            <a:ext cx="2359152" cy="87782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41821"/>
              </a:buClr>
              <a:buSzPts val="1150"/>
              <a:buFont typeface="Calibri"/>
              <a:buNone/>
            </a:pPr>
            <a:r>
              <a:rPr b="1" i="0" lang="en-US" sz="1150" u="none" cap="none" strike="noStrike">
                <a:solidFill>
                  <a:srgbClr val="141821"/>
                </a:solidFill>
                <a:latin typeface="Calibri"/>
                <a:ea typeface="Calibri"/>
                <a:cs typeface="Calibri"/>
                <a:sym typeface="Calibri"/>
              </a:rPr>
              <a:t>MCP Sampling</a:t>
            </a:r>
            <a:endParaRPr b="0" i="0" sz="11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4A5262"/>
              </a:buClr>
              <a:buSzPts val="950"/>
              <a:buFont typeface="Calibri"/>
              <a:buNone/>
            </a:pPr>
            <a:r>
              <a:rPr b="0" i="0" lang="en-US" sz="950" u="none" cap="none" strike="noStrike">
                <a:solidFill>
                  <a:srgbClr val="4A5262"/>
                </a:solidFill>
                <a:latin typeface="Calibri"/>
                <a:ea typeface="Calibri"/>
                <a:cs typeface="Calibri"/>
                <a:sym typeface="Calibri"/>
              </a:rPr>
              <a:t>Lets an MCP server ask goose’s model to think — turning a passive tool into an intelligent one.</a:t>
            </a:r>
            <a:endParaRPr b="0" i="0" sz="1150" u="none" cap="none" strike="noStrike">
              <a:solidFill>
                <a:schemeClr val="dk1"/>
              </a:solidFill>
              <a:latin typeface="Calibri"/>
              <a:ea typeface="Calibri"/>
              <a:cs typeface="Calibri"/>
              <a:sym typeface="Calibri"/>
            </a:endParaRPr>
          </a:p>
        </p:txBody>
      </p:sp>
      <p:sp>
        <p:nvSpPr>
          <p:cNvPr id="353" name="Google Shape;353;p12"/>
          <p:cNvSpPr/>
          <p:nvPr/>
        </p:nvSpPr>
        <p:spPr>
          <a:xfrm>
            <a:off x="3346704" y="1755648"/>
            <a:ext cx="2651760" cy="1060704"/>
          </a:xfrm>
          <a:prstGeom prst="roundRect">
            <a:avLst>
              <a:gd fmla="val 4310" name="adj"/>
            </a:avLst>
          </a:prstGeom>
          <a:solidFill>
            <a:srgbClr val="EDF1F4"/>
          </a:solidFill>
          <a:ln cap="flat" cmpd="sng" w="12700">
            <a:solidFill>
              <a:srgbClr val="EDF1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2"/>
          <p:cNvSpPr/>
          <p:nvPr/>
        </p:nvSpPr>
        <p:spPr>
          <a:xfrm>
            <a:off x="3493008" y="1847088"/>
            <a:ext cx="2359152" cy="87782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41821"/>
              </a:buClr>
              <a:buSzPts val="1150"/>
              <a:buFont typeface="Calibri"/>
              <a:buNone/>
            </a:pPr>
            <a:r>
              <a:rPr b="1" i="0" lang="en-US" sz="1150" u="none" cap="none" strike="noStrike">
                <a:solidFill>
                  <a:srgbClr val="141821"/>
                </a:solidFill>
                <a:latin typeface="Calibri"/>
                <a:ea typeface="Calibri"/>
                <a:cs typeface="Calibri"/>
                <a:sym typeface="Calibri"/>
              </a:rPr>
              <a:t>MCP Elicitation</a:t>
            </a:r>
            <a:endParaRPr b="0" i="0" sz="11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4A5262"/>
              </a:buClr>
              <a:buSzPts val="950"/>
              <a:buFont typeface="Calibri"/>
              <a:buNone/>
            </a:pPr>
            <a:r>
              <a:rPr b="0" i="0" lang="en-US" sz="950" u="none" cap="none" strike="noStrike">
                <a:solidFill>
                  <a:srgbClr val="4A5262"/>
                </a:solidFill>
                <a:latin typeface="Calibri"/>
                <a:ea typeface="Calibri"/>
                <a:cs typeface="Calibri"/>
                <a:sym typeface="Calibri"/>
              </a:rPr>
              <a:t>Extensions request structured input from you mid-task instead of guessing or failing.</a:t>
            </a:r>
            <a:endParaRPr b="0" i="0" sz="1150" u="none" cap="none" strike="noStrike">
              <a:solidFill>
                <a:schemeClr val="dk1"/>
              </a:solidFill>
              <a:latin typeface="Calibri"/>
              <a:ea typeface="Calibri"/>
              <a:cs typeface="Calibri"/>
              <a:sym typeface="Calibri"/>
            </a:endParaRPr>
          </a:p>
        </p:txBody>
      </p:sp>
      <p:sp>
        <p:nvSpPr>
          <p:cNvPr id="355" name="Google Shape;355;p12"/>
          <p:cNvSpPr/>
          <p:nvPr/>
        </p:nvSpPr>
        <p:spPr>
          <a:xfrm>
            <a:off x="548640" y="2944368"/>
            <a:ext cx="2651760" cy="1060704"/>
          </a:xfrm>
          <a:prstGeom prst="roundRect">
            <a:avLst>
              <a:gd fmla="val 4310" name="adj"/>
            </a:avLst>
          </a:prstGeom>
          <a:solidFill>
            <a:srgbClr val="F4F6F8"/>
          </a:solidFill>
          <a:ln cap="flat" cmpd="sng" w="12700">
            <a:solidFill>
              <a:srgbClr val="F4F6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2"/>
          <p:cNvSpPr/>
          <p:nvPr/>
        </p:nvSpPr>
        <p:spPr>
          <a:xfrm>
            <a:off x="694944" y="3035808"/>
            <a:ext cx="2359152" cy="87782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41821"/>
              </a:buClr>
              <a:buSzPts val="1150"/>
              <a:buFont typeface="Calibri"/>
              <a:buNone/>
            </a:pPr>
            <a:r>
              <a:rPr b="1" i="0" lang="en-US" sz="1150" u="none" cap="none" strike="noStrike">
                <a:solidFill>
                  <a:srgbClr val="141821"/>
                </a:solidFill>
                <a:latin typeface="Calibri"/>
                <a:ea typeface="Calibri"/>
                <a:cs typeface="Calibri"/>
                <a:sym typeface="Calibri"/>
              </a:rPr>
              <a:t>MCP Roots</a:t>
            </a:r>
            <a:endParaRPr b="0" i="0" sz="11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4A5262"/>
              </a:buClr>
              <a:buSzPts val="950"/>
              <a:buFont typeface="Calibri"/>
              <a:buNone/>
            </a:pPr>
            <a:r>
              <a:rPr b="0" i="0" lang="en-US" sz="950" u="none" cap="none" strike="noStrike">
                <a:solidFill>
                  <a:srgbClr val="4A5262"/>
                </a:solidFill>
                <a:latin typeface="Calibri"/>
                <a:ea typeface="Calibri"/>
                <a:cs typeface="Calibri"/>
                <a:sym typeface="Calibri"/>
              </a:rPr>
              <a:t>How goose shares your working directory with roots-aware extensions.</a:t>
            </a:r>
            <a:endParaRPr b="0" i="0" sz="1150" u="none" cap="none" strike="noStrike">
              <a:solidFill>
                <a:schemeClr val="dk1"/>
              </a:solidFill>
              <a:latin typeface="Calibri"/>
              <a:ea typeface="Calibri"/>
              <a:cs typeface="Calibri"/>
              <a:sym typeface="Calibri"/>
            </a:endParaRPr>
          </a:p>
        </p:txBody>
      </p:sp>
      <p:sp>
        <p:nvSpPr>
          <p:cNvPr id="357" name="Google Shape;357;p12"/>
          <p:cNvSpPr/>
          <p:nvPr/>
        </p:nvSpPr>
        <p:spPr>
          <a:xfrm>
            <a:off x="3346704" y="2944368"/>
            <a:ext cx="2651760" cy="1060704"/>
          </a:xfrm>
          <a:prstGeom prst="roundRect">
            <a:avLst>
              <a:gd fmla="val 4310" name="adj"/>
            </a:avLst>
          </a:prstGeom>
          <a:solidFill>
            <a:srgbClr val="EDF1F4"/>
          </a:solidFill>
          <a:ln cap="flat" cmpd="sng" w="12700">
            <a:solidFill>
              <a:srgbClr val="EDF1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2"/>
          <p:cNvSpPr/>
          <p:nvPr/>
        </p:nvSpPr>
        <p:spPr>
          <a:xfrm>
            <a:off x="3493008" y="3035808"/>
            <a:ext cx="2359152" cy="87782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41821"/>
              </a:buClr>
              <a:buSzPts val="1150"/>
              <a:buFont typeface="Calibri"/>
              <a:buNone/>
            </a:pPr>
            <a:r>
              <a:rPr b="1" i="0" lang="en-US" sz="1150" u="none" cap="none" strike="noStrike">
                <a:solidFill>
                  <a:srgbClr val="141821"/>
                </a:solidFill>
                <a:latin typeface="Calibri"/>
                <a:ea typeface="Calibri"/>
                <a:cs typeface="Calibri"/>
                <a:sym typeface="Calibri"/>
              </a:rPr>
              <a:t>MCP Apps / MCP-UI</a:t>
            </a:r>
            <a:endParaRPr b="0" i="0" sz="11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4A5262"/>
              </a:buClr>
              <a:buSzPts val="950"/>
              <a:buFont typeface="Calibri"/>
              <a:buNone/>
            </a:pPr>
            <a:r>
              <a:rPr b="0" i="0" lang="en-US" sz="950" u="none" cap="none" strike="noStrike">
                <a:solidFill>
                  <a:srgbClr val="4A5262"/>
                </a:solidFill>
                <a:latin typeface="Calibri"/>
                <a:ea typeface="Calibri"/>
                <a:cs typeface="Calibri"/>
                <a:sym typeface="Calibri"/>
              </a:rPr>
              <a:t>Interactive UI surfaces rendered inside the chat by an extension.</a:t>
            </a:r>
            <a:endParaRPr b="0" i="0" sz="1150" u="none" cap="none" strike="noStrike">
              <a:solidFill>
                <a:schemeClr val="dk1"/>
              </a:solidFill>
              <a:latin typeface="Calibri"/>
              <a:ea typeface="Calibri"/>
              <a:cs typeface="Calibri"/>
              <a:sym typeface="Calibri"/>
            </a:endParaRPr>
          </a:p>
        </p:txBody>
      </p:sp>
      <p:sp>
        <p:nvSpPr>
          <p:cNvPr id="359" name="Google Shape;359;p12"/>
          <p:cNvSpPr/>
          <p:nvPr/>
        </p:nvSpPr>
        <p:spPr>
          <a:xfrm>
            <a:off x="6272784" y="1444752"/>
            <a:ext cx="5358384"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9B34"/>
              </a:buClr>
              <a:buSzPts val="1000"/>
              <a:buFont typeface="Calibri"/>
              <a:buNone/>
            </a:pPr>
            <a:r>
              <a:rPr b="1" i="0" lang="en-US" sz="1000" u="none" cap="none" strike="noStrike">
                <a:solidFill>
                  <a:srgbClr val="E09B34"/>
                </a:solidFill>
                <a:latin typeface="Calibri"/>
                <a:ea typeface="Calibri"/>
                <a:cs typeface="Calibri"/>
                <a:sym typeface="Calibri"/>
              </a:rPr>
              <a:t>RUNNING GOOSE AT SCALE</a:t>
            </a:r>
            <a:endParaRPr b="0" i="0" sz="1000" u="none" cap="none" strike="noStrike">
              <a:solidFill>
                <a:schemeClr val="dk1"/>
              </a:solidFill>
              <a:latin typeface="Calibri"/>
              <a:ea typeface="Calibri"/>
              <a:cs typeface="Calibri"/>
              <a:sym typeface="Calibri"/>
            </a:endParaRPr>
          </a:p>
        </p:txBody>
      </p:sp>
      <p:sp>
        <p:nvSpPr>
          <p:cNvPr id="360" name="Google Shape;360;p12"/>
          <p:cNvSpPr/>
          <p:nvPr/>
        </p:nvSpPr>
        <p:spPr>
          <a:xfrm>
            <a:off x="6272784" y="1755648"/>
            <a:ext cx="2596896" cy="1060704"/>
          </a:xfrm>
          <a:prstGeom prst="roundRect">
            <a:avLst>
              <a:gd fmla="val 4310" name="adj"/>
            </a:avLst>
          </a:prstGeom>
          <a:solidFill>
            <a:srgbClr val="EDF1F4"/>
          </a:solidFill>
          <a:ln cap="flat" cmpd="sng" w="12700">
            <a:solidFill>
              <a:srgbClr val="EDF1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2"/>
          <p:cNvSpPr/>
          <p:nvPr/>
        </p:nvSpPr>
        <p:spPr>
          <a:xfrm>
            <a:off x="6419088" y="1847088"/>
            <a:ext cx="2304288" cy="87782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41821"/>
              </a:buClr>
              <a:buSzPts val="1150"/>
              <a:buFont typeface="Calibri"/>
              <a:buNone/>
            </a:pPr>
            <a:r>
              <a:rPr b="1" i="0" lang="en-US" sz="1150" u="none" cap="none" strike="noStrike">
                <a:solidFill>
                  <a:srgbClr val="141821"/>
                </a:solidFill>
                <a:latin typeface="Calibri"/>
                <a:ea typeface="Calibri"/>
                <a:cs typeface="Calibri"/>
                <a:sym typeface="Calibri"/>
              </a:rPr>
              <a:t>Multi-Model Config</a:t>
            </a:r>
            <a:endParaRPr b="0" i="0" sz="11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4A5262"/>
              </a:buClr>
              <a:buSzPts val="950"/>
              <a:buFont typeface="Calibri"/>
              <a:buNone/>
            </a:pPr>
            <a:r>
              <a:rPr b="0" i="0" lang="en-US" sz="950" u="none" cap="none" strike="noStrike">
                <a:solidFill>
                  <a:srgbClr val="4A5262"/>
                </a:solidFill>
                <a:latin typeface="Calibri"/>
                <a:ea typeface="Calibri"/>
                <a:cs typeface="Calibri"/>
                <a:sym typeface="Calibri"/>
              </a:rPr>
              <a:t>Cheap model for routine turns, strong model for planning — optimise cost against results.</a:t>
            </a:r>
            <a:endParaRPr b="0" i="0" sz="1150" u="none" cap="none" strike="noStrike">
              <a:solidFill>
                <a:schemeClr val="dk1"/>
              </a:solidFill>
              <a:latin typeface="Calibri"/>
              <a:ea typeface="Calibri"/>
              <a:cs typeface="Calibri"/>
              <a:sym typeface="Calibri"/>
            </a:endParaRPr>
          </a:p>
        </p:txBody>
      </p:sp>
      <p:sp>
        <p:nvSpPr>
          <p:cNvPr id="362" name="Google Shape;362;p12"/>
          <p:cNvSpPr/>
          <p:nvPr/>
        </p:nvSpPr>
        <p:spPr>
          <a:xfrm>
            <a:off x="9034272" y="1755648"/>
            <a:ext cx="2596896" cy="1060704"/>
          </a:xfrm>
          <a:prstGeom prst="roundRect">
            <a:avLst>
              <a:gd fmla="val 4310" name="adj"/>
            </a:avLst>
          </a:prstGeom>
          <a:solidFill>
            <a:srgbClr val="F4F6F8"/>
          </a:solidFill>
          <a:ln cap="flat" cmpd="sng" w="12700">
            <a:solidFill>
              <a:srgbClr val="F4F6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2"/>
          <p:cNvSpPr/>
          <p:nvPr/>
        </p:nvSpPr>
        <p:spPr>
          <a:xfrm>
            <a:off x="9180576" y="1847088"/>
            <a:ext cx="2304288" cy="87782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41821"/>
              </a:buClr>
              <a:buSzPts val="1150"/>
              <a:buFont typeface="Calibri"/>
              <a:buNone/>
            </a:pPr>
            <a:r>
              <a:rPr b="1" i="0" lang="en-US" sz="1150" u="none" cap="none" strike="noStrike">
                <a:solidFill>
                  <a:srgbClr val="141821"/>
                </a:solidFill>
                <a:latin typeface="Calibri"/>
                <a:ea typeface="Calibri"/>
                <a:cs typeface="Calibri"/>
                <a:sym typeface="Calibri"/>
              </a:rPr>
              <a:t>LLM Rate Limits</a:t>
            </a:r>
            <a:endParaRPr b="0" i="0" sz="11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4A5262"/>
              </a:buClr>
              <a:buSzPts val="950"/>
              <a:buFont typeface="Calibri"/>
              <a:buNone/>
            </a:pPr>
            <a:r>
              <a:rPr b="0" i="0" lang="en-US" sz="950" u="none" cap="none" strike="noStrike">
                <a:solidFill>
                  <a:srgbClr val="4A5262"/>
                </a:solidFill>
                <a:latin typeface="Calibri"/>
                <a:ea typeface="Calibri"/>
                <a:cs typeface="Calibri"/>
                <a:sym typeface="Calibri"/>
              </a:rPr>
              <a:t>Strategies for working within provider request ceilings without stalling a run.</a:t>
            </a:r>
            <a:endParaRPr b="0" i="0" sz="1150" u="none" cap="none" strike="noStrike">
              <a:solidFill>
                <a:schemeClr val="dk1"/>
              </a:solidFill>
              <a:latin typeface="Calibri"/>
              <a:ea typeface="Calibri"/>
              <a:cs typeface="Calibri"/>
              <a:sym typeface="Calibri"/>
            </a:endParaRPr>
          </a:p>
        </p:txBody>
      </p:sp>
      <p:sp>
        <p:nvSpPr>
          <p:cNvPr id="364" name="Google Shape;364;p12"/>
          <p:cNvSpPr/>
          <p:nvPr/>
        </p:nvSpPr>
        <p:spPr>
          <a:xfrm>
            <a:off x="6272784" y="2944368"/>
            <a:ext cx="2596896" cy="1060704"/>
          </a:xfrm>
          <a:prstGeom prst="roundRect">
            <a:avLst>
              <a:gd fmla="val 4310" name="adj"/>
            </a:avLst>
          </a:prstGeom>
          <a:solidFill>
            <a:srgbClr val="EDF1F4"/>
          </a:solidFill>
          <a:ln cap="flat" cmpd="sng" w="12700">
            <a:solidFill>
              <a:srgbClr val="EDF1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2"/>
          <p:cNvSpPr/>
          <p:nvPr/>
        </p:nvSpPr>
        <p:spPr>
          <a:xfrm>
            <a:off x="6419088" y="3035808"/>
            <a:ext cx="2304288" cy="87782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41821"/>
              </a:buClr>
              <a:buSzPts val="1150"/>
              <a:buFont typeface="Calibri"/>
              <a:buNone/>
            </a:pPr>
            <a:r>
              <a:rPr b="1" i="0" lang="en-US" sz="1150" u="none" cap="none" strike="noStrike">
                <a:solidFill>
                  <a:srgbClr val="141821"/>
                </a:solidFill>
                <a:latin typeface="Calibri"/>
                <a:ea typeface="Calibri"/>
                <a:cs typeface="Calibri"/>
                <a:sym typeface="Calibri"/>
              </a:rPr>
              <a:t>Remote Server</a:t>
            </a:r>
            <a:endParaRPr b="0" i="0" sz="11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4A5262"/>
              </a:buClr>
              <a:buSzPts val="950"/>
              <a:buFont typeface="Calibri"/>
              <a:buNone/>
            </a:pPr>
            <a:r>
              <a:rPr b="0" i="0" lang="en-US" sz="950" u="none" cap="none" strike="noStrike">
                <a:solidFill>
                  <a:srgbClr val="4A5262"/>
                </a:solidFill>
                <a:latin typeface="Calibri"/>
                <a:ea typeface="Calibri"/>
                <a:cs typeface="Calibri"/>
                <a:sym typeface="Calibri"/>
              </a:rPr>
              <a:t>Run goose serve on a VM and point Desktop at it — heavy work off your laptop.</a:t>
            </a:r>
            <a:endParaRPr b="0" i="0" sz="1150" u="none" cap="none" strike="noStrike">
              <a:solidFill>
                <a:schemeClr val="dk1"/>
              </a:solidFill>
              <a:latin typeface="Calibri"/>
              <a:ea typeface="Calibri"/>
              <a:cs typeface="Calibri"/>
              <a:sym typeface="Calibri"/>
            </a:endParaRPr>
          </a:p>
        </p:txBody>
      </p:sp>
      <p:sp>
        <p:nvSpPr>
          <p:cNvPr id="366" name="Google Shape;366;p12"/>
          <p:cNvSpPr/>
          <p:nvPr/>
        </p:nvSpPr>
        <p:spPr>
          <a:xfrm>
            <a:off x="9034272" y="2944368"/>
            <a:ext cx="2596896" cy="1060704"/>
          </a:xfrm>
          <a:prstGeom prst="roundRect">
            <a:avLst>
              <a:gd fmla="val 4310" name="adj"/>
            </a:avLst>
          </a:prstGeom>
          <a:solidFill>
            <a:srgbClr val="F4F6F8"/>
          </a:solidFill>
          <a:ln cap="flat" cmpd="sng" w="12700">
            <a:solidFill>
              <a:srgbClr val="F4F6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2"/>
          <p:cNvSpPr/>
          <p:nvPr/>
        </p:nvSpPr>
        <p:spPr>
          <a:xfrm>
            <a:off x="9180576" y="3035808"/>
            <a:ext cx="2304288" cy="87782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41821"/>
              </a:buClr>
              <a:buSzPts val="1150"/>
              <a:buFont typeface="Calibri"/>
              <a:buNone/>
            </a:pPr>
            <a:r>
              <a:rPr b="1" i="0" lang="en-US" sz="1150" u="none" cap="none" strike="noStrike">
                <a:solidFill>
                  <a:srgbClr val="141821"/>
                </a:solidFill>
                <a:latin typeface="Calibri"/>
                <a:ea typeface="Calibri"/>
                <a:cs typeface="Calibri"/>
                <a:sym typeface="Calibri"/>
              </a:rPr>
              <a:t>Run Tasks</a:t>
            </a:r>
            <a:endParaRPr b="0" i="0" sz="11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4A5262"/>
              </a:buClr>
              <a:buSzPts val="950"/>
              <a:buFont typeface="Calibri"/>
              <a:buNone/>
            </a:pPr>
            <a:r>
              <a:rPr b="0" i="0" lang="en-US" sz="950" u="none" cap="none" strike="noStrike">
                <a:solidFill>
                  <a:srgbClr val="4A5262"/>
                </a:solidFill>
                <a:latin typeface="Calibri"/>
                <a:ea typeface="Calibri"/>
                <a:cs typeface="Calibri"/>
                <a:sym typeface="Calibri"/>
              </a:rPr>
              <a:t>goose run with a file or one-liner: headless execution for CI and cron.</a:t>
            </a:r>
            <a:endParaRPr b="0" i="0" sz="1150" u="none" cap="none" strike="noStrike">
              <a:solidFill>
                <a:schemeClr val="dk1"/>
              </a:solidFill>
              <a:latin typeface="Calibri"/>
              <a:ea typeface="Calibri"/>
              <a:cs typeface="Calibri"/>
              <a:sym typeface="Calibri"/>
            </a:endParaRPr>
          </a:p>
        </p:txBody>
      </p:sp>
      <p:sp>
        <p:nvSpPr>
          <p:cNvPr id="368" name="Google Shape;368;p12"/>
          <p:cNvSpPr/>
          <p:nvPr/>
        </p:nvSpPr>
        <p:spPr>
          <a:xfrm>
            <a:off x="6272784" y="4133088"/>
            <a:ext cx="2596896" cy="1060704"/>
          </a:xfrm>
          <a:prstGeom prst="roundRect">
            <a:avLst>
              <a:gd fmla="val 4310" name="adj"/>
            </a:avLst>
          </a:prstGeom>
          <a:solidFill>
            <a:srgbClr val="EDF1F4"/>
          </a:solidFill>
          <a:ln cap="flat" cmpd="sng" w="12700">
            <a:solidFill>
              <a:srgbClr val="EDF1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2"/>
          <p:cNvSpPr/>
          <p:nvPr/>
        </p:nvSpPr>
        <p:spPr>
          <a:xfrm>
            <a:off x="6419088" y="4224528"/>
            <a:ext cx="2304288" cy="87782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41821"/>
              </a:buClr>
              <a:buSzPts val="1150"/>
              <a:buFont typeface="Calibri"/>
              <a:buNone/>
            </a:pPr>
            <a:r>
              <a:rPr b="1" i="0" lang="en-US" sz="1150" u="none" cap="none" strike="noStrike">
                <a:solidFill>
                  <a:srgbClr val="141821"/>
                </a:solidFill>
                <a:latin typeface="Calibri"/>
                <a:ea typeface="Calibri"/>
                <a:cs typeface="Calibri"/>
                <a:sym typeface="Calibri"/>
              </a:rPr>
              <a:t>Custom Distributions</a:t>
            </a:r>
            <a:endParaRPr b="0" i="0" sz="11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4A5262"/>
              </a:buClr>
              <a:buSzPts val="950"/>
              <a:buFont typeface="Calibri"/>
              <a:buNone/>
            </a:pPr>
            <a:r>
              <a:rPr b="0" i="0" lang="en-US" sz="950" u="none" cap="none" strike="noStrike">
                <a:solidFill>
                  <a:srgbClr val="4A5262"/>
                </a:solidFill>
                <a:latin typeface="Calibri"/>
                <a:ea typeface="Calibri"/>
                <a:cs typeface="Calibri"/>
                <a:sym typeface="Calibri"/>
              </a:rPr>
              <a:t>Fork goose into your own branded distro with preconfigured providers and bundled extensions.</a:t>
            </a:r>
            <a:endParaRPr b="0" i="0" sz="1150" u="none" cap="none" strike="noStrike">
              <a:solidFill>
                <a:schemeClr val="dk1"/>
              </a:solidFill>
              <a:latin typeface="Calibri"/>
              <a:ea typeface="Calibri"/>
              <a:cs typeface="Calibri"/>
              <a:sym typeface="Calibri"/>
            </a:endParaRPr>
          </a:p>
        </p:txBody>
      </p:sp>
      <p:sp>
        <p:nvSpPr>
          <p:cNvPr id="370" name="Google Shape;370;p12"/>
          <p:cNvSpPr/>
          <p:nvPr/>
        </p:nvSpPr>
        <p:spPr>
          <a:xfrm>
            <a:off x="9034272" y="4133088"/>
            <a:ext cx="2596896" cy="1060704"/>
          </a:xfrm>
          <a:prstGeom prst="roundRect">
            <a:avLst>
              <a:gd fmla="val 4310" name="adj"/>
            </a:avLst>
          </a:prstGeom>
          <a:solidFill>
            <a:srgbClr val="F4F6F8"/>
          </a:solidFill>
          <a:ln cap="flat" cmpd="sng" w="12700">
            <a:solidFill>
              <a:srgbClr val="F4F6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2"/>
          <p:cNvSpPr/>
          <p:nvPr/>
        </p:nvSpPr>
        <p:spPr>
          <a:xfrm>
            <a:off x="9180576" y="4224528"/>
            <a:ext cx="2304288" cy="87782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41821"/>
              </a:buClr>
              <a:buSzPts val="1150"/>
              <a:buFont typeface="Calibri"/>
              <a:buNone/>
            </a:pPr>
            <a:r>
              <a:rPr b="1" i="0" lang="en-US" sz="1150" u="none" cap="none" strike="noStrike">
                <a:solidFill>
                  <a:srgbClr val="141821"/>
                </a:solidFill>
                <a:latin typeface="Calibri"/>
                <a:ea typeface="Calibri"/>
                <a:cs typeface="Calibri"/>
                <a:sym typeface="Calibri"/>
              </a:rPr>
              <a:t>Logging &amp; Usage Data</a:t>
            </a:r>
            <a:endParaRPr b="0" i="0" sz="11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4A5262"/>
              </a:buClr>
              <a:buSzPts val="950"/>
              <a:buFont typeface="Calibri"/>
              <a:buNone/>
            </a:pPr>
            <a:r>
              <a:rPr b="0" i="0" lang="en-US" sz="950" u="none" cap="none" strike="noStrike">
                <a:solidFill>
                  <a:srgbClr val="4A5262"/>
                </a:solidFill>
                <a:latin typeface="Calibri"/>
                <a:ea typeface="Calibri"/>
                <a:cs typeface="Calibri"/>
                <a:sym typeface="Calibri"/>
              </a:rPr>
              <a:t>Unified local storage of conversations; OTLP export; telemetry is opt-in.</a:t>
            </a:r>
            <a:endParaRPr b="0" i="0" sz="1150" u="none" cap="none" strike="noStrike">
              <a:solidFill>
                <a:schemeClr val="dk1"/>
              </a:solidFill>
              <a:latin typeface="Calibri"/>
              <a:ea typeface="Calibri"/>
              <a:cs typeface="Calibri"/>
              <a:sym typeface="Calibri"/>
            </a:endParaRPr>
          </a:p>
        </p:txBody>
      </p:sp>
      <p:sp>
        <p:nvSpPr>
          <p:cNvPr id="372" name="Google Shape;372;p12"/>
          <p:cNvSpPr/>
          <p:nvPr/>
        </p:nvSpPr>
        <p:spPr>
          <a:xfrm>
            <a:off x="548640" y="5358384"/>
            <a:ext cx="11082528"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9B34"/>
              </a:buClr>
              <a:buSzPts val="1000"/>
              <a:buFont typeface="Calibri"/>
              <a:buNone/>
            </a:pPr>
            <a:r>
              <a:rPr b="1" i="0" lang="en-US" sz="1000" u="none" cap="none" strike="noStrike">
                <a:solidFill>
                  <a:srgbClr val="E09B34"/>
                </a:solidFill>
                <a:latin typeface="Calibri"/>
                <a:ea typeface="Calibri"/>
                <a:cs typeface="Calibri"/>
                <a:sym typeface="Calibri"/>
              </a:rPr>
              <a:t>ALSO IN THE GUIDES</a:t>
            </a:r>
            <a:endParaRPr b="0" i="0" sz="1000" u="none" cap="none" strike="noStrike">
              <a:solidFill>
                <a:schemeClr val="dk1"/>
              </a:solidFill>
              <a:latin typeface="Calibri"/>
              <a:ea typeface="Calibri"/>
              <a:cs typeface="Calibri"/>
              <a:sym typeface="Calibri"/>
            </a:endParaRPr>
          </a:p>
        </p:txBody>
      </p:sp>
      <p:sp>
        <p:nvSpPr>
          <p:cNvPr id="373" name="Google Shape;373;p12"/>
          <p:cNvSpPr/>
          <p:nvPr/>
        </p:nvSpPr>
        <p:spPr>
          <a:xfrm>
            <a:off x="548640" y="5669280"/>
            <a:ext cx="1261872" cy="402336"/>
          </a:xfrm>
          <a:prstGeom prst="roundRect">
            <a:avLst>
              <a:gd fmla="val 20455" name="adj"/>
            </a:avLst>
          </a:prstGeom>
          <a:solidFill>
            <a:srgbClr val="EDF1F4"/>
          </a:solidFill>
          <a:ln cap="flat" cmpd="sng" w="12700">
            <a:solidFill>
              <a:srgbClr val="DFE3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2"/>
          <p:cNvSpPr/>
          <p:nvPr/>
        </p:nvSpPr>
        <p:spPr>
          <a:xfrm>
            <a:off x="594360" y="5669280"/>
            <a:ext cx="1207008"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D4553"/>
              </a:buClr>
              <a:buSzPts val="850"/>
              <a:buFont typeface="Calibri"/>
              <a:buNone/>
            </a:pPr>
            <a:r>
              <a:rPr b="0" i="0" lang="en-US" sz="850" u="none" cap="none" strike="noStrike">
                <a:solidFill>
                  <a:srgbClr val="3D4553"/>
                </a:solidFill>
                <a:latin typeface="Calibri"/>
                <a:ea typeface="Calibri"/>
                <a:cs typeface="Calibri"/>
                <a:sym typeface="Calibri"/>
              </a:rPr>
              <a:t>Enhanced Code Editing</a:t>
            </a:r>
            <a:endParaRPr b="0" i="0" sz="850" u="none" cap="none" strike="noStrike">
              <a:solidFill>
                <a:schemeClr val="dk1"/>
              </a:solidFill>
              <a:latin typeface="Calibri"/>
              <a:ea typeface="Calibri"/>
              <a:cs typeface="Calibri"/>
              <a:sym typeface="Calibri"/>
            </a:endParaRPr>
          </a:p>
        </p:txBody>
      </p:sp>
      <p:sp>
        <p:nvSpPr>
          <p:cNvPr id="375" name="Google Shape;375;p12"/>
          <p:cNvSpPr/>
          <p:nvPr/>
        </p:nvSpPr>
        <p:spPr>
          <a:xfrm>
            <a:off x="1938528" y="5669280"/>
            <a:ext cx="1261872" cy="402336"/>
          </a:xfrm>
          <a:prstGeom prst="roundRect">
            <a:avLst>
              <a:gd fmla="val 20455" name="adj"/>
            </a:avLst>
          </a:prstGeom>
          <a:solidFill>
            <a:srgbClr val="EDF1F4"/>
          </a:solidFill>
          <a:ln cap="flat" cmpd="sng" w="12700">
            <a:solidFill>
              <a:srgbClr val="DFE3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2"/>
          <p:cNvSpPr/>
          <p:nvPr/>
        </p:nvSpPr>
        <p:spPr>
          <a:xfrm>
            <a:off x="1984248" y="5669280"/>
            <a:ext cx="1207008"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D4553"/>
              </a:buClr>
              <a:buSzPts val="850"/>
              <a:buFont typeface="Calibri"/>
              <a:buNone/>
            </a:pPr>
            <a:r>
              <a:rPr b="0" i="0" lang="en-US" sz="850" u="none" cap="none" strike="noStrike">
                <a:solidFill>
                  <a:srgbClr val="3D4553"/>
                </a:solidFill>
                <a:latin typeface="Calibri"/>
                <a:ea typeface="Calibri"/>
                <a:cs typeface="Calibri"/>
                <a:sym typeface="Calibri"/>
              </a:rPr>
              <a:t>File Management</a:t>
            </a:r>
            <a:endParaRPr b="0" i="0" sz="850" u="none" cap="none" strike="noStrike">
              <a:solidFill>
                <a:schemeClr val="dk1"/>
              </a:solidFill>
              <a:latin typeface="Calibri"/>
              <a:ea typeface="Calibri"/>
              <a:cs typeface="Calibri"/>
              <a:sym typeface="Calibri"/>
            </a:endParaRPr>
          </a:p>
        </p:txBody>
      </p:sp>
      <p:sp>
        <p:nvSpPr>
          <p:cNvPr id="377" name="Google Shape;377;p12"/>
          <p:cNvSpPr/>
          <p:nvPr/>
        </p:nvSpPr>
        <p:spPr>
          <a:xfrm>
            <a:off x="3328416" y="5669280"/>
            <a:ext cx="1261872" cy="402336"/>
          </a:xfrm>
          <a:prstGeom prst="roundRect">
            <a:avLst>
              <a:gd fmla="val 20455" name="adj"/>
            </a:avLst>
          </a:prstGeom>
          <a:solidFill>
            <a:srgbClr val="EDF1F4"/>
          </a:solidFill>
          <a:ln cap="flat" cmpd="sng" w="12700">
            <a:solidFill>
              <a:srgbClr val="DFE3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2"/>
          <p:cNvSpPr/>
          <p:nvPr/>
        </p:nvSpPr>
        <p:spPr>
          <a:xfrm>
            <a:off x="3374136" y="5669280"/>
            <a:ext cx="1207008"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D4553"/>
              </a:buClr>
              <a:buSzPts val="850"/>
              <a:buFont typeface="Calibri"/>
              <a:buNone/>
            </a:pPr>
            <a:r>
              <a:rPr b="0" i="0" lang="en-US" sz="850" u="none" cap="none" strike="noStrike">
                <a:solidFill>
                  <a:srgbClr val="3D4553"/>
                </a:solidFill>
                <a:latin typeface="Calibri"/>
                <a:ea typeface="Calibri"/>
                <a:cs typeface="Calibri"/>
                <a:sym typeface="Calibri"/>
              </a:rPr>
              <a:t>Terminal Integration</a:t>
            </a:r>
            <a:endParaRPr b="0" i="0" sz="850" u="none" cap="none" strike="noStrike">
              <a:solidFill>
                <a:schemeClr val="dk1"/>
              </a:solidFill>
              <a:latin typeface="Calibri"/>
              <a:ea typeface="Calibri"/>
              <a:cs typeface="Calibri"/>
              <a:sym typeface="Calibri"/>
            </a:endParaRPr>
          </a:p>
        </p:txBody>
      </p:sp>
      <p:sp>
        <p:nvSpPr>
          <p:cNvPr id="379" name="Google Shape;379;p12"/>
          <p:cNvSpPr/>
          <p:nvPr/>
        </p:nvSpPr>
        <p:spPr>
          <a:xfrm>
            <a:off x="4718304" y="5669280"/>
            <a:ext cx="1261872" cy="402336"/>
          </a:xfrm>
          <a:prstGeom prst="roundRect">
            <a:avLst>
              <a:gd fmla="val 20455" name="adj"/>
            </a:avLst>
          </a:prstGeom>
          <a:solidFill>
            <a:srgbClr val="EDF1F4"/>
          </a:solidFill>
          <a:ln cap="flat" cmpd="sng" w="12700">
            <a:solidFill>
              <a:srgbClr val="DFE3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2"/>
          <p:cNvSpPr/>
          <p:nvPr/>
        </p:nvSpPr>
        <p:spPr>
          <a:xfrm>
            <a:off x="4764024" y="5669280"/>
            <a:ext cx="1207008"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D4553"/>
              </a:buClr>
              <a:buSzPts val="850"/>
              <a:buFont typeface="Calibri"/>
              <a:buNone/>
            </a:pPr>
            <a:r>
              <a:rPr b="0" i="0" lang="en-US" sz="850" u="none" cap="none" strike="noStrike">
                <a:solidFill>
                  <a:srgbClr val="3D4553"/>
                </a:solidFill>
                <a:latin typeface="Calibri"/>
                <a:ea typeface="Calibri"/>
                <a:cs typeface="Calibri"/>
                <a:sym typeface="Calibri"/>
              </a:rPr>
              <a:t>Desktop Sidebar</a:t>
            </a:r>
            <a:endParaRPr b="0" i="0" sz="850" u="none" cap="none" strike="noStrike">
              <a:solidFill>
                <a:schemeClr val="dk1"/>
              </a:solidFill>
              <a:latin typeface="Calibri"/>
              <a:ea typeface="Calibri"/>
              <a:cs typeface="Calibri"/>
              <a:sym typeface="Calibri"/>
            </a:endParaRPr>
          </a:p>
        </p:txBody>
      </p:sp>
      <p:sp>
        <p:nvSpPr>
          <p:cNvPr id="381" name="Google Shape;381;p12"/>
          <p:cNvSpPr/>
          <p:nvPr/>
        </p:nvSpPr>
        <p:spPr>
          <a:xfrm>
            <a:off x="6108192" y="5669280"/>
            <a:ext cx="1261872" cy="402336"/>
          </a:xfrm>
          <a:prstGeom prst="roundRect">
            <a:avLst>
              <a:gd fmla="val 20455" name="adj"/>
            </a:avLst>
          </a:prstGeom>
          <a:solidFill>
            <a:srgbClr val="EDF1F4"/>
          </a:solidFill>
          <a:ln cap="flat" cmpd="sng" w="12700">
            <a:solidFill>
              <a:srgbClr val="DFE3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2"/>
          <p:cNvSpPr/>
          <p:nvPr/>
        </p:nvSpPr>
        <p:spPr>
          <a:xfrm>
            <a:off x="6153912" y="5669280"/>
            <a:ext cx="1207008"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D4553"/>
              </a:buClr>
              <a:buSzPts val="850"/>
              <a:buFont typeface="Calibri"/>
              <a:buNone/>
            </a:pPr>
            <a:r>
              <a:rPr b="0" i="0" lang="en-US" sz="850" u="none" cap="none" strike="noStrike">
                <a:solidFill>
                  <a:srgbClr val="3D4553"/>
                </a:solidFill>
                <a:latin typeface="Calibri"/>
                <a:ea typeface="Calibri"/>
                <a:cs typeface="Calibri"/>
                <a:sym typeface="Calibri"/>
              </a:rPr>
              <a:t>Offline Docs</a:t>
            </a:r>
            <a:endParaRPr b="0" i="0" sz="850" u="none" cap="none" strike="noStrike">
              <a:solidFill>
                <a:schemeClr val="dk1"/>
              </a:solidFill>
              <a:latin typeface="Calibri"/>
              <a:ea typeface="Calibri"/>
              <a:cs typeface="Calibri"/>
              <a:sym typeface="Calibri"/>
            </a:endParaRPr>
          </a:p>
        </p:txBody>
      </p:sp>
      <p:sp>
        <p:nvSpPr>
          <p:cNvPr id="383" name="Google Shape;383;p12"/>
          <p:cNvSpPr/>
          <p:nvPr/>
        </p:nvSpPr>
        <p:spPr>
          <a:xfrm>
            <a:off x="7498080" y="5669280"/>
            <a:ext cx="1261872" cy="402336"/>
          </a:xfrm>
          <a:prstGeom prst="roundRect">
            <a:avLst>
              <a:gd fmla="val 20455" name="adj"/>
            </a:avLst>
          </a:prstGeom>
          <a:solidFill>
            <a:srgbClr val="EDF1F4"/>
          </a:solidFill>
          <a:ln cap="flat" cmpd="sng" w="12700">
            <a:solidFill>
              <a:srgbClr val="DFE3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2"/>
          <p:cNvSpPr/>
          <p:nvPr/>
        </p:nvSpPr>
        <p:spPr>
          <a:xfrm>
            <a:off x="7543800" y="5669280"/>
            <a:ext cx="1207008"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D4553"/>
              </a:buClr>
              <a:buSzPts val="850"/>
              <a:buFont typeface="Calibri"/>
              <a:buNone/>
            </a:pPr>
            <a:r>
              <a:rPr b="0" i="0" lang="en-US" sz="850" u="none" cap="none" strike="noStrike">
                <a:solidFill>
                  <a:srgbClr val="3D4553"/>
                </a:solidFill>
                <a:latin typeface="Calibri"/>
                <a:ea typeface="Calibri"/>
                <a:cs typeface="Calibri"/>
                <a:sym typeface="Calibri"/>
              </a:rPr>
              <a:t>CLI Commands</a:t>
            </a:r>
            <a:endParaRPr b="0" i="0" sz="850" u="none" cap="none" strike="noStrike">
              <a:solidFill>
                <a:schemeClr val="dk1"/>
              </a:solidFill>
              <a:latin typeface="Calibri"/>
              <a:ea typeface="Calibri"/>
              <a:cs typeface="Calibri"/>
              <a:sym typeface="Calibri"/>
            </a:endParaRPr>
          </a:p>
        </p:txBody>
      </p:sp>
      <p:sp>
        <p:nvSpPr>
          <p:cNvPr id="385" name="Google Shape;385;p12"/>
          <p:cNvSpPr/>
          <p:nvPr/>
        </p:nvSpPr>
        <p:spPr>
          <a:xfrm>
            <a:off x="8887968" y="5669280"/>
            <a:ext cx="1261872" cy="402336"/>
          </a:xfrm>
          <a:prstGeom prst="roundRect">
            <a:avLst>
              <a:gd fmla="val 20455" name="adj"/>
            </a:avLst>
          </a:prstGeom>
          <a:solidFill>
            <a:srgbClr val="EDF1F4"/>
          </a:solidFill>
          <a:ln cap="flat" cmpd="sng" w="12700">
            <a:solidFill>
              <a:srgbClr val="DFE3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2"/>
          <p:cNvSpPr/>
          <p:nvPr/>
        </p:nvSpPr>
        <p:spPr>
          <a:xfrm>
            <a:off x="8933688" y="5669280"/>
            <a:ext cx="1207008"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D4553"/>
              </a:buClr>
              <a:buSzPts val="850"/>
              <a:buFont typeface="Calibri"/>
              <a:buNone/>
            </a:pPr>
            <a:r>
              <a:rPr b="0" i="0" lang="en-US" sz="850" u="none" cap="none" strike="noStrike">
                <a:solidFill>
                  <a:srgbClr val="3D4553"/>
                </a:solidFill>
                <a:latin typeface="Calibri"/>
                <a:ea typeface="Calibri"/>
                <a:cs typeface="Calibri"/>
                <a:sym typeface="Calibri"/>
              </a:rPr>
              <a:t>Quick Tips</a:t>
            </a:r>
            <a:endParaRPr b="0" i="0" sz="850" u="none" cap="none" strike="noStrike">
              <a:solidFill>
                <a:schemeClr val="dk1"/>
              </a:solidFill>
              <a:latin typeface="Calibri"/>
              <a:ea typeface="Calibri"/>
              <a:cs typeface="Calibri"/>
              <a:sym typeface="Calibri"/>
            </a:endParaRPr>
          </a:p>
        </p:txBody>
      </p:sp>
      <p:sp>
        <p:nvSpPr>
          <p:cNvPr id="387" name="Google Shape;387;p12"/>
          <p:cNvSpPr/>
          <p:nvPr/>
        </p:nvSpPr>
        <p:spPr>
          <a:xfrm>
            <a:off x="10277856" y="5669280"/>
            <a:ext cx="1261872" cy="402336"/>
          </a:xfrm>
          <a:prstGeom prst="roundRect">
            <a:avLst>
              <a:gd fmla="val 20455" name="adj"/>
            </a:avLst>
          </a:prstGeom>
          <a:solidFill>
            <a:srgbClr val="EDF1F4"/>
          </a:solidFill>
          <a:ln cap="flat" cmpd="sng" w="12700">
            <a:solidFill>
              <a:srgbClr val="DFE3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2"/>
          <p:cNvSpPr/>
          <p:nvPr/>
        </p:nvSpPr>
        <p:spPr>
          <a:xfrm>
            <a:off x="10323576" y="5669280"/>
            <a:ext cx="1207008"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D4553"/>
              </a:buClr>
              <a:buSzPts val="850"/>
              <a:buFont typeface="Calibri"/>
              <a:buNone/>
            </a:pPr>
            <a:r>
              <a:rPr b="0" i="0" lang="en-US" sz="850" u="none" cap="none" strike="noStrike">
                <a:solidFill>
                  <a:srgbClr val="3D4553"/>
                </a:solidFill>
                <a:latin typeface="Calibri"/>
                <a:ea typeface="Calibri"/>
                <a:cs typeface="Calibri"/>
                <a:sym typeface="Calibri"/>
              </a:rPr>
              <a:t>VMware Tanzu</a:t>
            </a:r>
            <a:endParaRPr b="0" i="0" sz="850" u="none" cap="none" strike="noStrike">
              <a:solidFill>
                <a:schemeClr val="dk1"/>
              </a:solidFill>
              <a:latin typeface="Calibri"/>
              <a:ea typeface="Calibri"/>
              <a:cs typeface="Calibri"/>
              <a:sym typeface="Calibri"/>
            </a:endParaRPr>
          </a:p>
        </p:txBody>
      </p:sp>
      <p:sp>
        <p:nvSpPr>
          <p:cNvPr id="389" name="Google Shape;389;p12"/>
          <p:cNvSpPr/>
          <p:nvPr/>
        </p:nvSpPr>
        <p:spPr>
          <a:xfrm>
            <a:off x="548640" y="6355080"/>
            <a:ext cx="11064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50"/>
              <a:buFont typeface="Calibri"/>
              <a:buNone/>
            </a:pPr>
            <a:r>
              <a:rPr b="0" i="0" lang="en-US" sz="950" u="none" cap="none" strike="noStrike">
                <a:solidFill>
                  <a:srgbClr val="6B7280"/>
                </a:solidFill>
                <a:latin typeface="Calibri"/>
                <a:ea typeface="Calibri"/>
                <a:cs typeface="Calibri"/>
                <a:sym typeface="Calibri"/>
              </a:rPr>
              <a:t>Reference: goose-docs.ai/docs/category/guides — full index</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4" name="Shape 394"/>
        <p:cNvGrpSpPr/>
        <p:nvPr/>
      </p:nvGrpSpPr>
      <p:grpSpPr>
        <a:xfrm>
          <a:off x="0" y="0"/>
          <a:ext cx="0" cy="0"/>
          <a:chOff x="0" y="0"/>
          <a:chExt cx="0" cy="0"/>
        </a:xfrm>
      </p:grpSpPr>
      <p:sp>
        <p:nvSpPr>
          <p:cNvPr id="395" name="Google Shape;395;p13"/>
          <p:cNvSpPr/>
          <p:nvPr/>
        </p:nvSpPr>
        <p:spPr>
          <a:xfrm>
            <a:off x="548640" y="384048"/>
            <a:ext cx="475488" cy="475488"/>
          </a:xfrm>
          <a:prstGeom prst="roundRect">
            <a:avLst>
              <a:gd fmla="val 19231" name="adj"/>
            </a:avLst>
          </a:prstGeom>
          <a:solidFill>
            <a:srgbClr val="E09B34"/>
          </a:solidFill>
          <a:ln cap="flat" cmpd="sng" w="12700">
            <a:solidFill>
              <a:srgbClr val="E09B3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3"/>
          <p:cNvSpPr/>
          <p:nvPr/>
        </p:nvSpPr>
        <p:spPr>
          <a:xfrm>
            <a:off x="548640" y="384048"/>
            <a:ext cx="475488"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1821"/>
              </a:buClr>
              <a:buSzPts val="2000"/>
              <a:buFont typeface="Calibri"/>
              <a:buNone/>
            </a:pPr>
            <a:r>
              <a:rPr b="1" i="0" lang="en-US" sz="2000" u="none" cap="none" strike="noStrike">
                <a:solidFill>
                  <a:srgbClr val="141821"/>
                </a:solidFill>
                <a:latin typeface="Calibri"/>
                <a:ea typeface="Calibri"/>
                <a:cs typeface="Calibri"/>
                <a:sym typeface="Calibri"/>
              </a:rPr>
              <a:t>12</a:t>
            </a:r>
            <a:endParaRPr b="0" i="0" sz="2000" u="none" cap="none" strike="noStrike">
              <a:solidFill>
                <a:schemeClr val="dk1"/>
              </a:solidFill>
              <a:latin typeface="Calibri"/>
              <a:ea typeface="Calibri"/>
              <a:cs typeface="Calibri"/>
              <a:sym typeface="Calibri"/>
            </a:endParaRPr>
          </a:p>
        </p:txBody>
      </p:sp>
      <p:sp>
        <p:nvSpPr>
          <p:cNvPr id="397" name="Google Shape;397;p13"/>
          <p:cNvSpPr/>
          <p:nvPr/>
        </p:nvSpPr>
        <p:spPr>
          <a:xfrm>
            <a:off x="1170432" y="347472"/>
            <a:ext cx="104241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821"/>
              </a:buClr>
              <a:buSzPts val="3000"/>
              <a:buFont typeface="Calibri"/>
              <a:buNone/>
            </a:pPr>
            <a:r>
              <a:rPr b="1" i="0" lang="en-US" sz="3000" u="none" cap="none" strike="noStrike">
                <a:solidFill>
                  <a:srgbClr val="141821"/>
                </a:solidFill>
                <a:latin typeface="Calibri"/>
                <a:ea typeface="Calibri"/>
                <a:cs typeface="Calibri"/>
                <a:sym typeface="Calibri"/>
              </a:rPr>
              <a:t>Introduction to the Agent Client Protocol</a:t>
            </a:r>
            <a:endParaRPr b="0" i="0" sz="3000" u="none" cap="none" strike="noStrike">
              <a:solidFill>
                <a:schemeClr val="dk1"/>
              </a:solidFill>
              <a:latin typeface="Calibri"/>
              <a:ea typeface="Calibri"/>
              <a:cs typeface="Calibri"/>
              <a:sym typeface="Calibri"/>
            </a:endParaRPr>
          </a:p>
        </p:txBody>
      </p:sp>
      <p:sp>
        <p:nvSpPr>
          <p:cNvPr id="398" name="Google Shape;398;p13"/>
          <p:cNvSpPr/>
          <p:nvPr/>
        </p:nvSpPr>
        <p:spPr>
          <a:xfrm>
            <a:off x="1170432" y="914400"/>
            <a:ext cx="104241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300"/>
              <a:buFont typeface="Calibri"/>
              <a:buNone/>
            </a:pPr>
            <a:r>
              <a:rPr b="0" i="1" lang="en-US" sz="1300" u="none" cap="none" strike="noStrike">
                <a:solidFill>
                  <a:srgbClr val="6B7280"/>
                </a:solidFill>
                <a:latin typeface="Calibri"/>
                <a:ea typeface="Calibri"/>
                <a:cs typeface="Calibri"/>
                <a:sym typeface="Calibri"/>
              </a:rPr>
              <a:t>ACP is to agents what LSP was to language tooling — one interface, many clients, many agents</a:t>
            </a:r>
            <a:endParaRPr b="0" i="0" sz="1300" u="none" cap="none" strike="noStrike">
              <a:solidFill>
                <a:schemeClr val="dk1"/>
              </a:solidFill>
              <a:latin typeface="Calibri"/>
              <a:ea typeface="Calibri"/>
              <a:cs typeface="Calibri"/>
              <a:sym typeface="Calibri"/>
            </a:endParaRPr>
          </a:p>
        </p:txBody>
      </p:sp>
      <p:sp>
        <p:nvSpPr>
          <p:cNvPr id="399" name="Google Shape;399;p13"/>
          <p:cNvSpPr/>
          <p:nvPr/>
        </p:nvSpPr>
        <p:spPr>
          <a:xfrm>
            <a:off x="548640" y="1572768"/>
            <a:ext cx="3108960" cy="1371600"/>
          </a:xfrm>
          <a:prstGeom prst="roundRect">
            <a:avLst>
              <a:gd fmla="val 5333" name="adj"/>
            </a:avLst>
          </a:prstGeom>
          <a:solidFill>
            <a:srgbClr val="F4F6F8"/>
          </a:solidFill>
          <a:ln cap="flat" cmpd="sng" w="12700">
            <a:solidFill>
              <a:srgbClr val="DFE3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3"/>
          <p:cNvSpPr/>
          <p:nvPr/>
        </p:nvSpPr>
        <p:spPr>
          <a:xfrm>
            <a:off x="713232" y="1755648"/>
            <a:ext cx="2779776" cy="100584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41821"/>
              </a:buClr>
              <a:buSzPts val="1300"/>
              <a:buFont typeface="Calibri"/>
              <a:buNone/>
            </a:pPr>
            <a:r>
              <a:rPr b="1" i="0" lang="en-US" sz="1300" u="none" cap="none" strike="noStrike">
                <a:solidFill>
                  <a:srgbClr val="141821"/>
                </a:solidFill>
                <a:latin typeface="Calibri"/>
                <a:ea typeface="Calibri"/>
                <a:cs typeface="Calibri"/>
                <a:sym typeface="Calibri"/>
              </a:rPr>
              <a:t>CLIENT</a:t>
            </a:r>
            <a:endParaRPr b="0" i="0" sz="1300" u="none" cap="none" strike="noStrike">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rgbClr val="4A5262"/>
              </a:buClr>
              <a:buSzPts val="1050"/>
              <a:buFont typeface="Calibri"/>
              <a:buNone/>
            </a:pPr>
            <a:r>
              <a:rPr b="0" i="0" lang="en-US" sz="1050" u="none" cap="none" strike="noStrike">
                <a:solidFill>
                  <a:srgbClr val="4A5262"/>
                </a:solidFill>
                <a:latin typeface="Calibri"/>
                <a:ea typeface="Calibri"/>
                <a:cs typeface="Calibri"/>
                <a:sym typeface="Calibri"/>
              </a:rPr>
              <a:t>Zed · JetBrains · goose Desktop · your own app</a:t>
            </a:r>
            <a:endParaRPr b="0" i="0" sz="1300" u="none" cap="none" strike="noStrike">
              <a:solidFill>
                <a:schemeClr val="dk1"/>
              </a:solidFill>
              <a:latin typeface="Calibri"/>
              <a:ea typeface="Calibri"/>
              <a:cs typeface="Calibri"/>
              <a:sym typeface="Calibri"/>
            </a:endParaRPr>
          </a:p>
        </p:txBody>
      </p:sp>
      <p:sp>
        <p:nvSpPr>
          <p:cNvPr id="401" name="Google Shape;401;p13"/>
          <p:cNvSpPr/>
          <p:nvPr/>
        </p:nvSpPr>
        <p:spPr>
          <a:xfrm>
            <a:off x="4206240" y="1865376"/>
            <a:ext cx="1737360" cy="786384"/>
          </a:xfrm>
          <a:prstGeom prst="roundRect">
            <a:avLst>
              <a:gd fmla="val 50000" name="adj"/>
            </a:avLst>
          </a:prstGeom>
          <a:solidFill>
            <a:srgbClr val="E09B34"/>
          </a:solidFill>
          <a:ln cap="flat" cmpd="sng" w="12700">
            <a:solidFill>
              <a:srgbClr val="E09B3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3"/>
          <p:cNvSpPr/>
          <p:nvPr/>
        </p:nvSpPr>
        <p:spPr>
          <a:xfrm>
            <a:off x="4206240" y="1865376"/>
            <a:ext cx="1737360" cy="7863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1821"/>
              </a:buClr>
              <a:buSzPts val="2000"/>
              <a:buFont typeface="Calibri"/>
              <a:buNone/>
            </a:pPr>
            <a:r>
              <a:rPr b="1" i="0" lang="en-US" sz="2000" u="none" cap="none" strike="noStrike">
                <a:solidFill>
                  <a:srgbClr val="141821"/>
                </a:solidFill>
                <a:latin typeface="Calibri"/>
                <a:ea typeface="Calibri"/>
                <a:cs typeface="Calibri"/>
                <a:sym typeface="Calibri"/>
              </a:rPr>
              <a:t>ACP</a:t>
            </a:r>
            <a:endParaRPr b="0" i="0" sz="2000" u="none" cap="none" strike="noStrike">
              <a:solidFill>
                <a:schemeClr val="dk1"/>
              </a:solidFill>
              <a:latin typeface="Calibri"/>
              <a:ea typeface="Calibri"/>
              <a:cs typeface="Calibri"/>
              <a:sym typeface="Calibri"/>
            </a:endParaRPr>
          </a:p>
        </p:txBody>
      </p:sp>
      <p:sp>
        <p:nvSpPr>
          <p:cNvPr id="403" name="Google Shape;403;p13"/>
          <p:cNvSpPr/>
          <p:nvPr/>
        </p:nvSpPr>
        <p:spPr>
          <a:xfrm>
            <a:off x="3977640" y="2670048"/>
            <a:ext cx="219456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280"/>
              </a:buClr>
              <a:buSzPts val="900"/>
              <a:buFont typeface="Calibri"/>
              <a:buNone/>
            </a:pPr>
            <a:r>
              <a:rPr b="0" i="0" lang="en-US" sz="900" u="none" cap="none" strike="noStrike">
                <a:solidFill>
                  <a:srgbClr val="6B7280"/>
                </a:solidFill>
                <a:latin typeface="Calibri"/>
                <a:ea typeface="Calibri"/>
                <a:cs typeface="Calibri"/>
                <a:sym typeface="Calibri"/>
              </a:rPr>
              <a:t>←  stdio / JSON-RPC  →</a:t>
            </a:r>
            <a:endParaRPr b="0" i="0" sz="900" u="none" cap="none" strike="noStrike">
              <a:solidFill>
                <a:schemeClr val="dk1"/>
              </a:solidFill>
              <a:latin typeface="Calibri"/>
              <a:ea typeface="Calibri"/>
              <a:cs typeface="Calibri"/>
              <a:sym typeface="Calibri"/>
            </a:endParaRPr>
          </a:p>
        </p:txBody>
      </p:sp>
      <p:sp>
        <p:nvSpPr>
          <p:cNvPr id="404" name="Google Shape;404;p13"/>
          <p:cNvSpPr/>
          <p:nvPr/>
        </p:nvSpPr>
        <p:spPr>
          <a:xfrm>
            <a:off x="6492240" y="1572768"/>
            <a:ext cx="3108960" cy="1371600"/>
          </a:xfrm>
          <a:prstGeom prst="roundRect">
            <a:avLst>
              <a:gd fmla="val 5333" name="adj"/>
            </a:avLst>
          </a:prstGeom>
          <a:solidFill>
            <a:srgbClr val="141821"/>
          </a:solidFill>
          <a:ln cap="flat" cmpd="sng" w="12700">
            <a:solidFill>
              <a:srgbClr val="1418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3"/>
          <p:cNvSpPr/>
          <p:nvPr/>
        </p:nvSpPr>
        <p:spPr>
          <a:xfrm>
            <a:off x="6656832" y="1755648"/>
            <a:ext cx="2779776" cy="100584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E09B34"/>
              </a:buClr>
              <a:buSzPts val="1300"/>
              <a:buFont typeface="Calibri"/>
              <a:buNone/>
            </a:pPr>
            <a:r>
              <a:rPr b="1" i="0" lang="en-US" sz="1300" u="none" cap="none" strike="noStrike">
                <a:solidFill>
                  <a:srgbClr val="E09B34"/>
                </a:solidFill>
                <a:latin typeface="Calibri"/>
                <a:ea typeface="Calibri"/>
                <a:cs typeface="Calibri"/>
                <a:sym typeface="Calibri"/>
              </a:rPr>
              <a:t>AGENT</a:t>
            </a:r>
            <a:endParaRPr b="0" i="0" sz="1300" u="none" cap="none" strike="noStrike">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rgbClr val="B8C1D0"/>
              </a:buClr>
              <a:buSzPts val="1050"/>
              <a:buFont typeface="Calibri"/>
              <a:buNone/>
            </a:pPr>
            <a:r>
              <a:rPr b="0" i="0" lang="en-US" sz="1050" u="none" cap="none" strike="noStrike">
                <a:solidFill>
                  <a:srgbClr val="B8C1D0"/>
                </a:solidFill>
                <a:latin typeface="Calibri"/>
                <a:ea typeface="Calibri"/>
                <a:cs typeface="Calibri"/>
                <a:sym typeface="Calibri"/>
              </a:rPr>
              <a:t>goose acp — the runtime, running as its own process or daemon</a:t>
            </a:r>
            <a:endParaRPr b="0" i="0" sz="1300" u="none" cap="none" strike="noStrike">
              <a:solidFill>
                <a:schemeClr val="dk1"/>
              </a:solidFill>
              <a:latin typeface="Calibri"/>
              <a:ea typeface="Calibri"/>
              <a:cs typeface="Calibri"/>
              <a:sym typeface="Calibri"/>
            </a:endParaRPr>
          </a:p>
        </p:txBody>
      </p:sp>
      <p:sp>
        <p:nvSpPr>
          <p:cNvPr id="406" name="Google Shape;406;p13"/>
          <p:cNvSpPr/>
          <p:nvPr/>
        </p:nvSpPr>
        <p:spPr>
          <a:xfrm>
            <a:off x="10149840" y="1572768"/>
            <a:ext cx="1481328" cy="1371600"/>
          </a:xfrm>
          <a:prstGeom prst="roundRect">
            <a:avLst>
              <a:gd fmla="val 5333" name="adj"/>
            </a:avLst>
          </a:prstGeom>
          <a:solidFill>
            <a:srgbClr val="EDF1F4"/>
          </a:solidFill>
          <a:ln cap="flat" cmpd="sng" w="12700">
            <a:solidFill>
              <a:srgbClr val="DFE3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3"/>
          <p:cNvSpPr/>
          <p:nvPr/>
        </p:nvSpPr>
        <p:spPr>
          <a:xfrm>
            <a:off x="10296144" y="1865376"/>
            <a:ext cx="1207008" cy="82296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41821"/>
              </a:buClr>
              <a:buSzPts val="1200"/>
              <a:buFont typeface="Calibri"/>
              <a:buNone/>
            </a:pPr>
            <a:r>
              <a:rPr b="1" i="0" lang="en-US" sz="1200" u="none" cap="none" strike="noStrike">
                <a:solidFill>
                  <a:srgbClr val="141821"/>
                </a:solidFill>
                <a:latin typeface="Calibri"/>
                <a:ea typeface="Calibri"/>
                <a:cs typeface="Calibri"/>
                <a:sym typeface="Calibri"/>
              </a:rPr>
              <a:t>MCP</a:t>
            </a:r>
            <a:endParaRPr b="0" i="0" sz="1200" u="none" cap="none" strike="noStrike">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rgbClr val="4A5262"/>
              </a:buClr>
              <a:buSzPts val="950"/>
              <a:buFont typeface="Calibri"/>
              <a:buNone/>
            </a:pPr>
            <a:r>
              <a:rPr b="0" i="0" lang="en-US" sz="950" u="none" cap="none" strike="noStrike">
                <a:solidFill>
                  <a:srgbClr val="4A5262"/>
                </a:solidFill>
                <a:latin typeface="Calibri"/>
                <a:ea typeface="Calibri"/>
                <a:cs typeface="Calibri"/>
                <a:sym typeface="Calibri"/>
              </a:rPr>
              <a:t>extensions &amp; tools</a:t>
            </a:r>
            <a:endParaRPr b="0" i="0" sz="1200" u="none" cap="none" strike="noStrike">
              <a:solidFill>
                <a:schemeClr val="dk1"/>
              </a:solidFill>
              <a:latin typeface="Calibri"/>
              <a:ea typeface="Calibri"/>
              <a:cs typeface="Calibri"/>
              <a:sym typeface="Calibri"/>
            </a:endParaRPr>
          </a:p>
        </p:txBody>
      </p:sp>
      <p:sp>
        <p:nvSpPr>
          <p:cNvPr id="408" name="Google Shape;408;p13"/>
          <p:cNvSpPr/>
          <p:nvPr/>
        </p:nvSpPr>
        <p:spPr>
          <a:xfrm>
            <a:off x="9601200" y="1572768"/>
            <a:ext cx="548640" cy="137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280"/>
              </a:buClr>
              <a:buSzPts val="1800"/>
              <a:buFont typeface="Calibri"/>
              <a:buNone/>
            </a:pPr>
            <a:r>
              <a:rPr b="1" i="0" lang="en-US" sz="1800" u="none" cap="none" strike="noStrike">
                <a:solidFill>
                  <a:srgbClr val="6B7280"/>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409" name="Google Shape;409;p13"/>
          <p:cNvSpPr/>
          <p:nvPr/>
        </p:nvSpPr>
        <p:spPr>
          <a:xfrm>
            <a:off x="548640" y="3246120"/>
            <a:ext cx="5440680" cy="1965960"/>
          </a:xfrm>
          <a:prstGeom prst="roundRect">
            <a:avLst>
              <a:gd fmla="val 2791" name="adj"/>
            </a:avLst>
          </a:prstGeom>
          <a:solidFill>
            <a:srgbClr val="F4F6F8"/>
          </a:solidFill>
          <a:ln cap="flat" cmpd="sng" w="12700">
            <a:solidFill>
              <a:srgbClr val="F4F6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3"/>
          <p:cNvSpPr/>
          <p:nvPr/>
        </p:nvSpPr>
        <p:spPr>
          <a:xfrm>
            <a:off x="749808" y="3410712"/>
            <a:ext cx="50383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821"/>
              </a:buClr>
              <a:buSzPts val="1400"/>
              <a:buFont typeface="Calibri"/>
              <a:buNone/>
            </a:pPr>
            <a:r>
              <a:rPr b="1" i="0" lang="en-US" sz="1400" u="none" cap="none" strike="noStrike">
                <a:solidFill>
                  <a:srgbClr val="141821"/>
                </a:solidFill>
                <a:latin typeface="Calibri"/>
                <a:ea typeface="Calibri"/>
                <a:cs typeface="Calibri"/>
                <a:sym typeface="Calibri"/>
              </a:rPr>
              <a:t>Direction 1 — goose as an ACP server</a:t>
            </a:r>
            <a:endParaRPr b="0" i="0" sz="1400" u="none" cap="none" strike="noStrike">
              <a:solidFill>
                <a:schemeClr val="dk1"/>
              </a:solidFill>
              <a:latin typeface="Calibri"/>
              <a:ea typeface="Calibri"/>
              <a:cs typeface="Calibri"/>
              <a:sym typeface="Calibri"/>
            </a:endParaRPr>
          </a:p>
        </p:txBody>
      </p:sp>
      <p:sp>
        <p:nvSpPr>
          <p:cNvPr id="411" name="Google Shape;411;p13"/>
          <p:cNvSpPr/>
          <p:nvPr/>
        </p:nvSpPr>
        <p:spPr>
          <a:xfrm>
            <a:off x="749808" y="3721608"/>
            <a:ext cx="5038344" cy="1362456"/>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3D4553"/>
              </a:buClr>
              <a:buSzPts val="1150"/>
              <a:buFont typeface="Calibri"/>
              <a:buNone/>
            </a:pPr>
            <a:r>
              <a:rPr b="0" i="0" lang="en-US" sz="1150" u="none" cap="none" strike="noStrike">
                <a:solidFill>
                  <a:srgbClr val="3D4553"/>
                </a:solidFill>
                <a:latin typeface="Calibri"/>
                <a:ea typeface="Calibri"/>
                <a:cs typeface="Calibri"/>
                <a:sym typeface="Calibri"/>
              </a:rPr>
              <a:t>goose acp starts goose as an ACP server over stdio. Editors that speak ACP — Zed, JetBrains and others — connect to it directly and drive the agent from inside the editor.</a:t>
            </a:r>
            <a:endParaRPr b="0" i="0" sz="11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chemeClr val="dk1"/>
              </a:buClr>
              <a:buSzPts val="1150"/>
              <a:buFont typeface="Calibri"/>
              <a:buNone/>
            </a:pPr>
            <a:r>
              <a:t/>
            </a:r>
            <a:endParaRPr b="0" i="0" sz="11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3D4553"/>
              </a:buClr>
              <a:buSzPts val="1150"/>
              <a:buFont typeface="Calibri"/>
              <a:buNone/>
            </a:pPr>
            <a:r>
              <a:rPr b="0" i="0" lang="en-US" sz="1150" u="none" cap="none" strike="noStrike">
                <a:solidFill>
                  <a:srgbClr val="3D4553"/>
                </a:solidFill>
                <a:latin typeface="Calibri"/>
                <a:ea typeface="Calibri"/>
                <a:cs typeface="Calibri"/>
                <a:sym typeface="Calibri"/>
              </a:rPr>
              <a:t>The interface and the agent runtime stay separate processes, which is exactly what you want for a durable local agent.</a:t>
            </a:r>
            <a:endParaRPr b="0" i="0" sz="1150" u="none" cap="none" strike="noStrike">
              <a:solidFill>
                <a:schemeClr val="dk1"/>
              </a:solidFill>
              <a:latin typeface="Calibri"/>
              <a:ea typeface="Calibri"/>
              <a:cs typeface="Calibri"/>
              <a:sym typeface="Calibri"/>
            </a:endParaRPr>
          </a:p>
        </p:txBody>
      </p:sp>
      <p:sp>
        <p:nvSpPr>
          <p:cNvPr id="412" name="Google Shape;412;p13"/>
          <p:cNvSpPr/>
          <p:nvPr/>
        </p:nvSpPr>
        <p:spPr>
          <a:xfrm>
            <a:off x="6190488" y="3246120"/>
            <a:ext cx="5440680" cy="1965960"/>
          </a:xfrm>
          <a:prstGeom prst="roundRect">
            <a:avLst>
              <a:gd fmla="val 2791" name="adj"/>
            </a:avLst>
          </a:prstGeom>
          <a:solidFill>
            <a:srgbClr val="EDF1F4"/>
          </a:solidFill>
          <a:ln cap="flat" cmpd="sng" w="12700">
            <a:solidFill>
              <a:srgbClr val="EDF1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3"/>
          <p:cNvSpPr/>
          <p:nvPr/>
        </p:nvSpPr>
        <p:spPr>
          <a:xfrm>
            <a:off x="6391656" y="3410712"/>
            <a:ext cx="50383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821"/>
              </a:buClr>
              <a:buSzPts val="1400"/>
              <a:buFont typeface="Calibri"/>
              <a:buNone/>
            </a:pPr>
            <a:r>
              <a:rPr b="1" i="0" lang="en-US" sz="1400" u="none" cap="none" strike="noStrike">
                <a:solidFill>
                  <a:srgbClr val="141821"/>
                </a:solidFill>
                <a:latin typeface="Calibri"/>
                <a:ea typeface="Calibri"/>
                <a:cs typeface="Calibri"/>
                <a:sym typeface="Calibri"/>
              </a:rPr>
              <a:t>Direction 2 — ACP agents as goose providers</a:t>
            </a:r>
            <a:endParaRPr b="0" i="0" sz="1400" u="none" cap="none" strike="noStrike">
              <a:solidFill>
                <a:schemeClr val="dk1"/>
              </a:solidFill>
              <a:latin typeface="Calibri"/>
              <a:ea typeface="Calibri"/>
              <a:cs typeface="Calibri"/>
              <a:sym typeface="Calibri"/>
            </a:endParaRPr>
          </a:p>
        </p:txBody>
      </p:sp>
      <p:sp>
        <p:nvSpPr>
          <p:cNvPr id="414" name="Google Shape;414;p13"/>
          <p:cNvSpPr/>
          <p:nvPr/>
        </p:nvSpPr>
        <p:spPr>
          <a:xfrm>
            <a:off x="6391656" y="3721608"/>
            <a:ext cx="5038344" cy="1362456"/>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3D4553"/>
              </a:buClr>
              <a:buSzPts val="1150"/>
              <a:buFont typeface="Calibri"/>
              <a:buNone/>
            </a:pPr>
            <a:r>
              <a:rPr b="0" i="0" lang="en-US" sz="1150" u="none" cap="none" strike="noStrike">
                <a:solidFill>
                  <a:srgbClr val="3D4553"/>
                </a:solidFill>
                <a:latin typeface="Calibri"/>
                <a:ea typeface="Calibri"/>
                <a:cs typeface="Calibri"/>
                <a:sym typeface="Calibri"/>
              </a:rPr>
              <a:t>goose can also delegate to an external ACP agent such as Claude Code (claude-acp) or Codex (codex-acp). That agent handles tool execution internally, while goose passes its configured extensions through as MCP servers.</a:t>
            </a:r>
            <a:endParaRPr b="0" i="0" sz="11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chemeClr val="dk1"/>
              </a:buClr>
              <a:buSzPts val="1150"/>
              <a:buFont typeface="Calibri"/>
              <a:buNone/>
            </a:pPr>
            <a:r>
              <a:t/>
            </a:r>
            <a:endParaRPr b="0" i="0" sz="11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3D4553"/>
              </a:buClr>
              <a:buSzPts val="1150"/>
              <a:buFont typeface="Calibri"/>
              <a:buNone/>
            </a:pPr>
            <a:r>
              <a:rPr b="0" i="0" lang="en-US" sz="1150" u="none" cap="none" strike="noStrike">
                <a:solidFill>
                  <a:srgbClr val="3D4553"/>
                </a:solidFill>
                <a:latin typeface="Calibri"/>
                <a:ea typeface="Calibri"/>
                <a:cs typeface="Calibri"/>
                <a:sym typeface="Calibri"/>
              </a:rPr>
              <a:t>You keep goose’s sessions, recipes and scheduling on top of someone else’s model subscription.</a:t>
            </a:r>
            <a:endParaRPr b="0" i="0" sz="1150" u="none" cap="none" strike="noStrike">
              <a:solidFill>
                <a:schemeClr val="dk1"/>
              </a:solidFill>
              <a:latin typeface="Calibri"/>
              <a:ea typeface="Calibri"/>
              <a:cs typeface="Calibri"/>
              <a:sym typeface="Calibri"/>
            </a:endParaRPr>
          </a:p>
        </p:txBody>
      </p:sp>
      <p:sp>
        <p:nvSpPr>
          <p:cNvPr id="415" name="Google Shape;415;p13"/>
          <p:cNvSpPr/>
          <p:nvPr/>
        </p:nvSpPr>
        <p:spPr>
          <a:xfrm>
            <a:off x="548640" y="5394960"/>
            <a:ext cx="11082528" cy="5486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F7A8C"/>
              </a:buClr>
              <a:buSzPts val="1200"/>
              <a:buFont typeface="Calibri"/>
              <a:buNone/>
            </a:pPr>
            <a:r>
              <a:rPr b="0" i="1" lang="en-US" sz="1200" u="none" cap="none" strike="noStrike">
                <a:solidFill>
                  <a:srgbClr val="1F7A8C"/>
                </a:solidFill>
                <a:latin typeface="Calibri"/>
                <a:ea typeface="Calibri"/>
                <a:cs typeface="Calibri"/>
                <a:sym typeface="Calibri"/>
              </a:rPr>
              <a:t>Why it matters: ACP decouples the interface from the runtime. One protocol means an agent is no longer trapped inside the client that shipped it — and it is the same protocol the goose Development Kit builds on.</a:t>
            </a:r>
            <a:endParaRPr b="0" i="0" sz="1200" u="none" cap="none" strike="noStrike">
              <a:solidFill>
                <a:schemeClr val="dk1"/>
              </a:solidFill>
              <a:latin typeface="Calibri"/>
              <a:ea typeface="Calibri"/>
              <a:cs typeface="Calibri"/>
              <a:sym typeface="Calibri"/>
            </a:endParaRPr>
          </a:p>
        </p:txBody>
      </p:sp>
      <p:sp>
        <p:nvSpPr>
          <p:cNvPr id="416" name="Google Shape;416;p13"/>
          <p:cNvSpPr/>
          <p:nvPr/>
        </p:nvSpPr>
        <p:spPr>
          <a:xfrm>
            <a:off x="548640" y="6355080"/>
            <a:ext cx="11064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50"/>
              <a:buFont typeface="Calibri"/>
              <a:buNone/>
            </a:pPr>
            <a:r>
              <a:rPr b="0" i="0" lang="en-US" sz="950" u="none" cap="none" strike="noStrike">
                <a:solidFill>
                  <a:srgbClr val="6B7280"/>
                </a:solidFill>
                <a:latin typeface="Calibri"/>
                <a:ea typeface="Calibri"/>
                <a:cs typeface="Calibri"/>
                <a:sym typeface="Calibri"/>
              </a:rPr>
              <a:t>Reference: agentclientprotocol.com · goose-docs.ai/docs/guides/acp-clients · /guides/acp-providers</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1" name="Shape 421"/>
        <p:cNvGrpSpPr/>
        <p:nvPr/>
      </p:nvGrpSpPr>
      <p:grpSpPr>
        <a:xfrm>
          <a:off x="0" y="0"/>
          <a:ext cx="0" cy="0"/>
          <a:chOff x="0" y="0"/>
          <a:chExt cx="0" cy="0"/>
        </a:xfrm>
      </p:grpSpPr>
      <p:sp>
        <p:nvSpPr>
          <p:cNvPr id="422" name="Google Shape;422;g3f97e5f1111_0_0"/>
          <p:cNvSpPr/>
          <p:nvPr/>
        </p:nvSpPr>
        <p:spPr>
          <a:xfrm>
            <a:off x="548640" y="384048"/>
            <a:ext cx="475500" cy="475500"/>
          </a:xfrm>
          <a:prstGeom prst="roundRect">
            <a:avLst>
              <a:gd fmla="val 19231" name="adj"/>
            </a:avLst>
          </a:prstGeom>
          <a:solidFill>
            <a:srgbClr val="E09B34"/>
          </a:solidFill>
          <a:ln cap="flat" cmpd="sng" w="12700">
            <a:solidFill>
              <a:srgbClr val="E09B3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g3f97e5f1111_0_0"/>
          <p:cNvSpPr/>
          <p:nvPr/>
        </p:nvSpPr>
        <p:spPr>
          <a:xfrm>
            <a:off x="548640" y="384048"/>
            <a:ext cx="475500" cy="475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1821"/>
              </a:buClr>
              <a:buSzPts val="2000"/>
              <a:buFont typeface="Calibri"/>
              <a:buNone/>
            </a:pPr>
            <a:r>
              <a:rPr b="1" i="0" lang="en-US" sz="2000" u="none" cap="none" strike="noStrike">
                <a:solidFill>
                  <a:srgbClr val="141821"/>
                </a:solidFill>
                <a:latin typeface="Calibri"/>
                <a:ea typeface="Calibri"/>
                <a:cs typeface="Calibri"/>
                <a:sym typeface="Calibri"/>
              </a:rPr>
              <a:t>13</a:t>
            </a:r>
            <a:endParaRPr b="0" i="0" sz="2000" u="none" cap="none" strike="noStrike">
              <a:solidFill>
                <a:schemeClr val="dk1"/>
              </a:solidFill>
              <a:latin typeface="Calibri"/>
              <a:ea typeface="Calibri"/>
              <a:cs typeface="Calibri"/>
              <a:sym typeface="Calibri"/>
            </a:endParaRPr>
          </a:p>
        </p:txBody>
      </p:sp>
      <p:sp>
        <p:nvSpPr>
          <p:cNvPr id="424" name="Google Shape;424;g3f97e5f1111_0_0"/>
          <p:cNvSpPr/>
          <p:nvPr/>
        </p:nvSpPr>
        <p:spPr>
          <a:xfrm>
            <a:off x="1170432" y="347472"/>
            <a:ext cx="104241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821"/>
              </a:buClr>
              <a:buSzPts val="3000"/>
              <a:buFont typeface="Calibri"/>
              <a:buNone/>
            </a:pPr>
            <a:r>
              <a:rPr b="1" i="0" lang="en-US" sz="3000" u="none" cap="none" strike="noStrike">
                <a:solidFill>
                  <a:srgbClr val="141821"/>
                </a:solidFill>
                <a:latin typeface="Calibri"/>
                <a:ea typeface="Calibri"/>
                <a:cs typeface="Calibri"/>
                <a:sym typeface="Calibri"/>
              </a:rPr>
              <a:t>goose Architecture</a:t>
            </a:r>
            <a:endParaRPr b="0" i="0" sz="3000" u="none" cap="none" strike="noStrike">
              <a:solidFill>
                <a:schemeClr val="dk1"/>
              </a:solidFill>
              <a:latin typeface="Calibri"/>
              <a:ea typeface="Calibri"/>
              <a:cs typeface="Calibri"/>
              <a:sym typeface="Calibri"/>
            </a:endParaRPr>
          </a:p>
        </p:txBody>
      </p:sp>
      <p:sp>
        <p:nvSpPr>
          <p:cNvPr id="425" name="Google Shape;425;g3f97e5f1111_0_0"/>
          <p:cNvSpPr/>
          <p:nvPr/>
        </p:nvSpPr>
        <p:spPr>
          <a:xfrm>
            <a:off x="1170432" y="914400"/>
            <a:ext cx="104241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300"/>
              <a:buFont typeface="Calibri"/>
              <a:buNone/>
            </a:pPr>
            <a:r>
              <a:rPr b="0" i="1" lang="en-US" sz="1300" u="none" cap="none" strike="noStrike">
                <a:solidFill>
                  <a:srgbClr val="6B7280"/>
                </a:solidFill>
                <a:latin typeface="Calibri"/>
                <a:ea typeface="Calibri"/>
                <a:cs typeface="Calibri"/>
                <a:sym typeface="Calibri"/>
              </a:rPr>
              <a:t>Three components, one interactive loop — this is the whole system</a:t>
            </a:r>
            <a:endParaRPr b="0" i="0" sz="1300" u="none" cap="none" strike="noStrike">
              <a:solidFill>
                <a:schemeClr val="dk1"/>
              </a:solidFill>
              <a:latin typeface="Calibri"/>
              <a:ea typeface="Calibri"/>
              <a:cs typeface="Calibri"/>
              <a:sym typeface="Calibri"/>
            </a:endParaRPr>
          </a:p>
        </p:txBody>
      </p:sp>
      <p:pic>
        <p:nvPicPr>
          <p:cNvPr id="426" name="Google Shape;426;g3f97e5f1111_0_0"/>
          <p:cNvPicPr preferRelativeResize="0"/>
          <p:nvPr/>
        </p:nvPicPr>
        <p:blipFill>
          <a:blip r:embed="rId3">
            <a:alphaModFix/>
          </a:blip>
          <a:stretch>
            <a:fillRect/>
          </a:stretch>
        </p:blipFill>
        <p:spPr>
          <a:xfrm>
            <a:off x="152400" y="1359300"/>
            <a:ext cx="11887200" cy="473541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pic>
        <p:nvPicPr>
          <p:cNvPr descr="Beautify this slide and make it very high resolution. " id="432" name="Google Shape;432;g3f97e5f1111_0_56"/>
          <p:cNvPicPr preferRelativeResize="0"/>
          <p:nvPr/>
        </p:nvPicPr>
        <p:blipFill>
          <a:blip r:embed="rId3">
            <a:alphaModFix/>
          </a:blip>
          <a:stretch>
            <a:fillRect/>
          </a:stretch>
        </p:blipFill>
        <p:spPr>
          <a:xfrm>
            <a:off x="-47625" y="0"/>
            <a:ext cx="12287250" cy="6858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7" name="Shape 437"/>
        <p:cNvGrpSpPr/>
        <p:nvPr/>
      </p:nvGrpSpPr>
      <p:grpSpPr>
        <a:xfrm>
          <a:off x="0" y="0"/>
          <a:ext cx="0" cy="0"/>
          <a:chOff x="0" y="0"/>
          <a:chExt cx="0" cy="0"/>
        </a:xfrm>
      </p:grpSpPr>
      <p:sp>
        <p:nvSpPr>
          <p:cNvPr id="438" name="Google Shape;438;p14"/>
          <p:cNvSpPr/>
          <p:nvPr/>
        </p:nvSpPr>
        <p:spPr>
          <a:xfrm>
            <a:off x="548640" y="384048"/>
            <a:ext cx="475488" cy="475488"/>
          </a:xfrm>
          <a:prstGeom prst="roundRect">
            <a:avLst>
              <a:gd fmla="val 19231" name="adj"/>
            </a:avLst>
          </a:prstGeom>
          <a:solidFill>
            <a:srgbClr val="E09B34"/>
          </a:solidFill>
          <a:ln cap="flat" cmpd="sng" w="12700">
            <a:solidFill>
              <a:srgbClr val="E09B3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4"/>
          <p:cNvSpPr/>
          <p:nvPr/>
        </p:nvSpPr>
        <p:spPr>
          <a:xfrm>
            <a:off x="548640" y="384048"/>
            <a:ext cx="475488"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1821"/>
              </a:buClr>
              <a:buSzPts val="2000"/>
              <a:buFont typeface="Calibri"/>
              <a:buNone/>
            </a:pPr>
            <a:r>
              <a:rPr b="1" i="0" lang="en-US" sz="2000" u="none" cap="none" strike="noStrike">
                <a:solidFill>
                  <a:srgbClr val="141821"/>
                </a:solidFill>
                <a:latin typeface="Calibri"/>
                <a:ea typeface="Calibri"/>
                <a:cs typeface="Calibri"/>
                <a:sym typeface="Calibri"/>
              </a:rPr>
              <a:t>13</a:t>
            </a:r>
            <a:endParaRPr b="0" i="0" sz="2000" u="none" cap="none" strike="noStrike">
              <a:solidFill>
                <a:schemeClr val="dk1"/>
              </a:solidFill>
              <a:latin typeface="Calibri"/>
              <a:ea typeface="Calibri"/>
              <a:cs typeface="Calibri"/>
              <a:sym typeface="Calibri"/>
            </a:endParaRPr>
          </a:p>
        </p:txBody>
      </p:sp>
      <p:sp>
        <p:nvSpPr>
          <p:cNvPr id="440" name="Google Shape;440;p14"/>
          <p:cNvSpPr/>
          <p:nvPr/>
        </p:nvSpPr>
        <p:spPr>
          <a:xfrm>
            <a:off x="1170432" y="347472"/>
            <a:ext cx="104241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821"/>
              </a:buClr>
              <a:buSzPts val="3000"/>
              <a:buFont typeface="Calibri"/>
              <a:buNone/>
            </a:pPr>
            <a:r>
              <a:rPr b="1" i="0" lang="en-US" sz="3000" u="none" cap="none" strike="noStrike">
                <a:solidFill>
                  <a:srgbClr val="141821"/>
                </a:solidFill>
                <a:latin typeface="Calibri"/>
                <a:ea typeface="Calibri"/>
                <a:cs typeface="Calibri"/>
                <a:sym typeface="Calibri"/>
              </a:rPr>
              <a:t>goose Architecture</a:t>
            </a:r>
            <a:endParaRPr b="0" i="0" sz="3000" u="none" cap="none" strike="noStrike">
              <a:solidFill>
                <a:schemeClr val="dk1"/>
              </a:solidFill>
              <a:latin typeface="Calibri"/>
              <a:ea typeface="Calibri"/>
              <a:cs typeface="Calibri"/>
              <a:sym typeface="Calibri"/>
            </a:endParaRPr>
          </a:p>
        </p:txBody>
      </p:sp>
      <p:sp>
        <p:nvSpPr>
          <p:cNvPr id="441" name="Google Shape;441;p14"/>
          <p:cNvSpPr/>
          <p:nvPr/>
        </p:nvSpPr>
        <p:spPr>
          <a:xfrm>
            <a:off x="1170432" y="914400"/>
            <a:ext cx="104241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300"/>
              <a:buFont typeface="Calibri"/>
              <a:buNone/>
            </a:pPr>
            <a:r>
              <a:rPr b="0" i="1" lang="en-US" sz="1300" u="none" cap="none" strike="noStrike">
                <a:solidFill>
                  <a:srgbClr val="6B7280"/>
                </a:solidFill>
                <a:latin typeface="Calibri"/>
                <a:ea typeface="Calibri"/>
                <a:cs typeface="Calibri"/>
                <a:sym typeface="Calibri"/>
              </a:rPr>
              <a:t>Three components, one interactive loop — this is the whole system</a:t>
            </a:r>
            <a:endParaRPr b="0" i="0" sz="1300" u="none" cap="none" strike="noStrike">
              <a:solidFill>
                <a:schemeClr val="dk1"/>
              </a:solidFill>
              <a:latin typeface="Calibri"/>
              <a:ea typeface="Calibri"/>
              <a:cs typeface="Calibri"/>
              <a:sym typeface="Calibri"/>
            </a:endParaRPr>
          </a:p>
        </p:txBody>
      </p:sp>
      <p:sp>
        <p:nvSpPr>
          <p:cNvPr id="442" name="Google Shape;442;p14"/>
          <p:cNvSpPr/>
          <p:nvPr/>
        </p:nvSpPr>
        <p:spPr>
          <a:xfrm>
            <a:off x="548640" y="1463040"/>
            <a:ext cx="3602736" cy="1298448"/>
          </a:xfrm>
          <a:prstGeom prst="roundRect">
            <a:avLst>
              <a:gd fmla="val 4225" name="adj"/>
            </a:avLst>
          </a:prstGeom>
          <a:solidFill>
            <a:srgbClr val="F4F6F8"/>
          </a:solidFill>
          <a:ln cap="flat" cmpd="sng" w="12700">
            <a:solidFill>
              <a:srgbClr val="F4F6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4"/>
          <p:cNvSpPr/>
          <p:nvPr/>
        </p:nvSpPr>
        <p:spPr>
          <a:xfrm>
            <a:off x="731520" y="1572768"/>
            <a:ext cx="323697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7A8C"/>
              </a:buClr>
              <a:buSzPts val="1400"/>
              <a:buFont typeface="Calibri"/>
              <a:buNone/>
            </a:pPr>
            <a:r>
              <a:rPr b="1" i="0" lang="en-US" sz="1400" u="none" cap="none" strike="noStrike">
                <a:solidFill>
                  <a:srgbClr val="1F7A8C"/>
                </a:solidFill>
                <a:latin typeface="Calibri"/>
                <a:ea typeface="Calibri"/>
                <a:cs typeface="Calibri"/>
                <a:sym typeface="Calibri"/>
              </a:rPr>
              <a:t>INTERFACE</a:t>
            </a:r>
            <a:endParaRPr b="0" i="0" sz="1400" u="none" cap="none" strike="noStrike">
              <a:solidFill>
                <a:schemeClr val="dk1"/>
              </a:solidFill>
              <a:latin typeface="Calibri"/>
              <a:ea typeface="Calibri"/>
              <a:cs typeface="Calibri"/>
              <a:sym typeface="Calibri"/>
            </a:endParaRPr>
          </a:p>
        </p:txBody>
      </p:sp>
      <p:sp>
        <p:nvSpPr>
          <p:cNvPr id="444" name="Google Shape;444;p14"/>
          <p:cNvSpPr/>
          <p:nvPr/>
        </p:nvSpPr>
        <p:spPr>
          <a:xfrm>
            <a:off x="731520" y="1883664"/>
            <a:ext cx="3236976" cy="78638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3D4553"/>
              </a:buClr>
              <a:buSzPts val="1050"/>
              <a:buFont typeface="Calibri"/>
              <a:buNone/>
            </a:pPr>
            <a:r>
              <a:rPr b="0" i="0" lang="en-US" sz="1050" u="none" cap="none" strike="noStrike">
                <a:solidFill>
                  <a:srgbClr val="3D4553"/>
                </a:solidFill>
                <a:latin typeface="Calibri"/>
                <a:ea typeface="Calibri"/>
                <a:cs typeface="Calibri"/>
                <a:sym typeface="Calibri"/>
              </a:rPr>
              <a:t>Desktop app or CLI. Collects your input, renders output, and spins up agents — more than one at a time if needed.</a:t>
            </a:r>
            <a:endParaRPr b="0" i="0" sz="1050" u="none" cap="none" strike="noStrike">
              <a:solidFill>
                <a:schemeClr val="dk1"/>
              </a:solidFill>
              <a:latin typeface="Calibri"/>
              <a:ea typeface="Calibri"/>
              <a:cs typeface="Calibri"/>
              <a:sym typeface="Calibri"/>
            </a:endParaRPr>
          </a:p>
        </p:txBody>
      </p:sp>
      <p:sp>
        <p:nvSpPr>
          <p:cNvPr id="445" name="Google Shape;445;p14"/>
          <p:cNvSpPr/>
          <p:nvPr/>
        </p:nvSpPr>
        <p:spPr>
          <a:xfrm>
            <a:off x="4288536" y="1463040"/>
            <a:ext cx="3602736" cy="1298448"/>
          </a:xfrm>
          <a:prstGeom prst="roundRect">
            <a:avLst>
              <a:gd fmla="val 4225" name="adj"/>
            </a:avLst>
          </a:prstGeom>
          <a:solidFill>
            <a:srgbClr val="141821"/>
          </a:solidFill>
          <a:ln cap="flat" cmpd="sng" w="12700">
            <a:solidFill>
              <a:srgbClr val="1418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4"/>
          <p:cNvSpPr/>
          <p:nvPr/>
        </p:nvSpPr>
        <p:spPr>
          <a:xfrm>
            <a:off x="4471416" y="1572768"/>
            <a:ext cx="323697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9B34"/>
              </a:buClr>
              <a:buSzPts val="1400"/>
              <a:buFont typeface="Calibri"/>
              <a:buNone/>
            </a:pPr>
            <a:r>
              <a:rPr b="1" i="0" lang="en-US" sz="1400" u="none" cap="none" strike="noStrike">
                <a:solidFill>
                  <a:srgbClr val="E09B34"/>
                </a:solidFill>
                <a:latin typeface="Calibri"/>
                <a:ea typeface="Calibri"/>
                <a:cs typeface="Calibri"/>
                <a:sym typeface="Calibri"/>
              </a:rPr>
              <a:t>AGENT</a:t>
            </a:r>
            <a:endParaRPr b="0" i="0" sz="1400" u="none" cap="none" strike="noStrike">
              <a:solidFill>
                <a:schemeClr val="dk1"/>
              </a:solidFill>
              <a:latin typeface="Calibri"/>
              <a:ea typeface="Calibri"/>
              <a:cs typeface="Calibri"/>
              <a:sym typeface="Calibri"/>
            </a:endParaRPr>
          </a:p>
        </p:txBody>
      </p:sp>
      <p:sp>
        <p:nvSpPr>
          <p:cNvPr id="447" name="Google Shape;447;p14"/>
          <p:cNvSpPr/>
          <p:nvPr/>
        </p:nvSpPr>
        <p:spPr>
          <a:xfrm>
            <a:off x="4471416" y="1883664"/>
            <a:ext cx="3236976" cy="78638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B8C1D0"/>
              </a:buClr>
              <a:buSzPts val="1050"/>
              <a:buFont typeface="Calibri"/>
              <a:buNone/>
            </a:pPr>
            <a:r>
              <a:rPr b="0" i="0" lang="en-US" sz="1050" u="none" cap="none" strike="noStrike">
                <a:solidFill>
                  <a:srgbClr val="B8C1D0"/>
                </a:solidFill>
                <a:latin typeface="Calibri"/>
                <a:ea typeface="Calibri"/>
                <a:cs typeface="Calibri"/>
                <a:sym typeface="Calibri"/>
              </a:rPr>
              <a:t>The core logic that runs the interactive loop: calls the provider, executes tool calls, revises context, handles errors.</a:t>
            </a:r>
            <a:endParaRPr b="0" i="0" sz="1050" u="none" cap="none" strike="noStrike">
              <a:solidFill>
                <a:schemeClr val="dk1"/>
              </a:solidFill>
              <a:latin typeface="Calibri"/>
              <a:ea typeface="Calibri"/>
              <a:cs typeface="Calibri"/>
              <a:sym typeface="Calibri"/>
            </a:endParaRPr>
          </a:p>
        </p:txBody>
      </p:sp>
      <p:sp>
        <p:nvSpPr>
          <p:cNvPr id="448" name="Google Shape;448;p14"/>
          <p:cNvSpPr/>
          <p:nvPr/>
        </p:nvSpPr>
        <p:spPr>
          <a:xfrm>
            <a:off x="8028432" y="1463040"/>
            <a:ext cx="3602736" cy="1298448"/>
          </a:xfrm>
          <a:prstGeom prst="roundRect">
            <a:avLst>
              <a:gd fmla="val 4225" name="adj"/>
            </a:avLst>
          </a:prstGeom>
          <a:solidFill>
            <a:srgbClr val="F4F6F8"/>
          </a:solidFill>
          <a:ln cap="flat" cmpd="sng" w="12700">
            <a:solidFill>
              <a:srgbClr val="F4F6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4"/>
          <p:cNvSpPr/>
          <p:nvPr/>
        </p:nvSpPr>
        <p:spPr>
          <a:xfrm>
            <a:off x="8211312" y="1572768"/>
            <a:ext cx="323697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7A8C"/>
              </a:buClr>
              <a:buSzPts val="1400"/>
              <a:buFont typeface="Calibri"/>
              <a:buNone/>
            </a:pPr>
            <a:r>
              <a:rPr b="1" i="0" lang="en-US" sz="1400" u="none" cap="none" strike="noStrike">
                <a:solidFill>
                  <a:srgbClr val="1F7A8C"/>
                </a:solidFill>
                <a:latin typeface="Calibri"/>
                <a:ea typeface="Calibri"/>
                <a:cs typeface="Calibri"/>
                <a:sym typeface="Calibri"/>
              </a:rPr>
              <a:t>EXTENSIONS</a:t>
            </a:r>
            <a:endParaRPr b="0" i="0" sz="1400" u="none" cap="none" strike="noStrike">
              <a:solidFill>
                <a:schemeClr val="dk1"/>
              </a:solidFill>
              <a:latin typeface="Calibri"/>
              <a:ea typeface="Calibri"/>
              <a:cs typeface="Calibri"/>
              <a:sym typeface="Calibri"/>
            </a:endParaRPr>
          </a:p>
        </p:txBody>
      </p:sp>
      <p:sp>
        <p:nvSpPr>
          <p:cNvPr id="450" name="Google Shape;450;p14"/>
          <p:cNvSpPr/>
          <p:nvPr/>
        </p:nvSpPr>
        <p:spPr>
          <a:xfrm>
            <a:off x="8211312" y="1883664"/>
            <a:ext cx="3236976" cy="78638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3D4553"/>
              </a:buClr>
              <a:buSzPts val="1050"/>
              <a:buFont typeface="Calibri"/>
              <a:buNone/>
            </a:pPr>
            <a:r>
              <a:rPr b="0" i="0" lang="en-US" sz="1050" u="none" cap="none" strike="noStrike">
                <a:solidFill>
                  <a:srgbClr val="3D4553"/>
                </a:solidFill>
                <a:latin typeface="Calibri"/>
                <a:ea typeface="Calibri"/>
                <a:cs typeface="Calibri"/>
                <a:sym typeface="Calibri"/>
              </a:rPr>
              <a:t>MCP servers exposing tools. Built-in, external, or ones you write yourself. This is where capability actually comes from.</a:t>
            </a:r>
            <a:endParaRPr b="0" i="0" sz="1050" u="none" cap="none" strike="noStrike">
              <a:solidFill>
                <a:schemeClr val="dk1"/>
              </a:solidFill>
              <a:latin typeface="Calibri"/>
              <a:ea typeface="Calibri"/>
              <a:cs typeface="Calibri"/>
              <a:sym typeface="Calibri"/>
            </a:endParaRPr>
          </a:p>
        </p:txBody>
      </p:sp>
      <p:sp>
        <p:nvSpPr>
          <p:cNvPr id="451" name="Google Shape;451;p14"/>
          <p:cNvSpPr/>
          <p:nvPr/>
        </p:nvSpPr>
        <p:spPr>
          <a:xfrm>
            <a:off x="548640" y="2926080"/>
            <a:ext cx="1108252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9B34"/>
              </a:buClr>
              <a:buSzPts val="1000"/>
              <a:buFont typeface="Calibri"/>
              <a:buNone/>
            </a:pPr>
            <a:r>
              <a:rPr b="1" i="0" lang="en-US" sz="1000" u="none" cap="none" strike="noStrike">
                <a:solidFill>
                  <a:srgbClr val="E09B34"/>
                </a:solidFill>
                <a:latin typeface="Calibri"/>
                <a:ea typeface="Calibri"/>
                <a:cs typeface="Calibri"/>
                <a:sym typeface="Calibri"/>
              </a:rPr>
              <a:t>THE INTERACTIVE LOOP</a:t>
            </a:r>
            <a:endParaRPr b="0" i="0" sz="1000" u="none" cap="none" strike="noStrike">
              <a:solidFill>
                <a:schemeClr val="dk1"/>
              </a:solidFill>
              <a:latin typeface="Calibri"/>
              <a:ea typeface="Calibri"/>
              <a:cs typeface="Calibri"/>
              <a:sym typeface="Calibri"/>
            </a:endParaRPr>
          </a:p>
        </p:txBody>
      </p:sp>
      <p:sp>
        <p:nvSpPr>
          <p:cNvPr id="452" name="Google Shape;452;p14"/>
          <p:cNvSpPr/>
          <p:nvPr/>
        </p:nvSpPr>
        <p:spPr>
          <a:xfrm>
            <a:off x="548640" y="3255264"/>
            <a:ext cx="1719072" cy="1572768"/>
          </a:xfrm>
          <a:prstGeom prst="roundRect">
            <a:avLst>
              <a:gd fmla="val 3488" name="adj"/>
            </a:avLst>
          </a:prstGeom>
          <a:solidFill>
            <a:srgbClr val="EDF1F4"/>
          </a:solidFill>
          <a:ln cap="flat" cmpd="sng" w="12700">
            <a:solidFill>
              <a:srgbClr val="EDF1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4"/>
          <p:cNvSpPr/>
          <p:nvPr/>
        </p:nvSpPr>
        <p:spPr>
          <a:xfrm>
            <a:off x="676656" y="3346704"/>
            <a:ext cx="365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9B34"/>
              </a:buClr>
              <a:buSzPts val="1500"/>
              <a:buFont typeface="Calibri"/>
              <a:buNone/>
            </a:pPr>
            <a:r>
              <a:rPr b="1" i="0" lang="en-US" sz="1500" u="none" cap="none" strike="noStrike">
                <a:solidFill>
                  <a:srgbClr val="E09B34"/>
                </a:solidFill>
                <a:latin typeface="Calibri"/>
                <a:ea typeface="Calibri"/>
                <a:cs typeface="Calibri"/>
                <a:sym typeface="Calibri"/>
              </a:rPr>
              <a:t>1</a:t>
            </a:r>
            <a:endParaRPr b="0" i="0" sz="1500" u="none" cap="none" strike="noStrike">
              <a:solidFill>
                <a:schemeClr val="dk1"/>
              </a:solidFill>
              <a:latin typeface="Calibri"/>
              <a:ea typeface="Calibri"/>
              <a:cs typeface="Calibri"/>
              <a:sym typeface="Calibri"/>
            </a:endParaRPr>
          </a:p>
        </p:txBody>
      </p:sp>
      <p:sp>
        <p:nvSpPr>
          <p:cNvPr id="454" name="Google Shape;454;p14"/>
          <p:cNvSpPr/>
          <p:nvPr/>
        </p:nvSpPr>
        <p:spPr>
          <a:xfrm>
            <a:off x="676656" y="3639312"/>
            <a:ext cx="1463040" cy="384048"/>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141821"/>
              </a:buClr>
              <a:buSzPts val="1100"/>
              <a:buFont typeface="Calibri"/>
              <a:buNone/>
            </a:pPr>
            <a:r>
              <a:rPr b="1" i="0" lang="en-US" sz="1100" u="none" cap="none" strike="noStrike">
                <a:solidFill>
                  <a:srgbClr val="141821"/>
                </a:solidFill>
                <a:latin typeface="Calibri"/>
                <a:ea typeface="Calibri"/>
                <a:cs typeface="Calibri"/>
                <a:sym typeface="Calibri"/>
              </a:rPr>
              <a:t>Human request</a:t>
            </a:r>
            <a:endParaRPr b="0" i="0" sz="1100" u="none" cap="none" strike="noStrike">
              <a:solidFill>
                <a:schemeClr val="dk1"/>
              </a:solidFill>
              <a:latin typeface="Calibri"/>
              <a:ea typeface="Calibri"/>
              <a:cs typeface="Calibri"/>
              <a:sym typeface="Calibri"/>
            </a:endParaRPr>
          </a:p>
        </p:txBody>
      </p:sp>
      <p:sp>
        <p:nvSpPr>
          <p:cNvPr id="455" name="Google Shape;455;p14"/>
          <p:cNvSpPr/>
          <p:nvPr/>
        </p:nvSpPr>
        <p:spPr>
          <a:xfrm>
            <a:off x="676656" y="4041648"/>
            <a:ext cx="1463040" cy="7132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5262"/>
              </a:buClr>
              <a:buSzPts val="900"/>
              <a:buFont typeface="Calibri"/>
              <a:buNone/>
            </a:pPr>
            <a:r>
              <a:rPr b="0" i="0" lang="en-US" sz="900" u="none" cap="none" strike="noStrike">
                <a:solidFill>
                  <a:srgbClr val="4A5262"/>
                </a:solidFill>
                <a:latin typeface="Calibri"/>
                <a:ea typeface="Calibri"/>
                <a:cs typeface="Calibri"/>
                <a:sym typeface="Calibri"/>
              </a:rPr>
              <a:t>You state a goal.</a:t>
            </a:r>
            <a:endParaRPr b="0" i="0" sz="900" u="none" cap="none" strike="noStrike">
              <a:solidFill>
                <a:schemeClr val="dk1"/>
              </a:solidFill>
              <a:latin typeface="Calibri"/>
              <a:ea typeface="Calibri"/>
              <a:cs typeface="Calibri"/>
              <a:sym typeface="Calibri"/>
            </a:endParaRPr>
          </a:p>
        </p:txBody>
      </p:sp>
      <p:sp>
        <p:nvSpPr>
          <p:cNvPr id="456" name="Google Shape;456;p14"/>
          <p:cNvSpPr/>
          <p:nvPr/>
        </p:nvSpPr>
        <p:spPr>
          <a:xfrm>
            <a:off x="2267712" y="3255264"/>
            <a:ext cx="155448" cy="15727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09B34"/>
              </a:buClr>
              <a:buSzPts val="1600"/>
              <a:buFont typeface="Calibri"/>
              <a:buNone/>
            </a:pPr>
            <a:r>
              <a:rPr b="1" i="0" lang="en-US" sz="1600" u="none" cap="none" strike="noStrike">
                <a:solidFill>
                  <a:srgbClr val="E09B34"/>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457" name="Google Shape;457;p14"/>
          <p:cNvSpPr/>
          <p:nvPr/>
        </p:nvSpPr>
        <p:spPr>
          <a:xfrm>
            <a:off x="2423160" y="3255264"/>
            <a:ext cx="1719072" cy="1572768"/>
          </a:xfrm>
          <a:prstGeom prst="roundRect">
            <a:avLst>
              <a:gd fmla="val 3488" name="adj"/>
            </a:avLst>
          </a:prstGeom>
          <a:solidFill>
            <a:srgbClr val="EDF1F4"/>
          </a:solidFill>
          <a:ln cap="flat" cmpd="sng" w="12700">
            <a:solidFill>
              <a:srgbClr val="EDF1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4"/>
          <p:cNvSpPr/>
          <p:nvPr/>
        </p:nvSpPr>
        <p:spPr>
          <a:xfrm>
            <a:off x="2551176" y="3346704"/>
            <a:ext cx="365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9B34"/>
              </a:buClr>
              <a:buSzPts val="1500"/>
              <a:buFont typeface="Calibri"/>
              <a:buNone/>
            </a:pPr>
            <a:r>
              <a:rPr b="1" i="0" lang="en-US" sz="1500" u="none" cap="none" strike="noStrike">
                <a:solidFill>
                  <a:srgbClr val="E09B34"/>
                </a:solidFill>
                <a:latin typeface="Calibri"/>
                <a:ea typeface="Calibri"/>
                <a:cs typeface="Calibri"/>
                <a:sym typeface="Calibri"/>
              </a:rPr>
              <a:t>2</a:t>
            </a:r>
            <a:endParaRPr b="0" i="0" sz="1500" u="none" cap="none" strike="noStrike">
              <a:solidFill>
                <a:schemeClr val="dk1"/>
              </a:solidFill>
              <a:latin typeface="Calibri"/>
              <a:ea typeface="Calibri"/>
              <a:cs typeface="Calibri"/>
              <a:sym typeface="Calibri"/>
            </a:endParaRPr>
          </a:p>
        </p:txBody>
      </p:sp>
      <p:sp>
        <p:nvSpPr>
          <p:cNvPr id="459" name="Google Shape;459;p14"/>
          <p:cNvSpPr/>
          <p:nvPr/>
        </p:nvSpPr>
        <p:spPr>
          <a:xfrm>
            <a:off x="2551176" y="3639312"/>
            <a:ext cx="1463040" cy="384048"/>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141821"/>
              </a:buClr>
              <a:buSzPts val="1100"/>
              <a:buFont typeface="Calibri"/>
              <a:buNone/>
            </a:pPr>
            <a:r>
              <a:rPr b="1" i="0" lang="en-US" sz="1100" u="none" cap="none" strike="noStrike">
                <a:solidFill>
                  <a:srgbClr val="141821"/>
                </a:solidFill>
                <a:latin typeface="Calibri"/>
                <a:ea typeface="Calibri"/>
                <a:cs typeface="Calibri"/>
                <a:sym typeface="Calibri"/>
              </a:rPr>
              <a:t>Provider chat</a:t>
            </a:r>
            <a:endParaRPr b="0" i="0" sz="1100" u="none" cap="none" strike="noStrike">
              <a:solidFill>
                <a:schemeClr val="dk1"/>
              </a:solidFill>
              <a:latin typeface="Calibri"/>
              <a:ea typeface="Calibri"/>
              <a:cs typeface="Calibri"/>
              <a:sym typeface="Calibri"/>
            </a:endParaRPr>
          </a:p>
        </p:txBody>
      </p:sp>
      <p:sp>
        <p:nvSpPr>
          <p:cNvPr id="460" name="Google Shape;460;p14"/>
          <p:cNvSpPr/>
          <p:nvPr/>
        </p:nvSpPr>
        <p:spPr>
          <a:xfrm>
            <a:off x="2551176" y="4041648"/>
            <a:ext cx="1463040" cy="7132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5262"/>
              </a:buClr>
              <a:buSzPts val="900"/>
              <a:buFont typeface="Calibri"/>
              <a:buNone/>
            </a:pPr>
            <a:r>
              <a:rPr b="0" i="0" lang="en-US" sz="900" u="none" cap="none" strike="noStrike">
                <a:solidFill>
                  <a:srgbClr val="4A5262"/>
                </a:solidFill>
                <a:latin typeface="Calibri"/>
                <a:ea typeface="Calibri"/>
                <a:cs typeface="Calibri"/>
                <a:sym typeface="Calibri"/>
              </a:rPr>
              <a:t>Request plus available tool schemas go to the LLM.</a:t>
            </a:r>
            <a:endParaRPr b="0" i="0" sz="900" u="none" cap="none" strike="noStrike">
              <a:solidFill>
                <a:schemeClr val="dk1"/>
              </a:solidFill>
              <a:latin typeface="Calibri"/>
              <a:ea typeface="Calibri"/>
              <a:cs typeface="Calibri"/>
              <a:sym typeface="Calibri"/>
            </a:endParaRPr>
          </a:p>
        </p:txBody>
      </p:sp>
      <p:sp>
        <p:nvSpPr>
          <p:cNvPr id="461" name="Google Shape;461;p14"/>
          <p:cNvSpPr/>
          <p:nvPr/>
        </p:nvSpPr>
        <p:spPr>
          <a:xfrm>
            <a:off x="4142232" y="3255264"/>
            <a:ext cx="155448" cy="15727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09B34"/>
              </a:buClr>
              <a:buSzPts val="1600"/>
              <a:buFont typeface="Calibri"/>
              <a:buNone/>
            </a:pPr>
            <a:r>
              <a:rPr b="1" i="0" lang="en-US" sz="1600" u="none" cap="none" strike="noStrike">
                <a:solidFill>
                  <a:srgbClr val="E09B34"/>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462" name="Google Shape;462;p14"/>
          <p:cNvSpPr/>
          <p:nvPr/>
        </p:nvSpPr>
        <p:spPr>
          <a:xfrm>
            <a:off x="4297680" y="3255264"/>
            <a:ext cx="1719072" cy="1572768"/>
          </a:xfrm>
          <a:prstGeom prst="roundRect">
            <a:avLst>
              <a:gd fmla="val 3488" name="adj"/>
            </a:avLst>
          </a:prstGeom>
          <a:solidFill>
            <a:srgbClr val="EDF1F4"/>
          </a:solidFill>
          <a:ln cap="flat" cmpd="sng" w="12700">
            <a:solidFill>
              <a:srgbClr val="EDF1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4"/>
          <p:cNvSpPr/>
          <p:nvPr/>
        </p:nvSpPr>
        <p:spPr>
          <a:xfrm>
            <a:off x="4425696" y="3346704"/>
            <a:ext cx="365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9B34"/>
              </a:buClr>
              <a:buSzPts val="1500"/>
              <a:buFont typeface="Calibri"/>
              <a:buNone/>
            </a:pPr>
            <a:r>
              <a:rPr b="1" i="0" lang="en-US" sz="1500" u="none" cap="none" strike="noStrike">
                <a:solidFill>
                  <a:srgbClr val="E09B34"/>
                </a:solidFill>
                <a:latin typeface="Calibri"/>
                <a:ea typeface="Calibri"/>
                <a:cs typeface="Calibri"/>
                <a:sym typeface="Calibri"/>
              </a:rPr>
              <a:t>3</a:t>
            </a:r>
            <a:endParaRPr b="0" i="0" sz="1500" u="none" cap="none" strike="noStrike">
              <a:solidFill>
                <a:schemeClr val="dk1"/>
              </a:solidFill>
              <a:latin typeface="Calibri"/>
              <a:ea typeface="Calibri"/>
              <a:cs typeface="Calibri"/>
              <a:sym typeface="Calibri"/>
            </a:endParaRPr>
          </a:p>
        </p:txBody>
      </p:sp>
      <p:sp>
        <p:nvSpPr>
          <p:cNvPr id="464" name="Google Shape;464;p14"/>
          <p:cNvSpPr/>
          <p:nvPr/>
        </p:nvSpPr>
        <p:spPr>
          <a:xfrm>
            <a:off x="4425696" y="3639312"/>
            <a:ext cx="1463040" cy="384048"/>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141821"/>
              </a:buClr>
              <a:buSzPts val="1100"/>
              <a:buFont typeface="Calibri"/>
              <a:buNone/>
            </a:pPr>
            <a:r>
              <a:rPr b="1" i="0" lang="en-US" sz="1100" u="none" cap="none" strike="noStrike">
                <a:solidFill>
                  <a:srgbClr val="141821"/>
                </a:solidFill>
                <a:latin typeface="Calibri"/>
                <a:ea typeface="Calibri"/>
                <a:cs typeface="Calibri"/>
                <a:sym typeface="Calibri"/>
              </a:rPr>
              <a:t>Tool call</a:t>
            </a:r>
            <a:endParaRPr b="0" i="0" sz="1100" u="none" cap="none" strike="noStrike">
              <a:solidFill>
                <a:schemeClr val="dk1"/>
              </a:solidFill>
              <a:latin typeface="Calibri"/>
              <a:ea typeface="Calibri"/>
              <a:cs typeface="Calibri"/>
              <a:sym typeface="Calibri"/>
            </a:endParaRPr>
          </a:p>
        </p:txBody>
      </p:sp>
      <p:sp>
        <p:nvSpPr>
          <p:cNvPr id="465" name="Google Shape;465;p14"/>
          <p:cNvSpPr/>
          <p:nvPr/>
        </p:nvSpPr>
        <p:spPr>
          <a:xfrm>
            <a:off x="4425696" y="4041648"/>
            <a:ext cx="1463040" cy="7132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5262"/>
              </a:buClr>
              <a:buSzPts val="900"/>
              <a:buFont typeface="Calibri"/>
              <a:buNone/>
            </a:pPr>
            <a:r>
              <a:rPr b="0" i="0" lang="en-US" sz="900" u="none" cap="none" strike="noStrike">
                <a:solidFill>
                  <a:srgbClr val="4A5262"/>
                </a:solidFill>
                <a:latin typeface="Calibri"/>
                <a:ea typeface="Calibri"/>
                <a:cs typeface="Calibri"/>
                <a:sym typeface="Calibri"/>
              </a:rPr>
              <a:t>Model emits JSON; goose executes it and collects results.</a:t>
            </a:r>
            <a:endParaRPr b="0" i="0" sz="900" u="none" cap="none" strike="noStrike">
              <a:solidFill>
                <a:schemeClr val="dk1"/>
              </a:solidFill>
              <a:latin typeface="Calibri"/>
              <a:ea typeface="Calibri"/>
              <a:cs typeface="Calibri"/>
              <a:sym typeface="Calibri"/>
            </a:endParaRPr>
          </a:p>
        </p:txBody>
      </p:sp>
      <p:sp>
        <p:nvSpPr>
          <p:cNvPr id="466" name="Google Shape;466;p14"/>
          <p:cNvSpPr/>
          <p:nvPr/>
        </p:nvSpPr>
        <p:spPr>
          <a:xfrm>
            <a:off x="6016752" y="3255264"/>
            <a:ext cx="155448" cy="15727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09B34"/>
              </a:buClr>
              <a:buSzPts val="1600"/>
              <a:buFont typeface="Calibri"/>
              <a:buNone/>
            </a:pPr>
            <a:r>
              <a:rPr b="1" i="0" lang="en-US" sz="1600" u="none" cap="none" strike="noStrike">
                <a:solidFill>
                  <a:srgbClr val="E09B34"/>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467" name="Google Shape;467;p14"/>
          <p:cNvSpPr/>
          <p:nvPr/>
        </p:nvSpPr>
        <p:spPr>
          <a:xfrm>
            <a:off x="6172200" y="3255264"/>
            <a:ext cx="1719072" cy="1572768"/>
          </a:xfrm>
          <a:prstGeom prst="roundRect">
            <a:avLst>
              <a:gd fmla="val 3488" name="adj"/>
            </a:avLst>
          </a:prstGeom>
          <a:solidFill>
            <a:srgbClr val="EDF1F4"/>
          </a:solidFill>
          <a:ln cap="flat" cmpd="sng" w="12700">
            <a:solidFill>
              <a:srgbClr val="EDF1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4"/>
          <p:cNvSpPr/>
          <p:nvPr/>
        </p:nvSpPr>
        <p:spPr>
          <a:xfrm>
            <a:off x="6300216" y="3346704"/>
            <a:ext cx="365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9B34"/>
              </a:buClr>
              <a:buSzPts val="1500"/>
              <a:buFont typeface="Calibri"/>
              <a:buNone/>
            </a:pPr>
            <a:r>
              <a:rPr b="1" i="0" lang="en-US" sz="1500" u="none" cap="none" strike="noStrike">
                <a:solidFill>
                  <a:srgbClr val="E09B34"/>
                </a:solidFill>
                <a:latin typeface="Calibri"/>
                <a:ea typeface="Calibri"/>
                <a:cs typeface="Calibri"/>
                <a:sym typeface="Calibri"/>
              </a:rPr>
              <a:t>4</a:t>
            </a:r>
            <a:endParaRPr b="0" i="0" sz="1500" u="none" cap="none" strike="noStrike">
              <a:solidFill>
                <a:schemeClr val="dk1"/>
              </a:solidFill>
              <a:latin typeface="Calibri"/>
              <a:ea typeface="Calibri"/>
              <a:cs typeface="Calibri"/>
              <a:sym typeface="Calibri"/>
            </a:endParaRPr>
          </a:p>
        </p:txBody>
      </p:sp>
      <p:sp>
        <p:nvSpPr>
          <p:cNvPr id="469" name="Google Shape;469;p14"/>
          <p:cNvSpPr/>
          <p:nvPr/>
        </p:nvSpPr>
        <p:spPr>
          <a:xfrm>
            <a:off x="6300216" y="3639312"/>
            <a:ext cx="1463040" cy="384048"/>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141821"/>
              </a:buClr>
              <a:buSzPts val="1100"/>
              <a:buFont typeface="Calibri"/>
              <a:buNone/>
            </a:pPr>
            <a:r>
              <a:rPr b="1" i="0" lang="en-US" sz="1100" u="none" cap="none" strike="noStrike">
                <a:solidFill>
                  <a:srgbClr val="141821"/>
                </a:solidFill>
                <a:latin typeface="Calibri"/>
                <a:ea typeface="Calibri"/>
                <a:cs typeface="Calibri"/>
                <a:sym typeface="Calibri"/>
              </a:rPr>
              <a:t>Response to model</a:t>
            </a:r>
            <a:endParaRPr b="0" i="0" sz="1100" u="none" cap="none" strike="noStrike">
              <a:solidFill>
                <a:schemeClr val="dk1"/>
              </a:solidFill>
              <a:latin typeface="Calibri"/>
              <a:ea typeface="Calibri"/>
              <a:cs typeface="Calibri"/>
              <a:sym typeface="Calibri"/>
            </a:endParaRPr>
          </a:p>
        </p:txBody>
      </p:sp>
      <p:sp>
        <p:nvSpPr>
          <p:cNvPr id="470" name="Google Shape;470;p14"/>
          <p:cNvSpPr/>
          <p:nvPr/>
        </p:nvSpPr>
        <p:spPr>
          <a:xfrm>
            <a:off x="6300216" y="4041648"/>
            <a:ext cx="1463040" cy="7132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5262"/>
              </a:buClr>
              <a:buSzPts val="900"/>
              <a:buFont typeface="Calibri"/>
              <a:buNone/>
            </a:pPr>
            <a:r>
              <a:rPr b="0" i="0" lang="en-US" sz="900" u="none" cap="none" strike="noStrike">
                <a:solidFill>
                  <a:srgbClr val="4A5262"/>
                </a:solidFill>
                <a:latin typeface="Calibri"/>
                <a:ea typeface="Calibri"/>
                <a:cs typeface="Calibri"/>
                <a:sym typeface="Calibri"/>
              </a:rPr>
              <a:t>Results return. More tools needed? Repeat 2–4.</a:t>
            </a:r>
            <a:endParaRPr b="0" i="0" sz="900" u="none" cap="none" strike="noStrike">
              <a:solidFill>
                <a:schemeClr val="dk1"/>
              </a:solidFill>
              <a:latin typeface="Calibri"/>
              <a:ea typeface="Calibri"/>
              <a:cs typeface="Calibri"/>
              <a:sym typeface="Calibri"/>
            </a:endParaRPr>
          </a:p>
        </p:txBody>
      </p:sp>
      <p:sp>
        <p:nvSpPr>
          <p:cNvPr id="471" name="Google Shape;471;p14"/>
          <p:cNvSpPr/>
          <p:nvPr/>
        </p:nvSpPr>
        <p:spPr>
          <a:xfrm>
            <a:off x="7891272" y="3255264"/>
            <a:ext cx="155448" cy="15727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09B34"/>
              </a:buClr>
              <a:buSzPts val="1600"/>
              <a:buFont typeface="Calibri"/>
              <a:buNone/>
            </a:pPr>
            <a:r>
              <a:rPr b="1" i="0" lang="en-US" sz="1600" u="none" cap="none" strike="noStrike">
                <a:solidFill>
                  <a:srgbClr val="E09B34"/>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472" name="Google Shape;472;p14"/>
          <p:cNvSpPr/>
          <p:nvPr/>
        </p:nvSpPr>
        <p:spPr>
          <a:xfrm>
            <a:off x="8046720" y="3255264"/>
            <a:ext cx="1719072" cy="1572768"/>
          </a:xfrm>
          <a:prstGeom prst="roundRect">
            <a:avLst>
              <a:gd fmla="val 3488" name="adj"/>
            </a:avLst>
          </a:prstGeom>
          <a:solidFill>
            <a:srgbClr val="EDF1F4"/>
          </a:solidFill>
          <a:ln cap="flat" cmpd="sng" w="12700">
            <a:solidFill>
              <a:srgbClr val="EDF1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14"/>
          <p:cNvSpPr/>
          <p:nvPr/>
        </p:nvSpPr>
        <p:spPr>
          <a:xfrm>
            <a:off x="8174736" y="3346704"/>
            <a:ext cx="365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9B34"/>
              </a:buClr>
              <a:buSzPts val="1500"/>
              <a:buFont typeface="Calibri"/>
              <a:buNone/>
            </a:pPr>
            <a:r>
              <a:rPr b="1" i="0" lang="en-US" sz="1500" u="none" cap="none" strike="noStrike">
                <a:solidFill>
                  <a:srgbClr val="E09B34"/>
                </a:solidFill>
                <a:latin typeface="Calibri"/>
                <a:ea typeface="Calibri"/>
                <a:cs typeface="Calibri"/>
                <a:sym typeface="Calibri"/>
              </a:rPr>
              <a:t>5</a:t>
            </a:r>
            <a:endParaRPr b="0" i="0" sz="1500" u="none" cap="none" strike="noStrike">
              <a:solidFill>
                <a:schemeClr val="dk1"/>
              </a:solidFill>
              <a:latin typeface="Calibri"/>
              <a:ea typeface="Calibri"/>
              <a:cs typeface="Calibri"/>
              <a:sym typeface="Calibri"/>
            </a:endParaRPr>
          </a:p>
        </p:txBody>
      </p:sp>
      <p:sp>
        <p:nvSpPr>
          <p:cNvPr id="474" name="Google Shape;474;p14"/>
          <p:cNvSpPr/>
          <p:nvPr/>
        </p:nvSpPr>
        <p:spPr>
          <a:xfrm>
            <a:off x="8174736" y="3639312"/>
            <a:ext cx="1463040" cy="384048"/>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141821"/>
              </a:buClr>
              <a:buSzPts val="1100"/>
              <a:buFont typeface="Calibri"/>
              <a:buNone/>
            </a:pPr>
            <a:r>
              <a:rPr b="1" i="0" lang="en-US" sz="1100" u="none" cap="none" strike="noStrike">
                <a:solidFill>
                  <a:srgbClr val="141821"/>
                </a:solidFill>
                <a:latin typeface="Calibri"/>
                <a:ea typeface="Calibri"/>
                <a:cs typeface="Calibri"/>
                <a:sym typeface="Calibri"/>
              </a:rPr>
              <a:t>Context revision</a:t>
            </a:r>
            <a:endParaRPr b="0" i="0" sz="1100" u="none" cap="none" strike="noStrike">
              <a:solidFill>
                <a:schemeClr val="dk1"/>
              </a:solidFill>
              <a:latin typeface="Calibri"/>
              <a:ea typeface="Calibri"/>
              <a:cs typeface="Calibri"/>
              <a:sym typeface="Calibri"/>
            </a:endParaRPr>
          </a:p>
        </p:txBody>
      </p:sp>
      <p:sp>
        <p:nvSpPr>
          <p:cNvPr id="475" name="Google Shape;475;p14"/>
          <p:cNvSpPr/>
          <p:nvPr/>
        </p:nvSpPr>
        <p:spPr>
          <a:xfrm>
            <a:off x="8174736" y="4041648"/>
            <a:ext cx="1463040" cy="7132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5262"/>
              </a:buClr>
              <a:buSzPts val="900"/>
              <a:buFont typeface="Calibri"/>
              <a:buNone/>
            </a:pPr>
            <a:r>
              <a:rPr b="0" i="0" lang="en-US" sz="900" u="none" cap="none" strike="noStrike">
                <a:solidFill>
                  <a:srgbClr val="4A5262"/>
                </a:solidFill>
                <a:latin typeface="Calibri"/>
                <a:ea typeface="Calibri"/>
                <a:cs typeface="Calibri"/>
                <a:sym typeface="Calibri"/>
              </a:rPr>
              <a:t>Old or irrelevant content is pruned to manage tokens.</a:t>
            </a:r>
            <a:endParaRPr b="0" i="0" sz="900" u="none" cap="none" strike="noStrike">
              <a:solidFill>
                <a:schemeClr val="dk1"/>
              </a:solidFill>
              <a:latin typeface="Calibri"/>
              <a:ea typeface="Calibri"/>
              <a:cs typeface="Calibri"/>
              <a:sym typeface="Calibri"/>
            </a:endParaRPr>
          </a:p>
        </p:txBody>
      </p:sp>
      <p:sp>
        <p:nvSpPr>
          <p:cNvPr id="476" name="Google Shape;476;p14"/>
          <p:cNvSpPr/>
          <p:nvPr/>
        </p:nvSpPr>
        <p:spPr>
          <a:xfrm>
            <a:off x="9765792" y="3255264"/>
            <a:ext cx="155448" cy="15727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09B34"/>
              </a:buClr>
              <a:buSzPts val="1600"/>
              <a:buFont typeface="Calibri"/>
              <a:buNone/>
            </a:pPr>
            <a:r>
              <a:rPr b="1" i="0" lang="en-US" sz="1600" u="none" cap="none" strike="noStrike">
                <a:solidFill>
                  <a:srgbClr val="E09B34"/>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477" name="Google Shape;477;p14"/>
          <p:cNvSpPr/>
          <p:nvPr/>
        </p:nvSpPr>
        <p:spPr>
          <a:xfrm>
            <a:off x="9921240" y="3255264"/>
            <a:ext cx="1719072" cy="1572768"/>
          </a:xfrm>
          <a:prstGeom prst="roundRect">
            <a:avLst>
              <a:gd fmla="val 3488" name="adj"/>
            </a:avLst>
          </a:prstGeom>
          <a:solidFill>
            <a:srgbClr val="EDF1F4"/>
          </a:solidFill>
          <a:ln cap="flat" cmpd="sng" w="12700">
            <a:solidFill>
              <a:srgbClr val="EDF1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4"/>
          <p:cNvSpPr/>
          <p:nvPr/>
        </p:nvSpPr>
        <p:spPr>
          <a:xfrm>
            <a:off x="10049256" y="3346704"/>
            <a:ext cx="365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9B34"/>
              </a:buClr>
              <a:buSzPts val="1500"/>
              <a:buFont typeface="Calibri"/>
              <a:buNone/>
            </a:pPr>
            <a:r>
              <a:rPr b="1" i="0" lang="en-US" sz="1500" u="none" cap="none" strike="noStrike">
                <a:solidFill>
                  <a:srgbClr val="E09B34"/>
                </a:solidFill>
                <a:latin typeface="Calibri"/>
                <a:ea typeface="Calibri"/>
                <a:cs typeface="Calibri"/>
                <a:sym typeface="Calibri"/>
              </a:rPr>
              <a:t>6</a:t>
            </a:r>
            <a:endParaRPr b="0" i="0" sz="1500" u="none" cap="none" strike="noStrike">
              <a:solidFill>
                <a:schemeClr val="dk1"/>
              </a:solidFill>
              <a:latin typeface="Calibri"/>
              <a:ea typeface="Calibri"/>
              <a:cs typeface="Calibri"/>
              <a:sym typeface="Calibri"/>
            </a:endParaRPr>
          </a:p>
        </p:txBody>
      </p:sp>
      <p:sp>
        <p:nvSpPr>
          <p:cNvPr id="479" name="Google Shape;479;p14"/>
          <p:cNvSpPr/>
          <p:nvPr/>
        </p:nvSpPr>
        <p:spPr>
          <a:xfrm>
            <a:off x="10049256" y="3639312"/>
            <a:ext cx="1463040" cy="384048"/>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141821"/>
              </a:buClr>
              <a:buSzPts val="1100"/>
              <a:buFont typeface="Calibri"/>
              <a:buNone/>
            </a:pPr>
            <a:r>
              <a:rPr b="1" i="0" lang="en-US" sz="1100" u="none" cap="none" strike="noStrike">
                <a:solidFill>
                  <a:srgbClr val="141821"/>
                </a:solidFill>
                <a:latin typeface="Calibri"/>
                <a:ea typeface="Calibri"/>
                <a:cs typeface="Calibri"/>
                <a:sym typeface="Calibri"/>
              </a:rPr>
              <a:t>Model response</a:t>
            </a:r>
            <a:endParaRPr b="0" i="0" sz="1100" u="none" cap="none" strike="noStrike">
              <a:solidFill>
                <a:schemeClr val="dk1"/>
              </a:solidFill>
              <a:latin typeface="Calibri"/>
              <a:ea typeface="Calibri"/>
              <a:cs typeface="Calibri"/>
              <a:sym typeface="Calibri"/>
            </a:endParaRPr>
          </a:p>
        </p:txBody>
      </p:sp>
      <p:sp>
        <p:nvSpPr>
          <p:cNvPr id="480" name="Google Shape;480;p14"/>
          <p:cNvSpPr/>
          <p:nvPr/>
        </p:nvSpPr>
        <p:spPr>
          <a:xfrm>
            <a:off x="10049256" y="4041648"/>
            <a:ext cx="1463040" cy="7132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5262"/>
              </a:buClr>
              <a:buSzPts val="900"/>
              <a:buFont typeface="Calibri"/>
              <a:buNone/>
            </a:pPr>
            <a:r>
              <a:rPr b="0" i="0" lang="en-US" sz="900" u="none" cap="none" strike="noStrike">
                <a:solidFill>
                  <a:srgbClr val="4A5262"/>
                </a:solidFill>
                <a:latin typeface="Calibri"/>
                <a:ea typeface="Calibri"/>
                <a:cs typeface="Calibri"/>
                <a:sym typeface="Calibri"/>
              </a:rPr>
              <a:t>Final answer to you. Loop restarts on your reply.</a:t>
            </a:r>
            <a:endParaRPr b="0" i="0" sz="900" u="none" cap="none" strike="noStrike">
              <a:solidFill>
                <a:schemeClr val="dk1"/>
              </a:solidFill>
              <a:latin typeface="Calibri"/>
              <a:ea typeface="Calibri"/>
              <a:cs typeface="Calibri"/>
              <a:sym typeface="Calibri"/>
            </a:endParaRPr>
          </a:p>
        </p:txBody>
      </p:sp>
      <p:sp>
        <p:nvSpPr>
          <p:cNvPr id="481" name="Google Shape;481;p14"/>
          <p:cNvSpPr/>
          <p:nvPr/>
        </p:nvSpPr>
        <p:spPr>
          <a:xfrm>
            <a:off x="548640" y="4974336"/>
            <a:ext cx="5440680" cy="1261872"/>
          </a:xfrm>
          <a:prstGeom prst="roundRect">
            <a:avLst>
              <a:gd fmla="val 4348" name="adj"/>
            </a:avLst>
          </a:prstGeom>
          <a:solidFill>
            <a:srgbClr val="F4F6F8"/>
          </a:solidFill>
          <a:ln cap="flat" cmpd="sng" w="12700">
            <a:solidFill>
              <a:srgbClr val="F4F6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4"/>
          <p:cNvSpPr/>
          <p:nvPr/>
        </p:nvSpPr>
        <p:spPr>
          <a:xfrm>
            <a:off x="749808" y="5138928"/>
            <a:ext cx="5038344"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821"/>
              </a:buClr>
              <a:buSzPts val="1350"/>
              <a:buFont typeface="Calibri"/>
              <a:buNone/>
            </a:pPr>
            <a:r>
              <a:rPr b="1" i="0" lang="en-US" sz="1350" u="none" cap="none" strike="noStrike">
                <a:solidFill>
                  <a:srgbClr val="141821"/>
                </a:solidFill>
                <a:latin typeface="Calibri"/>
                <a:ea typeface="Calibri"/>
                <a:cs typeface="Calibri"/>
                <a:sym typeface="Calibri"/>
              </a:rPr>
              <a:t>Errors do not break the flow</a:t>
            </a:r>
            <a:endParaRPr b="0" i="0" sz="1350" u="none" cap="none" strike="noStrike">
              <a:solidFill>
                <a:schemeClr val="dk1"/>
              </a:solidFill>
              <a:latin typeface="Calibri"/>
              <a:ea typeface="Calibri"/>
              <a:cs typeface="Calibri"/>
              <a:sym typeface="Calibri"/>
            </a:endParaRPr>
          </a:p>
        </p:txBody>
      </p:sp>
      <p:sp>
        <p:nvSpPr>
          <p:cNvPr id="483" name="Google Shape;483;p14"/>
          <p:cNvSpPr/>
          <p:nvPr/>
        </p:nvSpPr>
        <p:spPr>
          <a:xfrm>
            <a:off x="749808" y="5413248"/>
            <a:ext cx="5038344" cy="69494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3D4553"/>
              </a:buClr>
              <a:buSzPts val="1050"/>
              <a:buFont typeface="Calibri"/>
              <a:buNone/>
            </a:pPr>
            <a:r>
              <a:rPr b="0" i="0" lang="en-US" sz="1050" u="none" cap="none" strike="noStrike">
                <a:solidFill>
                  <a:srgbClr val="3D4553"/>
                </a:solidFill>
                <a:latin typeface="Calibri"/>
                <a:ea typeface="Calibri"/>
                <a:cs typeface="Calibri"/>
                <a:sym typeface="Calibri"/>
              </a:rPr>
              <a:t>Invalid JSON, a missing tool, a failed command — goose captures these and returns them to the model as tool responses. The LLM then has the information it needs to correct itself and continue, instead of the run simply dying.</a:t>
            </a:r>
            <a:endParaRPr b="0" i="0" sz="1050" u="none" cap="none" strike="noStrike">
              <a:solidFill>
                <a:schemeClr val="dk1"/>
              </a:solidFill>
              <a:latin typeface="Calibri"/>
              <a:ea typeface="Calibri"/>
              <a:cs typeface="Calibri"/>
              <a:sym typeface="Calibri"/>
            </a:endParaRPr>
          </a:p>
        </p:txBody>
      </p:sp>
      <p:sp>
        <p:nvSpPr>
          <p:cNvPr id="484" name="Google Shape;484;p14"/>
          <p:cNvSpPr/>
          <p:nvPr/>
        </p:nvSpPr>
        <p:spPr>
          <a:xfrm>
            <a:off x="6190488" y="4974336"/>
            <a:ext cx="5440680" cy="1261872"/>
          </a:xfrm>
          <a:prstGeom prst="roundRect">
            <a:avLst>
              <a:gd fmla="val 4348" name="adj"/>
            </a:avLst>
          </a:prstGeom>
          <a:solidFill>
            <a:srgbClr val="141821"/>
          </a:solidFill>
          <a:ln cap="flat" cmpd="sng" w="12700">
            <a:solidFill>
              <a:srgbClr val="1418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14"/>
          <p:cNvSpPr/>
          <p:nvPr/>
        </p:nvSpPr>
        <p:spPr>
          <a:xfrm>
            <a:off x="6391656" y="5138928"/>
            <a:ext cx="5038344"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9B34"/>
              </a:buClr>
              <a:buSzPts val="1350"/>
              <a:buFont typeface="Calibri"/>
              <a:buNone/>
            </a:pPr>
            <a:r>
              <a:rPr b="1" i="0" lang="en-US" sz="1350" u="none" cap="none" strike="noStrike">
                <a:solidFill>
                  <a:srgbClr val="E09B34"/>
                </a:solidFill>
                <a:latin typeface="Calibri"/>
                <a:ea typeface="Calibri"/>
                <a:cs typeface="Calibri"/>
                <a:sym typeface="Calibri"/>
              </a:rPr>
              <a:t>Context revision keeps the bill down</a:t>
            </a:r>
            <a:endParaRPr b="0" i="0" sz="1350" u="none" cap="none" strike="noStrike">
              <a:solidFill>
                <a:schemeClr val="dk1"/>
              </a:solidFill>
              <a:latin typeface="Calibri"/>
              <a:ea typeface="Calibri"/>
              <a:cs typeface="Calibri"/>
              <a:sym typeface="Calibri"/>
            </a:endParaRPr>
          </a:p>
        </p:txBody>
      </p:sp>
      <p:sp>
        <p:nvSpPr>
          <p:cNvPr id="486" name="Google Shape;486;p14"/>
          <p:cNvSpPr/>
          <p:nvPr/>
        </p:nvSpPr>
        <p:spPr>
          <a:xfrm>
            <a:off x="6391656" y="5413248"/>
            <a:ext cx="5038344" cy="69494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B8C1D0"/>
              </a:buClr>
              <a:buSzPts val="1050"/>
              <a:buFont typeface="Calibri"/>
              <a:buNone/>
            </a:pPr>
            <a:r>
              <a:rPr b="0" i="0" lang="en-US" sz="1050" u="none" cap="none" strike="noStrike">
                <a:solidFill>
                  <a:srgbClr val="B8C1D0"/>
                </a:solidFill>
                <a:latin typeface="Calibri"/>
                <a:ea typeface="Calibri"/>
                <a:cs typeface="Calibri"/>
                <a:sym typeface="Calibri"/>
              </a:rPr>
              <a:t>Summarise with smaller, faster models · algorithmically drop stale content · find-and-replace rather than rewriting whole files · ripgrep to skip system files · compress verbose command output.</a:t>
            </a:r>
            <a:endParaRPr b="0" i="0" sz="1050" u="none" cap="none" strike="noStrike">
              <a:solidFill>
                <a:schemeClr val="dk1"/>
              </a:solidFill>
              <a:latin typeface="Calibri"/>
              <a:ea typeface="Calibri"/>
              <a:cs typeface="Calibri"/>
              <a:sym typeface="Calibri"/>
            </a:endParaRPr>
          </a:p>
        </p:txBody>
      </p:sp>
      <p:sp>
        <p:nvSpPr>
          <p:cNvPr id="487" name="Google Shape;487;p14"/>
          <p:cNvSpPr/>
          <p:nvPr/>
        </p:nvSpPr>
        <p:spPr>
          <a:xfrm>
            <a:off x="548640" y="6355080"/>
            <a:ext cx="11064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50"/>
              <a:buFont typeface="Calibri"/>
              <a:buNone/>
            </a:pPr>
            <a:r>
              <a:rPr b="0" i="0" lang="en-US" sz="950" u="none" cap="none" strike="noStrike">
                <a:solidFill>
                  <a:srgbClr val="6B7280"/>
                </a:solidFill>
                <a:latin typeface="Calibri"/>
                <a:ea typeface="Calibri"/>
                <a:cs typeface="Calibri"/>
                <a:sym typeface="Calibri"/>
              </a:rPr>
              <a:t>Reference: goose-docs.ai/docs/goose-architecture · /goose-architecture/extensions-design</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2" name="Shape 492"/>
        <p:cNvGrpSpPr/>
        <p:nvPr/>
      </p:nvGrpSpPr>
      <p:grpSpPr>
        <a:xfrm>
          <a:off x="0" y="0"/>
          <a:ext cx="0" cy="0"/>
          <a:chOff x="0" y="0"/>
          <a:chExt cx="0" cy="0"/>
        </a:xfrm>
      </p:grpSpPr>
      <p:sp>
        <p:nvSpPr>
          <p:cNvPr id="493" name="Google Shape;493;p15"/>
          <p:cNvSpPr/>
          <p:nvPr/>
        </p:nvSpPr>
        <p:spPr>
          <a:xfrm>
            <a:off x="548640" y="384048"/>
            <a:ext cx="475488" cy="475488"/>
          </a:xfrm>
          <a:prstGeom prst="roundRect">
            <a:avLst>
              <a:gd fmla="val 19231" name="adj"/>
            </a:avLst>
          </a:prstGeom>
          <a:solidFill>
            <a:srgbClr val="E09B34"/>
          </a:solidFill>
          <a:ln cap="flat" cmpd="sng" w="12700">
            <a:solidFill>
              <a:srgbClr val="E09B3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15"/>
          <p:cNvSpPr/>
          <p:nvPr/>
        </p:nvSpPr>
        <p:spPr>
          <a:xfrm>
            <a:off x="548640" y="384048"/>
            <a:ext cx="475488"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1821"/>
              </a:buClr>
              <a:buSzPts val="2000"/>
              <a:buFont typeface="Calibri"/>
              <a:buNone/>
            </a:pPr>
            <a:r>
              <a:rPr b="1" i="0" lang="en-US" sz="2000" u="none" cap="none" strike="noStrike">
                <a:solidFill>
                  <a:srgbClr val="141821"/>
                </a:solidFill>
                <a:latin typeface="Calibri"/>
                <a:ea typeface="Calibri"/>
                <a:cs typeface="Calibri"/>
                <a:sym typeface="Calibri"/>
              </a:rPr>
              <a:t>14</a:t>
            </a:r>
            <a:endParaRPr b="0" i="0" sz="2000" u="none" cap="none" strike="noStrike">
              <a:solidFill>
                <a:schemeClr val="dk1"/>
              </a:solidFill>
              <a:latin typeface="Calibri"/>
              <a:ea typeface="Calibri"/>
              <a:cs typeface="Calibri"/>
              <a:sym typeface="Calibri"/>
            </a:endParaRPr>
          </a:p>
        </p:txBody>
      </p:sp>
      <p:sp>
        <p:nvSpPr>
          <p:cNvPr id="495" name="Google Shape;495;p15"/>
          <p:cNvSpPr/>
          <p:nvPr/>
        </p:nvSpPr>
        <p:spPr>
          <a:xfrm>
            <a:off x="1170432" y="347472"/>
            <a:ext cx="104241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821"/>
              </a:buClr>
              <a:buSzPts val="3000"/>
              <a:buFont typeface="Calibri"/>
              <a:buNone/>
            </a:pPr>
            <a:r>
              <a:rPr b="1" i="0" lang="en-US" sz="3000" u="none" cap="none" strike="noStrike">
                <a:solidFill>
                  <a:srgbClr val="141821"/>
                </a:solidFill>
                <a:latin typeface="Calibri"/>
                <a:ea typeface="Calibri"/>
                <a:cs typeface="Calibri"/>
                <a:sym typeface="Calibri"/>
              </a:rPr>
              <a:t>Hands-On — Two End-to-End Labs</a:t>
            </a:r>
            <a:endParaRPr b="0" i="0" sz="3000" u="none" cap="none" strike="noStrike">
              <a:solidFill>
                <a:schemeClr val="dk1"/>
              </a:solidFill>
              <a:latin typeface="Calibri"/>
              <a:ea typeface="Calibri"/>
              <a:cs typeface="Calibri"/>
              <a:sym typeface="Calibri"/>
            </a:endParaRPr>
          </a:p>
        </p:txBody>
      </p:sp>
      <p:sp>
        <p:nvSpPr>
          <p:cNvPr id="496" name="Google Shape;496;p15"/>
          <p:cNvSpPr/>
          <p:nvPr/>
        </p:nvSpPr>
        <p:spPr>
          <a:xfrm>
            <a:off x="1170432" y="914400"/>
            <a:ext cx="104241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300"/>
              <a:buFont typeface="Calibri"/>
              <a:buNone/>
            </a:pPr>
            <a:r>
              <a:rPr b="0" i="1" lang="en-US" sz="1300" u="none" cap="none" strike="noStrike">
                <a:solidFill>
                  <a:srgbClr val="6B7280"/>
                </a:solidFill>
                <a:latin typeface="Calibri"/>
                <a:ea typeface="Calibri"/>
                <a:cs typeface="Calibri"/>
                <a:sym typeface="Calibri"/>
              </a:rPr>
              <a:t>Everything from the last ten slides, applied to a real repository</a:t>
            </a:r>
            <a:endParaRPr b="0" i="0" sz="1300" u="none" cap="none" strike="noStrike">
              <a:solidFill>
                <a:schemeClr val="dk1"/>
              </a:solidFill>
              <a:latin typeface="Calibri"/>
              <a:ea typeface="Calibri"/>
              <a:cs typeface="Calibri"/>
              <a:sym typeface="Calibri"/>
            </a:endParaRPr>
          </a:p>
        </p:txBody>
      </p:sp>
      <p:sp>
        <p:nvSpPr>
          <p:cNvPr id="497" name="Google Shape;497;p15"/>
          <p:cNvSpPr/>
          <p:nvPr/>
        </p:nvSpPr>
        <p:spPr>
          <a:xfrm>
            <a:off x="548640" y="1463040"/>
            <a:ext cx="5504688" cy="4572000"/>
          </a:xfrm>
          <a:prstGeom prst="roundRect">
            <a:avLst>
              <a:gd fmla="val 1600" name="adj"/>
            </a:avLst>
          </a:prstGeom>
          <a:solidFill>
            <a:srgbClr val="F4F6F8"/>
          </a:solidFill>
          <a:ln cap="flat" cmpd="sng" w="12700">
            <a:solidFill>
              <a:srgbClr val="F4F6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15"/>
          <p:cNvSpPr/>
          <p:nvPr/>
        </p:nvSpPr>
        <p:spPr>
          <a:xfrm>
            <a:off x="749808" y="1591056"/>
            <a:ext cx="1828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9B34"/>
              </a:buClr>
              <a:buSzPts val="1000"/>
              <a:buFont typeface="Calibri"/>
              <a:buNone/>
            </a:pPr>
            <a:r>
              <a:rPr b="1" i="0" lang="en-US" sz="1000" u="none" cap="none" strike="noStrike">
                <a:solidFill>
                  <a:srgbClr val="E09B34"/>
                </a:solidFill>
                <a:latin typeface="Calibri"/>
                <a:ea typeface="Calibri"/>
                <a:cs typeface="Calibri"/>
                <a:sym typeface="Calibri"/>
              </a:rPr>
              <a:t>LAB A</a:t>
            </a:r>
            <a:endParaRPr b="0" i="0" sz="1000" u="none" cap="none" strike="noStrike">
              <a:solidFill>
                <a:schemeClr val="dk1"/>
              </a:solidFill>
              <a:latin typeface="Calibri"/>
              <a:ea typeface="Calibri"/>
              <a:cs typeface="Calibri"/>
              <a:sym typeface="Calibri"/>
            </a:endParaRPr>
          </a:p>
        </p:txBody>
      </p:sp>
      <p:sp>
        <p:nvSpPr>
          <p:cNvPr id="499" name="Google Shape;499;p15"/>
          <p:cNvSpPr/>
          <p:nvPr/>
        </p:nvSpPr>
        <p:spPr>
          <a:xfrm>
            <a:off x="749808" y="1865376"/>
            <a:ext cx="5102352"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821"/>
              </a:buClr>
              <a:buSzPts val="2000"/>
              <a:buFont typeface="Calibri"/>
              <a:buNone/>
            </a:pPr>
            <a:r>
              <a:rPr b="1" i="0" lang="en-US" sz="2000" u="none" cap="none" strike="noStrike">
                <a:solidFill>
                  <a:srgbClr val="141821"/>
                </a:solidFill>
                <a:latin typeface="Calibri"/>
                <a:ea typeface="Calibri"/>
                <a:cs typeface="Calibri"/>
                <a:sym typeface="Calibri"/>
              </a:rPr>
              <a:t>Code Analysis</a:t>
            </a:r>
            <a:endParaRPr b="0" i="0" sz="2000" u="none" cap="none" strike="noStrike">
              <a:solidFill>
                <a:schemeClr val="dk1"/>
              </a:solidFill>
              <a:latin typeface="Calibri"/>
              <a:ea typeface="Calibri"/>
              <a:cs typeface="Calibri"/>
              <a:sym typeface="Calibri"/>
            </a:endParaRPr>
          </a:p>
        </p:txBody>
      </p:sp>
      <p:sp>
        <p:nvSpPr>
          <p:cNvPr id="500" name="Google Shape;500;p15"/>
          <p:cNvSpPr/>
          <p:nvPr/>
        </p:nvSpPr>
        <p:spPr>
          <a:xfrm>
            <a:off x="749808" y="2267712"/>
            <a:ext cx="5102352" cy="123444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3D4553"/>
              </a:buClr>
              <a:buSzPts val="1100"/>
              <a:buFont typeface="Calibri"/>
              <a:buNone/>
            </a:pPr>
            <a:r>
              <a:rPr b="0" i="0" lang="en-US" sz="1100" u="none" cap="none" strike="noStrike">
                <a:solidFill>
                  <a:srgbClr val="3D4553"/>
                </a:solidFill>
                <a:latin typeface="Calibri"/>
                <a:ea typeface="Calibri"/>
                <a:cs typeface="Calibri"/>
                <a:sym typeface="Calibri"/>
              </a:rPr>
              <a:t>The Developer extension ships an analyze tool that maps structure, tracks symbols and builds call graphs across a codebase — no embeddings, no index to maintain.</a:t>
            </a:r>
            <a:endParaRPr b="0" i="0" sz="1100" u="none" cap="none" strike="noStrike">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rgbClr val="3D4553"/>
              </a:buClr>
              <a:buSzPts val="1100"/>
              <a:buFont typeface="Calibri"/>
              <a:buNone/>
            </a:pPr>
            <a:r>
              <a:rPr b="0" i="0" lang="en-US" sz="1100" u="none" cap="none" strike="noStrike">
                <a:solidFill>
                  <a:srgbClr val="3D4553"/>
                </a:solidFill>
                <a:latin typeface="Calibri"/>
                <a:ea typeface="Calibri"/>
                <a:cs typeface="Calibri"/>
                <a:sym typeface="Calibri"/>
              </a:rPr>
              <a:t>Three modes:  Structure (a directory)  ·  Semantic (one file)  ·  Focus (one symbol, traced across files).</a:t>
            </a:r>
            <a:endParaRPr b="0" i="0" sz="1100" u="none" cap="none" strike="noStrike">
              <a:solidFill>
                <a:schemeClr val="dk1"/>
              </a:solidFill>
              <a:latin typeface="Calibri"/>
              <a:ea typeface="Calibri"/>
              <a:cs typeface="Calibri"/>
              <a:sym typeface="Calibri"/>
            </a:endParaRPr>
          </a:p>
        </p:txBody>
      </p:sp>
      <p:sp>
        <p:nvSpPr>
          <p:cNvPr id="501" name="Google Shape;501;p15"/>
          <p:cNvSpPr/>
          <p:nvPr/>
        </p:nvSpPr>
        <p:spPr>
          <a:xfrm>
            <a:off x="749808" y="3566160"/>
            <a:ext cx="5102352" cy="1481328"/>
          </a:xfrm>
          <a:prstGeom prst="roundRect">
            <a:avLst>
              <a:gd fmla="val 3086" name="adj"/>
            </a:avLst>
          </a:prstGeom>
          <a:solidFill>
            <a:srgbClr val="141821"/>
          </a:solidFill>
          <a:ln cap="flat" cmpd="sng" w="12700">
            <a:solidFill>
              <a:srgbClr val="1418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15"/>
          <p:cNvSpPr/>
          <p:nvPr/>
        </p:nvSpPr>
        <p:spPr>
          <a:xfrm>
            <a:off x="914400" y="3675888"/>
            <a:ext cx="4773168" cy="126187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D9E2EC"/>
              </a:buClr>
              <a:buSzPts val="950"/>
              <a:buFont typeface="Courier New"/>
              <a:buNone/>
            </a:pPr>
            <a:r>
              <a:rPr b="0" i="0" lang="en-US" sz="950" u="none" cap="none" strike="noStrike">
                <a:solidFill>
                  <a:srgbClr val="D9E2EC"/>
                </a:solidFill>
                <a:latin typeface="Courier New"/>
                <a:ea typeface="Courier New"/>
                <a:cs typeface="Courier New"/>
                <a:sym typeface="Courier New"/>
              </a:rPr>
              <a:t>analyze path="src/" max_depth=2</a:t>
            </a:r>
            <a:endParaRPr b="0" i="0" sz="95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D9E2EC"/>
              </a:buClr>
              <a:buSzPts val="950"/>
              <a:buFont typeface="Courier New"/>
              <a:buNone/>
            </a:pPr>
            <a:r>
              <a:rPr b="0" i="0" lang="en-US" sz="950" u="none" cap="none" strike="noStrike">
                <a:solidFill>
                  <a:srgbClr val="D9E2EC"/>
                </a:solidFill>
                <a:latin typeface="Courier New"/>
                <a:ea typeface="Courier New"/>
                <a:cs typeface="Courier New"/>
                <a:sym typeface="Courier New"/>
              </a:rPr>
              <a:t>analyze path="main.py"</a:t>
            </a:r>
            <a:endParaRPr b="0" i="0" sz="95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D9E2EC"/>
              </a:buClr>
              <a:buSzPts val="950"/>
              <a:buFont typeface="Courier New"/>
              <a:buNone/>
            </a:pPr>
            <a:r>
              <a:rPr b="0" i="0" lang="en-US" sz="950" u="none" cap="none" strike="noStrike">
                <a:solidFill>
                  <a:srgbClr val="D9E2EC"/>
                </a:solidFill>
                <a:latin typeface="Courier New"/>
                <a:ea typeface="Courier New"/>
                <a:cs typeface="Courier New"/>
                <a:sym typeface="Courier New"/>
              </a:rPr>
              <a:t>analyze path="src/" focus="authenticate"</a:t>
            </a:r>
            <a:endParaRPr b="0" i="0" sz="95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D9E2EC"/>
              </a:buClr>
              <a:buSzPts val="950"/>
              <a:buFont typeface="Courier New"/>
              <a:buNone/>
            </a:pPr>
            <a:r>
              <a:rPr b="0" i="0" lang="en-US" sz="950" u="none" cap="none" strike="noStrike">
                <a:solidFill>
                  <a:srgbClr val="D9E2EC"/>
                </a:solidFill>
                <a:latin typeface="Courier New"/>
                <a:ea typeface="Courier New"/>
                <a:cs typeface="Courier New"/>
                <a:sym typeface="Courier New"/>
              </a:rPr>
              <a:t>analyze path="." focus="UserClass" follow_depth=3</a:t>
            </a:r>
            <a:endParaRPr b="0" i="0" sz="95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D9E2EC"/>
              </a:buClr>
              <a:buSzPts val="950"/>
              <a:buFont typeface="Courier New"/>
              <a:buNone/>
            </a:pPr>
            <a:r>
              <a:rPr b="0" i="0" lang="en-US" sz="950" u="none" cap="none" strike="noStrike">
                <a:solidFill>
                  <a:srgbClr val="D9E2EC"/>
                </a:solidFill>
                <a:latin typeface="Courier New"/>
                <a:ea typeface="Courier New"/>
                <a:cs typeface="Courier New"/>
                <a:sym typeface="Courier New"/>
              </a:rPr>
              <a:t>goose › show me the call graph for authenticate</a:t>
            </a:r>
            <a:endParaRPr b="0" i="0" sz="950" u="none" cap="none" strike="noStrike">
              <a:solidFill>
                <a:schemeClr val="dk1"/>
              </a:solidFill>
              <a:latin typeface="Calibri"/>
              <a:ea typeface="Calibri"/>
              <a:cs typeface="Calibri"/>
              <a:sym typeface="Calibri"/>
            </a:endParaRPr>
          </a:p>
        </p:txBody>
      </p:sp>
      <p:sp>
        <p:nvSpPr>
          <p:cNvPr id="503" name="Google Shape;503;p15"/>
          <p:cNvSpPr/>
          <p:nvPr/>
        </p:nvSpPr>
        <p:spPr>
          <a:xfrm>
            <a:off x="749808" y="5138928"/>
            <a:ext cx="5102352" cy="78638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4A5262"/>
              </a:buClr>
              <a:buSzPts val="950"/>
              <a:buFont typeface="Calibri"/>
              <a:buNone/>
            </a:pPr>
            <a:r>
              <a:rPr b="0" i="0" lang="en-US" sz="950" u="none" cap="none" strike="noStrike">
                <a:solidFill>
                  <a:srgbClr val="4A5262"/>
                </a:solidFill>
                <a:latin typeface="Calibri"/>
                <a:ea typeface="Calibri"/>
                <a:cs typeface="Calibri"/>
                <a:sym typeface="Calibri"/>
              </a:rPr>
              <a:t>Practitioner notes: results over 1000 lines return a warning instead of output — narrow the scope, lower max_depth, or set force=true. For a whole repository, hand the job to a subagent so the raw output never lands in your main context. Keep node_modules and build artefacts out via .gooseignore.</a:t>
            </a:r>
            <a:endParaRPr b="0" i="0" sz="950" u="none" cap="none" strike="noStrike">
              <a:solidFill>
                <a:schemeClr val="dk1"/>
              </a:solidFill>
              <a:latin typeface="Calibri"/>
              <a:ea typeface="Calibri"/>
              <a:cs typeface="Calibri"/>
              <a:sym typeface="Calibri"/>
            </a:endParaRPr>
          </a:p>
        </p:txBody>
      </p:sp>
      <p:sp>
        <p:nvSpPr>
          <p:cNvPr id="504" name="Google Shape;504;p15"/>
          <p:cNvSpPr/>
          <p:nvPr/>
        </p:nvSpPr>
        <p:spPr>
          <a:xfrm>
            <a:off x="6272784" y="1463040"/>
            <a:ext cx="5358384" cy="4572000"/>
          </a:xfrm>
          <a:prstGeom prst="roundRect">
            <a:avLst>
              <a:gd fmla="val 1600" name="adj"/>
            </a:avLst>
          </a:prstGeom>
          <a:solidFill>
            <a:srgbClr val="141821"/>
          </a:solidFill>
          <a:ln cap="flat" cmpd="sng" w="12700">
            <a:solidFill>
              <a:srgbClr val="1418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15"/>
          <p:cNvSpPr/>
          <p:nvPr/>
        </p:nvSpPr>
        <p:spPr>
          <a:xfrm>
            <a:off x="6473952" y="1591056"/>
            <a:ext cx="1828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9B34"/>
              </a:buClr>
              <a:buSzPts val="1000"/>
              <a:buFont typeface="Calibri"/>
              <a:buNone/>
            </a:pPr>
            <a:r>
              <a:rPr b="1" i="0" lang="en-US" sz="1000" u="none" cap="none" strike="noStrike">
                <a:solidFill>
                  <a:srgbClr val="E09B34"/>
                </a:solidFill>
                <a:latin typeface="Calibri"/>
                <a:ea typeface="Calibri"/>
                <a:cs typeface="Calibri"/>
                <a:sym typeface="Calibri"/>
              </a:rPr>
              <a:t>LAB B</a:t>
            </a:r>
            <a:endParaRPr b="0" i="0" sz="1000" u="none" cap="none" strike="noStrike">
              <a:solidFill>
                <a:schemeClr val="dk1"/>
              </a:solidFill>
              <a:latin typeface="Calibri"/>
              <a:ea typeface="Calibri"/>
              <a:cs typeface="Calibri"/>
              <a:sym typeface="Calibri"/>
            </a:endParaRPr>
          </a:p>
        </p:txBody>
      </p:sp>
      <p:sp>
        <p:nvSpPr>
          <p:cNvPr id="506" name="Google Shape;506;p15"/>
          <p:cNvSpPr/>
          <p:nvPr/>
        </p:nvSpPr>
        <p:spPr>
          <a:xfrm>
            <a:off x="6473952" y="1865376"/>
            <a:ext cx="4956048"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Fix an Issue &amp; Raise a PR</a:t>
            </a:r>
            <a:endParaRPr b="0" i="0" sz="2000" u="none" cap="none" strike="noStrike">
              <a:solidFill>
                <a:schemeClr val="dk1"/>
              </a:solidFill>
              <a:latin typeface="Calibri"/>
              <a:ea typeface="Calibri"/>
              <a:cs typeface="Calibri"/>
              <a:sym typeface="Calibri"/>
            </a:endParaRPr>
          </a:p>
        </p:txBody>
      </p:sp>
      <p:sp>
        <p:nvSpPr>
          <p:cNvPr id="507" name="Google Shape;507;p15"/>
          <p:cNvSpPr/>
          <p:nvPr/>
        </p:nvSpPr>
        <p:spPr>
          <a:xfrm>
            <a:off x="6473952" y="2286000"/>
            <a:ext cx="4956048" cy="27889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E09B34"/>
              </a:buClr>
              <a:buSzPts val="1100"/>
              <a:buFont typeface="Calibri"/>
              <a:buNone/>
            </a:pPr>
            <a:r>
              <a:rPr b="1" i="0" lang="en-US" sz="1100" u="none" cap="none" strike="noStrike">
                <a:solidFill>
                  <a:srgbClr val="E09B34"/>
                </a:solidFill>
                <a:latin typeface="Calibri"/>
                <a:ea typeface="Calibri"/>
                <a:cs typeface="Calibri"/>
                <a:sym typeface="Calibri"/>
              </a:rPr>
              <a:t>1.  Set up  </a:t>
            </a:r>
            <a:r>
              <a:rPr b="0" i="0" lang="en-US" sz="1100" u="none" cap="none" strike="noStrike">
                <a:solidFill>
                  <a:srgbClr val="B8C1D0"/>
                </a:solidFill>
                <a:latin typeface="Calibri"/>
                <a:ea typeface="Calibri"/>
                <a:cs typeface="Calibri"/>
                <a:sym typeface="Calibri"/>
              </a:rPr>
              <a:t>— enable the GitHub MCP extension, run in smart_approve, add a .goosehints with build and test commands.</a:t>
            </a:r>
            <a:endParaRPr b="0" i="0" sz="1100" u="none" cap="none" strike="noStrike">
              <a:solidFill>
                <a:schemeClr val="dk1"/>
              </a:solidFill>
              <a:latin typeface="Calibri"/>
              <a:ea typeface="Calibri"/>
              <a:cs typeface="Calibri"/>
              <a:sym typeface="Calibri"/>
            </a:endParaRPr>
          </a:p>
          <a:p>
            <a:pPr indent="0" lvl="0" marL="0" marR="0" rtl="0" algn="l">
              <a:lnSpc>
                <a:spcPct val="112000"/>
              </a:lnSpc>
              <a:spcBef>
                <a:spcPts val="400"/>
              </a:spcBef>
              <a:spcAft>
                <a:spcPts val="0"/>
              </a:spcAft>
              <a:buClr>
                <a:srgbClr val="E09B34"/>
              </a:buClr>
              <a:buSzPts val="1100"/>
              <a:buFont typeface="Calibri"/>
              <a:buNone/>
            </a:pPr>
            <a:r>
              <a:rPr b="1" i="0" lang="en-US" sz="1100" u="none" cap="none" strike="noStrike">
                <a:solidFill>
                  <a:srgbClr val="E09B34"/>
                </a:solidFill>
                <a:latin typeface="Calibri"/>
                <a:ea typeface="Calibri"/>
                <a:cs typeface="Calibri"/>
                <a:sym typeface="Calibri"/>
              </a:rPr>
              <a:t>2.  Understand  </a:t>
            </a:r>
            <a:r>
              <a:rPr b="0" i="0" lang="en-US" sz="1100" u="none" cap="none" strike="noStrike">
                <a:solidFill>
                  <a:srgbClr val="B8C1D0"/>
                </a:solidFill>
                <a:latin typeface="Calibri"/>
                <a:ea typeface="Calibri"/>
                <a:cs typeface="Calibri"/>
                <a:sym typeface="Calibri"/>
              </a:rPr>
              <a:t>— fetch the issue, then use analyze with focus on the symbols it names.</a:t>
            </a:r>
            <a:endParaRPr b="0" i="0" sz="1100" u="none" cap="none" strike="noStrike">
              <a:solidFill>
                <a:schemeClr val="dk1"/>
              </a:solidFill>
              <a:latin typeface="Calibri"/>
              <a:ea typeface="Calibri"/>
              <a:cs typeface="Calibri"/>
              <a:sym typeface="Calibri"/>
            </a:endParaRPr>
          </a:p>
          <a:p>
            <a:pPr indent="0" lvl="0" marL="0" marR="0" rtl="0" algn="l">
              <a:lnSpc>
                <a:spcPct val="112000"/>
              </a:lnSpc>
              <a:spcBef>
                <a:spcPts val="400"/>
              </a:spcBef>
              <a:spcAft>
                <a:spcPts val="0"/>
              </a:spcAft>
              <a:buClr>
                <a:srgbClr val="E09B34"/>
              </a:buClr>
              <a:buSzPts val="1100"/>
              <a:buFont typeface="Calibri"/>
              <a:buNone/>
            </a:pPr>
            <a:r>
              <a:rPr b="1" i="0" lang="en-US" sz="1100" u="none" cap="none" strike="noStrike">
                <a:solidFill>
                  <a:srgbClr val="E09B34"/>
                </a:solidFill>
                <a:latin typeface="Calibri"/>
                <a:ea typeface="Calibri"/>
                <a:cs typeface="Calibri"/>
                <a:sym typeface="Calibri"/>
              </a:rPr>
              <a:t>3.  Plan  </a:t>
            </a:r>
            <a:r>
              <a:rPr b="0" i="0" lang="en-US" sz="1100" u="none" cap="none" strike="noStrike">
                <a:solidFill>
                  <a:srgbClr val="B8C1D0"/>
                </a:solidFill>
                <a:latin typeface="Calibri"/>
                <a:ea typeface="Calibri"/>
                <a:cs typeface="Calibri"/>
                <a:sym typeface="Calibri"/>
              </a:rPr>
              <a:t>— planning mode first. Review the steps before a single line changes.</a:t>
            </a:r>
            <a:endParaRPr b="0" i="0" sz="1100" u="none" cap="none" strike="noStrike">
              <a:solidFill>
                <a:schemeClr val="dk1"/>
              </a:solidFill>
              <a:latin typeface="Calibri"/>
              <a:ea typeface="Calibri"/>
              <a:cs typeface="Calibri"/>
              <a:sym typeface="Calibri"/>
            </a:endParaRPr>
          </a:p>
          <a:p>
            <a:pPr indent="0" lvl="0" marL="0" marR="0" rtl="0" algn="l">
              <a:lnSpc>
                <a:spcPct val="112000"/>
              </a:lnSpc>
              <a:spcBef>
                <a:spcPts val="400"/>
              </a:spcBef>
              <a:spcAft>
                <a:spcPts val="0"/>
              </a:spcAft>
              <a:buClr>
                <a:srgbClr val="E09B34"/>
              </a:buClr>
              <a:buSzPts val="1100"/>
              <a:buFont typeface="Calibri"/>
              <a:buNone/>
            </a:pPr>
            <a:r>
              <a:rPr b="1" i="0" lang="en-US" sz="1100" u="none" cap="none" strike="noStrike">
                <a:solidFill>
                  <a:srgbClr val="E09B34"/>
                </a:solidFill>
                <a:latin typeface="Calibri"/>
                <a:ea typeface="Calibri"/>
                <a:cs typeface="Calibri"/>
                <a:sym typeface="Calibri"/>
              </a:rPr>
              <a:t>4.  Implement  </a:t>
            </a:r>
            <a:r>
              <a:rPr b="0" i="0" lang="en-US" sz="1100" u="none" cap="none" strike="noStrike">
                <a:solidFill>
                  <a:srgbClr val="B8C1D0"/>
                </a:solidFill>
                <a:latin typeface="Calibri"/>
                <a:ea typeface="Calibri"/>
                <a:cs typeface="Calibri"/>
                <a:sym typeface="Calibri"/>
              </a:rPr>
              <a:t>— branch, edit, run the test suite, iterate on failures. Commit early and often so you can roll back.</a:t>
            </a:r>
            <a:endParaRPr b="0" i="0" sz="1100" u="none" cap="none" strike="noStrike">
              <a:solidFill>
                <a:schemeClr val="dk1"/>
              </a:solidFill>
              <a:latin typeface="Calibri"/>
              <a:ea typeface="Calibri"/>
              <a:cs typeface="Calibri"/>
              <a:sym typeface="Calibri"/>
            </a:endParaRPr>
          </a:p>
          <a:p>
            <a:pPr indent="0" lvl="0" marL="0" marR="0" rtl="0" algn="l">
              <a:lnSpc>
                <a:spcPct val="112000"/>
              </a:lnSpc>
              <a:spcBef>
                <a:spcPts val="400"/>
              </a:spcBef>
              <a:spcAft>
                <a:spcPts val="0"/>
              </a:spcAft>
              <a:buClr>
                <a:srgbClr val="E09B34"/>
              </a:buClr>
              <a:buSzPts val="1100"/>
              <a:buFont typeface="Calibri"/>
              <a:buNone/>
            </a:pPr>
            <a:r>
              <a:rPr b="1" i="0" lang="en-US" sz="1100" u="none" cap="none" strike="noStrike">
                <a:solidFill>
                  <a:srgbClr val="E09B34"/>
                </a:solidFill>
                <a:latin typeface="Calibri"/>
                <a:ea typeface="Calibri"/>
                <a:cs typeface="Calibri"/>
                <a:sym typeface="Calibri"/>
              </a:rPr>
              <a:t>5.  Ship  </a:t>
            </a:r>
            <a:r>
              <a:rPr b="0" i="0" lang="en-US" sz="1100" u="none" cap="none" strike="noStrike">
                <a:solidFill>
                  <a:srgbClr val="B8C1D0"/>
                </a:solidFill>
                <a:latin typeface="Calibri"/>
                <a:ea typeface="Calibri"/>
                <a:cs typeface="Calibri"/>
                <a:sym typeface="Calibri"/>
              </a:rPr>
              <a:t>— push and open the PR with a description generated from the actual diff, not from the issue text.</a:t>
            </a:r>
            <a:endParaRPr b="0" i="0" sz="1100" u="none" cap="none" strike="noStrike">
              <a:solidFill>
                <a:schemeClr val="dk1"/>
              </a:solidFill>
              <a:latin typeface="Calibri"/>
              <a:ea typeface="Calibri"/>
              <a:cs typeface="Calibri"/>
              <a:sym typeface="Calibri"/>
            </a:endParaRPr>
          </a:p>
          <a:p>
            <a:pPr indent="0" lvl="0" marL="0" marR="0" rtl="0" algn="l">
              <a:lnSpc>
                <a:spcPct val="112000"/>
              </a:lnSpc>
              <a:spcBef>
                <a:spcPts val="400"/>
              </a:spcBef>
              <a:spcAft>
                <a:spcPts val="0"/>
              </a:spcAft>
              <a:buClr>
                <a:srgbClr val="E09B34"/>
              </a:buClr>
              <a:buSzPts val="1100"/>
              <a:buFont typeface="Calibri"/>
              <a:buNone/>
            </a:pPr>
            <a:r>
              <a:rPr b="1" i="0" lang="en-US" sz="1100" u="none" cap="none" strike="noStrike">
                <a:solidFill>
                  <a:srgbClr val="E09B34"/>
                </a:solidFill>
                <a:latin typeface="Calibri"/>
                <a:ea typeface="Calibri"/>
                <a:cs typeface="Calibri"/>
                <a:sym typeface="Calibri"/>
              </a:rPr>
              <a:t>6.  Capture  </a:t>
            </a:r>
            <a:r>
              <a:rPr b="0" i="0" lang="en-US" sz="1100" u="none" cap="none" strike="noStrike">
                <a:solidFill>
                  <a:srgbClr val="B8C1D0"/>
                </a:solidFill>
                <a:latin typeface="Calibri"/>
                <a:ea typeface="Calibri"/>
                <a:cs typeface="Calibri"/>
                <a:sym typeface="Calibri"/>
              </a:rPr>
              <a:t>— turn the whole thing into a recipe so the next person runs it in one click.</a:t>
            </a:r>
            <a:endParaRPr b="0" i="0" sz="1100" u="none" cap="none" strike="noStrike">
              <a:solidFill>
                <a:schemeClr val="dk1"/>
              </a:solidFill>
              <a:latin typeface="Calibri"/>
              <a:ea typeface="Calibri"/>
              <a:cs typeface="Calibri"/>
              <a:sym typeface="Calibri"/>
            </a:endParaRPr>
          </a:p>
        </p:txBody>
      </p:sp>
      <p:sp>
        <p:nvSpPr>
          <p:cNvPr id="508" name="Google Shape;508;p15"/>
          <p:cNvSpPr/>
          <p:nvPr/>
        </p:nvSpPr>
        <p:spPr>
          <a:xfrm>
            <a:off x="6473952" y="5230368"/>
            <a:ext cx="4956048"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E09B34"/>
              </a:buClr>
              <a:buSzPts val="1000"/>
              <a:buFont typeface="Calibri"/>
              <a:buNone/>
            </a:pPr>
            <a:r>
              <a:rPr b="0" i="1" lang="en-US" sz="1000" u="none" cap="none" strike="noStrike">
                <a:solidFill>
                  <a:srgbClr val="E09B34"/>
                </a:solidFill>
                <a:latin typeface="Calibri"/>
                <a:ea typeface="Calibri"/>
                <a:cs typeface="Calibri"/>
                <a:sym typeface="Calibri"/>
              </a:rPr>
              <a:t>Features exercised: sessions · .goosehints · planning mode · subagents · tool permissions · MCP extensions · codebase analysis · recipes.</a:t>
            </a:r>
            <a:endParaRPr b="0" i="0" sz="1000" u="none" cap="none" strike="noStrike">
              <a:solidFill>
                <a:schemeClr val="dk1"/>
              </a:solidFill>
              <a:latin typeface="Calibri"/>
              <a:ea typeface="Calibri"/>
              <a:cs typeface="Calibri"/>
              <a:sym typeface="Calibri"/>
            </a:endParaRPr>
          </a:p>
        </p:txBody>
      </p:sp>
      <p:sp>
        <p:nvSpPr>
          <p:cNvPr id="509" name="Google Shape;509;p15"/>
          <p:cNvSpPr/>
          <p:nvPr/>
        </p:nvSpPr>
        <p:spPr>
          <a:xfrm>
            <a:off x="548640" y="6355080"/>
            <a:ext cx="11064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50"/>
              <a:buFont typeface="Calibri"/>
              <a:buNone/>
            </a:pPr>
            <a:r>
              <a:rPr b="0" i="0" lang="en-US" sz="950" u="none" cap="none" strike="noStrike">
                <a:solidFill>
                  <a:srgbClr val="6B7280"/>
                </a:solidFill>
                <a:latin typeface="Calibri"/>
                <a:ea typeface="Calibri"/>
                <a:cs typeface="Calibri"/>
                <a:sym typeface="Calibri"/>
              </a:rPr>
              <a:t>Reference: goose-docs.ai/docs/guides/codebase-analysis · /guides/context-engineering/creating-plans</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821"/>
        </a:solidFill>
      </p:bgPr>
    </p:bg>
    <p:spTree>
      <p:nvGrpSpPr>
        <p:cNvPr id="514" name="Shape 514"/>
        <p:cNvGrpSpPr/>
        <p:nvPr/>
      </p:nvGrpSpPr>
      <p:grpSpPr>
        <a:xfrm>
          <a:off x="0" y="0"/>
          <a:ext cx="0" cy="0"/>
          <a:chOff x="0" y="0"/>
          <a:chExt cx="0" cy="0"/>
        </a:xfrm>
      </p:grpSpPr>
      <p:sp>
        <p:nvSpPr>
          <p:cNvPr id="515" name="Google Shape;515;p16"/>
          <p:cNvSpPr/>
          <p:nvPr/>
        </p:nvSpPr>
        <p:spPr>
          <a:xfrm>
            <a:off x="548640" y="384048"/>
            <a:ext cx="475488" cy="475488"/>
          </a:xfrm>
          <a:prstGeom prst="roundRect">
            <a:avLst>
              <a:gd fmla="val 19231" name="adj"/>
            </a:avLst>
          </a:prstGeom>
          <a:solidFill>
            <a:srgbClr val="E09B34"/>
          </a:solidFill>
          <a:ln cap="flat" cmpd="sng" w="12700">
            <a:solidFill>
              <a:srgbClr val="E09B3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16"/>
          <p:cNvSpPr/>
          <p:nvPr/>
        </p:nvSpPr>
        <p:spPr>
          <a:xfrm>
            <a:off x="548640" y="384048"/>
            <a:ext cx="475488"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1821"/>
              </a:buClr>
              <a:buSzPts val="1700"/>
              <a:buFont typeface="Calibri"/>
              <a:buNone/>
            </a:pPr>
            <a:r>
              <a:rPr b="1" i="0" lang="en-US" sz="1700" u="none" cap="none" strike="noStrike">
                <a:solidFill>
                  <a:srgbClr val="141821"/>
                </a:solidFill>
                <a:latin typeface="Calibri"/>
                <a:ea typeface="Calibri"/>
                <a:cs typeface="Calibri"/>
                <a:sym typeface="Calibri"/>
              </a:rPr>
              <a:t>15</a:t>
            </a:r>
            <a:endParaRPr b="0" i="0" sz="1700" u="none" cap="none" strike="noStrike">
              <a:solidFill>
                <a:schemeClr val="dk1"/>
              </a:solidFill>
              <a:latin typeface="Calibri"/>
              <a:ea typeface="Calibri"/>
              <a:cs typeface="Calibri"/>
              <a:sym typeface="Calibri"/>
            </a:endParaRPr>
          </a:p>
        </p:txBody>
      </p:sp>
      <p:sp>
        <p:nvSpPr>
          <p:cNvPr id="517" name="Google Shape;517;p16"/>
          <p:cNvSpPr/>
          <p:nvPr/>
        </p:nvSpPr>
        <p:spPr>
          <a:xfrm>
            <a:off x="1170432" y="347472"/>
            <a:ext cx="104241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Calibri"/>
              <a:buNone/>
            </a:pPr>
            <a:r>
              <a:rPr b="1" i="0" lang="en-US" sz="3000" u="none" cap="none" strike="noStrike">
                <a:solidFill>
                  <a:srgbClr val="FFFFFF"/>
                </a:solidFill>
                <a:latin typeface="Calibri"/>
                <a:ea typeface="Calibri"/>
                <a:cs typeface="Calibri"/>
                <a:sym typeface="Calibri"/>
              </a:rPr>
              <a:t>The goose Development Kit (GDK)</a:t>
            </a:r>
            <a:endParaRPr b="0" i="0" sz="3000" u="none" cap="none" strike="noStrike">
              <a:solidFill>
                <a:schemeClr val="dk1"/>
              </a:solidFill>
              <a:latin typeface="Calibri"/>
              <a:ea typeface="Calibri"/>
              <a:cs typeface="Calibri"/>
              <a:sym typeface="Calibri"/>
            </a:endParaRPr>
          </a:p>
        </p:txBody>
      </p:sp>
      <p:sp>
        <p:nvSpPr>
          <p:cNvPr id="518" name="Google Shape;518;p16"/>
          <p:cNvSpPr/>
          <p:nvPr/>
        </p:nvSpPr>
        <p:spPr>
          <a:xfrm>
            <a:off x="1170432" y="914400"/>
            <a:ext cx="104241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E99AB"/>
              </a:buClr>
              <a:buSzPts val="1300"/>
              <a:buFont typeface="Calibri"/>
              <a:buNone/>
            </a:pPr>
            <a:r>
              <a:rPr b="0" i="1" lang="en-US" sz="1300" u="none" cap="none" strike="noStrike">
                <a:solidFill>
                  <a:srgbClr val="8E99AB"/>
                </a:solidFill>
                <a:latin typeface="Calibri"/>
                <a:ea typeface="Calibri"/>
                <a:cs typeface="Calibri"/>
                <a:sym typeface="Calibri"/>
              </a:rPr>
              <a:t>goose is becoming a platform: not one agent app, but the infrastructure other agentic apps are built on</a:t>
            </a:r>
            <a:endParaRPr b="0" i="0" sz="1300" u="none" cap="none" strike="noStrike">
              <a:solidFill>
                <a:schemeClr val="dk1"/>
              </a:solidFill>
              <a:latin typeface="Calibri"/>
              <a:ea typeface="Calibri"/>
              <a:cs typeface="Calibri"/>
              <a:sym typeface="Calibri"/>
            </a:endParaRPr>
          </a:p>
        </p:txBody>
      </p:sp>
      <p:sp>
        <p:nvSpPr>
          <p:cNvPr id="519" name="Google Shape;519;p16"/>
          <p:cNvSpPr/>
          <p:nvPr/>
        </p:nvSpPr>
        <p:spPr>
          <a:xfrm>
            <a:off x="548640" y="1481328"/>
            <a:ext cx="5504688" cy="1691640"/>
          </a:xfrm>
          <a:prstGeom prst="roundRect">
            <a:avLst>
              <a:gd fmla="val 4324" name="adj"/>
            </a:avLst>
          </a:prstGeom>
          <a:solidFill>
            <a:srgbClr val="232935"/>
          </a:solidFill>
          <a:ln cap="flat" cmpd="sng" w="12700">
            <a:solidFill>
              <a:srgbClr val="2E36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16"/>
          <p:cNvSpPr/>
          <p:nvPr/>
        </p:nvSpPr>
        <p:spPr>
          <a:xfrm>
            <a:off x="749808" y="1627632"/>
            <a:ext cx="510235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9B34"/>
              </a:buClr>
              <a:buSzPts val="1500"/>
              <a:buFont typeface="Calibri"/>
              <a:buNone/>
            </a:pPr>
            <a:r>
              <a:rPr b="1" i="0" lang="en-US" sz="1500" u="none" cap="none" strike="noStrike">
                <a:solidFill>
                  <a:srgbClr val="E09B34"/>
                </a:solidFill>
                <a:latin typeface="Calibri"/>
                <a:ea typeface="Calibri"/>
                <a:cs typeface="Calibri"/>
                <a:sym typeface="Calibri"/>
              </a:rPr>
              <a:t>The thesis</a:t>
            </a:r>
            <a:endParaRPr b="0" i="0" sz="1500" u="none" cap="none" strike="noStrike">
              <a:solidFill>
                <a:schemeClr val="dk1"/>
              </a:solidFill>
              <a:latin typeface="Calibri"/>
              <a:ea typeface="Calibri"/>
              <a:cs typeface="Calibri"/>
              <a:sym typeface="Calibri"/>
            </a:endParaRPr>
          </a:p>
        </p:txBody>
      </p:sp>
      <p:sp>
        <p:nvSpPr>
          <p:cNvPr id="521" name="Google Shape;521;p16"/>
          <p:cNvSpPr/>
          <p:nvPr/>
        </p:nvSpPr>
        <p:spPr>
          <a:xfrm>
            <a:off x="749808" y="1938528"/>
            <a:ext cx="5102352" cy="109728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B8C1D0"/>
              </a:buClr>
              <a:buSzPts val="1100"/>
              <a:buFont typeface="Calibri"/>
              <a:buNone/>
            </a:pPr>
            <a:r>
              <a:rPr b="0" i="0" lang="en-US" sz="1100" u="none" cap="none" strike="noStrike">
                <a:solidFill>
                  <a:srgbClr val="B8C1D0"/>
                </a:solidFill>
                <a:latin typeface="Calibri"/>
                <a:ea typeface="Calibri"/>
                <a:cs typeface="Calibri"/>
                <a:sym typeface="Calibri"/>
              </a:rPr>
              <a:t>GDK is an open-source SDK, written in Rust, for building agentic applications that are model-agnostic, locally runnable and independent of any single provider. Instead of every team rebuilding the agent loop, tool calling and context management, they compose these as shared infrastructure.</a:t>
            </a:r>
            <a:endParaRPr b="0" i="0" sz="1100" u="none" cap="none" strike="noStrike">
              <a:solidFill>
                <a:schemeClr val="dk1"/>
              </a:solidFill>
              <a:latin typeface="Calibri"/>
              <a:ea typeface="Calibri"/>
              <a:cs typeface="Calibri"/>
              <a:sym typeface="Calibri"/>
            </a:endParaRPr>
          </a:p>
        </p:txBody>
      </p:sp>
      <p:sp>
        <p:nvSpPr>
          <p:cNvPr id="522" name="Google Shape;522;p16"/>
          <p:cNvSpPr/>
          <p:nvPr/>
        </p:nvSpPr>
        <p:spPr>
          <a:xfrm>
            <a:off x="6272784" y="1481328"/>
            <a:ext cx="5358384" cy="1691640"/>
          </a:xfrm>
          <a:prstGeom prst="roundRect">
            <a:avLst>
              <a:gd fmla="val 4324" name="adj"/>
            </a:avLst>
          </a:prstGeom>
          <a:solidFill>
            <a:srgbClr val="232935"/>
          </a:solidFill>
          <a:ln cap="flat" cmpd="sng" w="12700">
            <a:solidFill>
              <a:srgbClr val="2E36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16"/>
          <p:cNvSpPr/>
          <p:nvPr/>
        </p:nvSpPr>
        <p:spPr>
          <a:xfrm>
            <a:off x="6473952" y="1627632"/>
            <a:ext cx="495604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9B34"/>
              </a:buClr>
              <a:buSzPts val="1500"/>
              <a:buFont typeface="Calibri"/>
              <a:buNone/>
            </a:pPr>
            <a:r>
              <a:rPr b="1" i="0" lang="en-US" sz="1500" u="none" cap="none" strike="noStrike">
                <a:solidFill>
                  <a:srgbClr val="E09B34"/>
                </a:solidFill>
                <a:latin typeface="Calibri"/>
                <a:ea typeface="Calibri"/>
                <a:cs typeface="Calibri"/>
                <a:sym typeface="Calibri"/>
              </a:rPr>
              <a:t>Two ways to integrate</a:t>
            </a:r>
            <a:endParaRPr b="0" i="0" sz="1500" u="none" cap="none" strike="noStrike">
              <a:solidFill>
                <a:schemeClr val="dk1"/>
              </a:solidFill>
              <a:latin typeface="Calibri"/>
              <a:ea typeface="Calibri"/>
              <a:cs typeface="Calibri"/>
              <a:sym typeface="Calibri"/>
            </a:endParaRPr>
          </a:p>
        </p:txBody>
      </p:sp>
      <p:sp>
        <p:nvSpPr>
          <p:cNvPr id="524" name="Google Shape;524;p16"/>
          <p:cNvSpPr/>
          <p:nvPr/>
        </p:nvSpPr>
        <p:spPr>
          <a:xfrm>
            <a:off x="6473952" y="1938528"/>
            <a:ext cx="4956048" cy="109728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ACP  </a:t>
            </a:r>
            <a:r>
              <a:rPr b="0" i="0" lang="en-US" sz="1100" u="none" cap="none" strike="noStrike">
                <a:solidFill>
                  <a:srgbClr val="B8C1D0"/>
                </a:solidFill>
                <a:latin typeface="Calibri"/>
                <a:ea typeface="Calibri"/>
                <a:cs typeface="Calibri"/>
                <a:sym typeface="Calibri"/>
              </a:rPr>
              <a:t>— talk to goose as a separate process or daemon, keeping the runtime independent of your interface.</a:t>
            </a:r>
            <a:endParaRPr b="0" i="0" sz="1100" u="none" cap="none" strike="noStrike">
              <a:solidFill>
                <a:schemeClr val="dk1"/>
              </a:solidFill>
              <a:latin typeface="Calibri"/>
              <a:ea typeface="Calibri"/>
              <a:cs typeface="Calibri"/>
              <a:sym typeface="Calibri"/>
            </a:endParaRPr>
          </a:p>
          <a:p>
            <a:pPr indent="0" lvl="0" marL="0" marR="0" rtl="0" algn="l">
              <a:lnSpc>
                <a:spcPct val="110000"/>
              </a:lnSpc>
              <a:spcBef>
                <a:spcPts val="40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Rust API  </a:t>
            </a:r>
            <a:r>
              <a:rPr b="0" i="0" lang="en-US" sz="1100" u="none" cap="none" strike="noStrike">
                <a:solidFill>
                  <a:srgbClr val="B8C1D0"/>
                </a:solidFill>
                <a:latin typeface="Calibri"/>
                <a:ea typeface="Calibri"/>
                <a:cs typeface="Calibri"/>
                <a:sym typeface="Calibri"/>
              </a:rPr>
              <a:t>— embed the agent directly in your application. goose Desktop and the goose CLI are themselves first-party examples built this way.</a:t>
            </a:r>
            <a:endParaRPr b="0" i="0" sz="1100" u="none" cap="none" strike="noStrike">
              <a:solidFill>
                <a:schemeClr val="dk1"/>
              </a:solidFill>
              <a:latin typeface="Calibri"/>
              <a:ea typeface="Calibri"/>
              <a:cs typeface="Calibri"/>
              <a:sym typeface="Calibri"/>
            </a:endParaRPr>
          </a:p>
        </p:txBody>
      </p:sp>
      <p:sp>
        <p:nvSpPr>
          <p:cNvPr id="525" name="Google Shape;525;p16"/>
          <p:cNvSpPr/>
          <p:nvPr/>
        </p:nvSpPr>
        <p:spPr>
          <a:xfrm>
            <a:off x="548640" y="3310128"/>
            <a:ext cx="11082528"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9B34"/>
              </a:buClr>
              <a:buSzPts val="1000"/>
              <a:buFont typeface="Calibri"/>
              <a:buNone/>
            </a:pPr>
            <a:r>
              <a:rPr b="1" i="0" lang="en-US" sz="1000" u="none" cap="none" strike="noStrike">
                <a:solidFill>
                  <a:srgbClr val="E09B34"/>
                </a:solidFill>
                <a:latin typeface="Calibri"/>
                <a:ea typeface="Calibri"/>
                <a:cs typeface="Calibri"/>
                <a:sym typeface="Calibri"/>
              </a:rPr>
              <a:t>BUILDING BLOCKS ON OFFER</a:t>
            </a:r>
            <a:endParaRPr b="0" i="0" sz="1000" u="none" cap="none" strike="noStrike">
              <a:solidFill>
                <a:schemeClr val="dk1"/>
              </a:solidFill>
              <a:latin typeface="Calibri"/>
              <a:ea typeface="Calibri"/>
              <a:cs typeface="Calibri"/>
              <a:sym typeface="Calibri"/>
            </a:endParaRPr>
          </a:p>
        </p:txBody>
      </p:sp>
      <p:sp>
        <p:nvSpPr>
          <p:cNvPr id="526" name="Google Shape;526;p16"/>
          <p:cNvSpPr/>
          <p:nvPr/>
        </p:nvSpPr>
        <p:spPr>
          <a:xfrm>
            <a:off x="548640" y="3621024"/>
            <a:ext cx="1499616" cy="438912"/>
          </a:xfrm>
          <a:prstGeom prst="roundRect">
            <a:avLst>
              <a:gd fmla="val 20833" name="adj"/>
            </a:avLst>
          </a:prstGeom>
          <a:solidFill>
            <a:srgbClr val="232935"/>
          </a:solidFill>
          <a:ln cap="flat" cmpd="sng" w="12700">
            <a:solidFill>
              <a:srgbClr val="3A435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16"/>
          <p:cNvSpPr/>
          <p:nvPr/>
        </p:nvSpPr>
        <p:spPr>
          <a:xfrm>
            <a:off x="594360" y="3621024"/>
            <a:ext cx="1408176"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BD3DF"/>
              </a:buClr>
              <a:buSzPts val="850"/>
              <a:buFont typeface="Calibri"/>
              <a:buNone/>
            </a:pPr>
            <a:r>
              <a:rPr b="0" i="0" lang="en-US" sz="850" u="none" cap="none" strike="noStrike">
                <a:solidFill>
                  <a:srgbClr val="CBD3DF"/>
                </a:solidFill>
                <a:latin typeface="Calibri"/>
                <a:ea typeface="Calibri"/>
                <a:cs typeface="Calibri"/>
                <a:sym typeface="Calibri"/>
              </a:rPr>
              <a:t>Agent orchestration</a:t>
            </a:r>
            <a:endParaRPr b="0" i="0" sz="850" u="none" cap="none" strike="noStrike">
              <a:solidFill>
                <a:schemeClr val="dk1"/>
              </a:solidFill>
              <a:latin typeface="Calibri"/>
              <a:ea typeface="Calibri"/>
              <a:cs typeface="Calibri"/>
              <a:sym typeface="Calibri"/>
            </a:endParaRPr>
          </a:p>
        </p:txBody>
      </p:sp>
      <p:sp>
        <p:nvSpPr>
          <p:cNvPr id="528" name="Google Shape;528;p16"/>
          <p:cNvSpPr/>
          <p:nvPr/>
        </p:nvSpPr>
        <p:spPr>
          <a:xfrm>
            <a:off x="2144268" y="3621024"/>
            <a:ext cx="1499616" cy="438912"/>
          </a:xfrm>
          <a:prstGeom prst="roundRect">
            <a:avLst>
              <a:gd fmla="val 20833" name="adj"/>
            </a:avLst>
          </a:prstGeom>
          <a:solidFill>
            <a:srgbClr val="232935"/>
          </a:solidFill>
          <a:ln cap="flat" cmpd="sng" w="12700">
            <a:solidFill>
              <a:srgbClr val="3A435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16"/>
          <p:cNvSpPr/>
          <p:nvPr/>
        </p:nvSpPr>
        <p:spPr>
          <a:xfrm>
            <a:off x="2189988" y="3621024"/>
            <a:ext cx="1408176"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BD3DF"/>
              </a:buClr>
              <a:buSzPts val="850"/>
              <a:buFont typeface="Calibri"/>
              <a:buNone/>
            </a:pPr>
            <a:r>
              <a:rPr b="0" i="0" lang="en-US" sz="850" u="none" cap="none" strike="noStrike">
                <a:solidFill>
                  <a:srgbClr val="CBD3DF"/>
                </a:solidFill>
                <a:latin typeface="Calibri"/>
                <a:ea typeface="Calibri"/>
                <a:cs typeface="Calibri"/>
                <a:sym typeface="Calibri"/>
              </a:rPr>
              <a:t>In-process local models</a:t>
            </a:r>
            <a:endParaRPr b="0" i="0" sz="850" u="none" cap="none" strike="noStrike">
              <a:solidFill>
                <a:schemeClr val="dk1"/>
              </a:solidFill>
              <a:latin typeface="Calibri"/>
              <a:ea typeface="Calibri"/>
              <a:cs typeface="Calibri"/>
              <a:sym typeface="Calibri"/>
            </a:endParaRPr>
          </a:p>
        </p:txBody>
      </p:sp>
      <p:sp>
        <p:nvSpPr>
          <p:cNvPr id="530" name="Google Shape;530;p16"/>
          <p:cNvSpPr/>
          <p:nvPr/>
        </p:nvSpPr>
        <p:spPr>
          <a:xfrm>
            <a:off x="3739896" y="3621024"/>
            <a:ext cx="1499616" cy="438912"/>
          </a:xfrm>
          <a:prstGeom prst="roundRect">
            <a:avLst>
              <a:gd fmla="val 20833" name="adj"/>
            </a:avLst>
          </a:prstGeom>
          <a:solidFill>
            <a:srgbClr val="232935"/>
          </a:solidFill>
          <a:ln cap="flat" cmpd="sng" w="12700">
            <a:solidFill>
              <a:srgbClr val="3A435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16"/>
          <p:cNvSpPr/>
          <p:nvPr/>
        </p:nvSpPr>
        <p:spPr>
          <a:xfrm>
            <a:off x="3785616" y="3621024"/>
            <a:ext cx="1408176"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BD3DF"/>
              </a:buClr>
              <a:buSzPts val="850"/>
              <a:buFont typeface="Calibri"/>
              <a:buNone/>
            </a:pPr>
            <a:r>
              <a:rPr b="0" i="0" lang="en-US" sz="850" u="none" cap="none" strike="noStrike">
                <a:solidFill>
                  <a:srgbClr val="CBD3DF"/>
                </a:solidFill>
                <a:latin typeface="Calibri"/>
                <a:ea typeface="Calibri"/>
                <a:cs typeface="Calibri"/>
                <a:sym typeface="Calibri"/>
              </a:rPr>
              <a:t>50+ model providers</a:t>
            </a:r>
            <a:endParaRPr b="0" i="0" sz="850" u="none" cap="none" strike="noStrike">
              <a:solidFill>
                <a:schemeClr val="dk1"/>
              </a:solidFill>
              <a:latin typeface="Calibri"/>
              <a:ea typeface="Calibri"/>
              <a:cs typeface="Calibri"/>
              <a:sym typeface="Calibri"/>
            </a:endParaRPr>
          </a:p>
        </p:txBody>
      </p:sp>
      <p:sp>
        <p:nvSpPr>
          <p:cNvPr id="532" name="Google Shape;532;p16"/>
          <p:cNvSpPr/>
          <p:nvPr/>
        </p:nvSpPr>
        <p:spPr>
          <a:xfrm>
            <a:off x="5335524" y="3621024"/>
            <a:ext cx="1499616" cy="438912"/>
          </a:xfrm>
          <a:prstGeom prst="roundRect">
            <a:avLst>
              <a:gd fmla="val 20833" name="adj"/>
            </a:avLst>
          </a:prstGeom>
          <a:solidFill>
            <a:srgbClr val="232935"/>
          </a:solidFill>
          <a:ln cap="flat" cmpd="sng" w="12700">
            <a:solidFill>
              <a:srgbClr val="3A435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16"/>
          <p:cNvSpPr/>
          <p:nvPr/>
        </p:nvSpPr>
        <p:spPr>
          <a:xfrm>
            <a:off x="5381244" y="3621024"/>
            <a:ext cx="1408176"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BD3DF"/>
              </a:buClr>
              <a:buSzPts val="850"/>
              <a:buFont typeface="Calibri"/>
              <a:buNone/>
            </a:pPr>
            <a:r>
              <a:rPr b="0" i="0" lang="en-US" sz="850" u="none" cap="none" strike="noStrike">
                <a:solidFill>
                  <a:srgbClr val="CBD3DF"/>
                </a:solidFill>
                <a:latin typeface="Calibri"/>
                <a:ea typeface="Calibri"/>
                <a:cs typeface="Calibri"/>
                <a:sym typeface="Calibri"/>
              </a:rPr>
              <a:t>Routing &amp; model selection</a:t>
            </a:r>
            <a:endParaRPr b="0" i="0" sz="850" u="none" cap="none" strike="noStrike">
              <a:solidFill>
                <a:schemeClr val="dk1"/>
              </a:solidFill>
              <a:latin typeface="Calibri"/>
              <a:ea typeface="Calibri"/>
              <a:cs typeface="Calibri"/>
              <a:sym typeface="Calibri"/>
            </a:endParaRPr>
          </a:p>
        </p:txBody>
      </p:sp>
      <p:sp>
        <p:nvSpPr>
          <p:cNvPr id="534" name="Google Shape;534;p16"/>
          <p:cNvSpPr/>
          <p:nvPr/>
        </p:nvSpPr>
        <p:spPr>
          <a:xfrm>
            <a:off x="6931152" y="3621024"/>
            <a:ext cx="1499616" cy="438912"/>
          </a:xfrm>
          <a:prstGeom prst="roundRect">
            <a:avLst>
              <a:gd fmla="val 20833" name="adj"/>
            </a:avLst>
          </a:prstGeom>
          <a:solidFill>
            <a:srgbClr val="232935"/>
          </a:solidFill>
          <a:ln cap="flat" cmpd="sng" w="12700">
            <a:solidFill>
              <a:srgbClr val="3A435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16"/>
          <p:cNvSpPr/>
          <p:nvPr/>
        </p:nvSpPr>
        <p:spPr>
          <a:xfrm>
            <a:off x="6976872" y="3621024"/>
            <a:ext cx="1408176"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BD3DF"/>
              </a:buClr>
              <a:buSzPts val="850"/>
              <a:buFont typeface="Calibri"/>
              <a:buNone/>
            </a:pPr>
            <a:r>
              <a:rPr b="0" i="0" lang="en-US" sz="850" u="none" cap="none" strike="noStrike">
                <a:solidFill>
                  <a:srgbClr val="CBD3DF"/>
                </a:solidFill>
                <a:latin typeface="Calibri"/>
                <a:ea typeface="Calibri"/>
                <a:cs typeface="Calibri"/>
                <a:sym typeface="Calibri"/>
              </a:rPr>
              <a:t>Context management</a:t>
            </a:r>
            <a:endParaRPr b="0" i="0" sz="850" u="none" cap="none" strike="noStrike">
              <a:solidFill>
                <a:schemeClr val="dk1"/>
              </a:solidFill>
              <a:latin typeface="Calibri"/>
              <a:ea typeface="Calibri"/>
              <a:cs typeface="Calibri"/>
              <a:sym typeface="Calibri"/>
            </a:endParaRPr>
          </a:p>
        </p:txBody>
      </p:sp>
      <p:sp>
        <p:nvSpPr>
          <p:cNvPr id="536" name="Google Shape;536;p16"/>
          <p:cNvSpPr/>
          <p:nvPr/>
        </p:nvSpPr>
        <p:spPr>
          <a:xfrm>
            <a:off x="8526780" y="3621024"/>
            <a:ext cx="1499616" cy="438912"/>
          </a:xfrm>
          <a:prstGeom prst="roundRect">
            <a:avLst>
              <a:gd fmla="val 20833" name="adj"/>
            </a:avLst>
          </a:prstGeom>
          <a:solidFill>
            <a:srgbClr val="232935"/>
          </a:solidFill>
          <a:ln cap="flat" cmpd="sng" w="12700">
            <a:solidFill>
              <a:srgbClr val="3A435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16"/>
          <p:cNvSpPr/>
          <p:nvPr/>
        </p:nvSpPr>
        <p:spPr>
          <a:xfrm>
            <a:off x="8572500" y="3621024"/>
            <a:ext cx="1408176"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BD3DF"/>
              </a:buClr>
              <a:buSzPts val="850"/>
              <a:buFont typeface="Calibri"/>
              <a:buNone/>
            </a:pPr>
            <a:r>
              <a:rPr b="0" i="0" lang="en-US" sz="850" u="none" cap="none" strike="noStrike">
                <a:solidFill>
                  <a:srgbClr val="CBD3DF"/>
                </a:solidFill>
                <a:latin typeface="Calibri"/>
                <a:ea typeface="Calibri"/>
                <a:cs typeface="Calibri"/>
                <a:sym typeface="Calibri"/>
              </a:rPr>
              <a:t>Tools &amp; MCP</a:t>
            </a:r>
            <a:endParaRPr b="0" i="0" sz="850" u="none" cap="none" strike="noStrike">
              <a:solidFill>
                <a:schemeClr val="dk1"/>
              </a:solidFill>
              <a:latin typeface="Calibri"/>
              <a:ea typeface="Calibri"/>
              <a:cs typeface="Calibri"/>
              <a:sym typeface="Calibri"/>
            </a:endParaRPr>
          </a:p>
        </p:txBody>
      </p:sp>
      <p:sp>
        <p:nvSpPr>
          <p:cNvPr id="538" name="Google Shape;538;p16"/>
          <p:cNvSpPr/>
          <p:nvPr/>
        </p:nvSpPr>
        <p:spPr>
          <a:xfrm>
            <a:off x="10122408" y="3621024"/>
            <a:ext cx="1499616" cy="438912"/>
          </a:xfrm>
          <a:prstGeom prst="roundRect">
            <a:avLst>
              <a:gd fmla="val 20833" name="adj"/>
            </a:avLst>
          </a:prstGeom>
          <a:solidFill>
            <a:srgbClr val="232935"/>
          </a:solidFill>
          <a:ln cap="flat" cmpd="sng" w="12700">
            <a:solidFill>
              <a:srgbClr val="3A435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16"/>
          <p:cNvSpPr/>
          <p:nvPr/>
        </p:nvSpPr>
        <p:spPr>
          <a:xfrm>
            <a:off x="10168128" y="3621024"/>
            <a:ext cx="1408176"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BD3DF"/>
              </a:buClr>
              <a:buSzPts val="850"/>
              <a:buFont typeface="Calibri"/>
              <a:buNone/>
            </a:pPr>
            <a:r>
              <a:rPr b="0" i="0" lang="en-US" sz="850" u="none" cap="none" strike="noStrike">
                <a:solidFill>
                  <a:srgbClr val="CBD3DF"/>
                </a:solidFill>
                <a:latin typeface="Calibri"/>
                <a:ea typeface="Calibri"/>
                <a:cs typeface="Calibri"/>
                <a:sym typeface="Calibri"/>
              </a:rPr>
              <a:t>Memory</a:t>
            </a:r>
            <a:endParaRPr b="0" i="0" sz="850" u="none" cap="none" strike="noStrike">
              <a:solidFill>
                <a:schemeClr val="dk1"/>
              </a:solidFill>
              <a:latin typeface="Calibri"/>
              <a:ea typeface="Calibri"/>
              <a:cs typeface="Calibri"/>
              <a:sym typeface="Calibri"/>
            </a:endParaRPr>
          </a:p>
        </p:txBody>
      </p:sp>
      <p:sp>
        <p:nvSpPr>
          <p:cNvPr id="540" name="Google Shape;540;p16"/>
          <p:cNvSpPr/>
          <p:nvPr/>
        </p:nvSpPr>
        <p:spPr>
          <a:xfrm>
            <a:off x="548640" y="4151376"/>
            <a:ext cx="1499616" cy="438912"/>
          </a:xfrm>
          <a:prstGeom prst="roundRect">
            <a:avLst>
              <a:gd fmla="val 20833" name="adj"/>
            </a:avLst>
          </a:prstGeom>
          <a:solidFill>
            <a:srgbClr val="232935"/>
          </a:solidFill>
          <a:ln cap="flat" cmpd="sng" w="12700">
            <a:solidFill>
              <a:srgbClr val="3A435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16"/>
          <p:cNvSpPr/>
          <p:nvPr/>
        </p:nvSpPr>
        <p:spPr>
          <a:xfrm>
            <a:off x="594360" y="4151376"/>
            <a:ext cx="1408176"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BD3DF"/>
              </a:buClr>
              <a:buSzPts val="850"/>
              <a:buFont typeface="Calibri"/>
              <a:buNone/>
            </a:pPr>
            <a:r>
              <a:rPr b="0" i="0" lang="en-US" sz="850" u="none" cap="none" strike="noStrike">
                <a:solidFill>
                  <a:srgbClr val="CBD3DF"/>
                </a:solidFill>
                <a:latin typeface="Calibri"/>
                <a:ea typeface="Calibri"/>
                <a:cs typeface="Calibri"/>
                <a:sym typeface="Calibri"/>
              </a:rPr>
              <a:t>Remote execution</a:t>
            </a:r>
            <a:endParaRPr b="0" i="0" sz="850" u="none" cap="none" strike="noStrike">
              <a:solidFill>
                <a:schemeClr val="dk1"/>
              </a:solidFill>
              <a:latin typeface="Calibri"/>
              <a:ea typeface="Calibri"/>
              <a:cs typeface="Calibri"/>
              <a:sym typeface="Calibri"/>
            </a:endParaRPr>
          </a:p>
        </p:txBody>
      </p:sp>
      <p:sp>
        <p:nvSpPr>
          <p:cNvPr id="542" name="Google Shape;542;p16"/>
          <p:cNvSpPr/>
          <p:nvPr/>
        </p:nvSpPr>
        <p:spPr>
          <a:xfrm>
            <a:off x="2144268" y="4151376"/>
            <a:ext cx="1499616" cy="438912"/>
          </a:xfrm>
          <a:prstGeom prst="roundRect">
            <a:avLst>
              <a:gd fmla="val 20833" name="adj"/>
            </a:avLst>
          </a:prstGeom>
          <a:solidFill>
            <a:srgbClr val="232935"/>
          </a:solidFill>
          <a:ln cap="flat" cmpd="sng" w="12700">
            <a:solidFill>
              <a:srgbClr val="3A435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16"/>
          <p:cNvSpPr/>
          <p:nvPr/>
        </p:nvSpPr>
        <p:spPr>
          <a:xfrm>
            <a:off x="2189988" y="4151376"/>
            <a:ext cx="1408176"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BD3DF"/>
              </a:buClr>
              <a:buSzPts val="850"/>
              <a:buFont typeface="Calibri"/>
              <a:buNone/>
            </a:pPr>
            <a:r>
              <a:rPr b="0" i="0" lang="en-US" sz="850" u="none" cap="none" strike="noStrike">
                <a:solidFill>
                  <a:srgbClr val="CBD3DF"/>
                </a:solidFill>
                <a:latin typeface="Calibri"/>
                <a:ea typeface="Calibri"/>
                <a:cs typeface="Calibri"/>
                <a:sym typeface="Calibri"/>
              </a:rPr>
              <a:t>Automations &amp; scheduling</a:t>
            </a:r>
            <a:endParaRPr b="0" i="0" sz="850" u="none" cap="none" strike="noStrike">
              <a:solidFill>
                <a:schemeClr val="dk1"/>
              </a:solidFill>
              <a:latin typeface="Calibri"/>
              <a:ea typeface="Calibri"/>
              <a:cs typeface="Calibri"/>
              <a:sym typeface="Calibri"/>
            </a:endParaRPr>
          </a:p>
        </p:txBody>
      </p:sp>
      <p:sp>
        <p:nvSpPr>
          <p:cNvPr id="544" name="Google Shape;544;p16"/>
          <p:cNvSpPr/>
          <p:nvPr/>
        </p:nvSpPr>
        <p:spPr>
          <a:xfrm>
            <a:off x="3739896" y="4151376"/>
            <a:ext cx="1499616" cy="438912"/>
          </a:xfrm>
          <a:prstGeom prst="roundRect">
            <a:avLst>
              <a:gd fmla="val 20833" name="adj"/>
            </a:avLst>
          </a:prstGeom>
          <a:solidFill>
            <a:srgbClr val="232935"/>
          </a:solidFill>
          <a:ln cap="flat" cmpd="sng" w="12700">
            <a:solidFill>
              <a:srgbClr val="3A435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16"/>
          <p:cNvSpPr/>
          <p:nvPr/>
        </p:nvSpPr>
        <p:spPr>
          <a:xfrm>
            <a:off x="3785616" y="4151376"/>
            <a:ext cx="1408176"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BD3DF"/>
              </a:buClr>
              <a:buSzPts val="850"/>
              <a:buFont typeface="Calibri"/>
              <a:buNone/>
            </a:pPr>
            <a:r>
              <a:rPr b="0" i="0" lang="en-US" sz="850" u="none" cap="none" strike="noStrike">
                <a:solidFill>
                  <a:srgbClr val="CBD3DF"/>
                </a:solidFill>
                <a:latin typeface="Calibri"/>
                <a:ea typeface="Calibri"/>
                <a:cs typeface="Calibri"/>
                <a:sym typeface="Calibri"/>
              </a:rPr>
              <a:t>Skills</a:t>
            </a:r>
            <a:endParaRPr b="0" i="0" sz="850" u="none" cap="none" strike="noStrike">
              <a:solidFill>
                <a:schemeClr val="dk1"/>
              </a:solidFill>
              <a:latin typeface="Calibri"/>
              <a:ea typeface="Calibri"/>
              <a:cs typeface="Calibri"/>
              <a:sym typeface="Calibri"/>
            </a:endParaRPr>
          </a:p>
        </p:txBody>
      </p:sp>
      <p:sp>
        <p:nvSpPr>
          <p:cNvPr id="546" name="Google Shape;546;p16"/>
          <p:cNvSpPr/>
          <p:nvPr/>
        </p:nvSpPr>
        <p:spPr>
          <a:xfrm>
            <a:off x="5335524" y="4151376"/>
            <a:ext cx="1499616" cy="438912"/>
          </a:xfrm>
          <a:prstGeom prst="roundRect">
            <a:avLst>
              <a:gd fmla="val 20833" name="adj"/>
            </a:avLst>
          </a:prstGeom>
          <a:solidFill>
            <a:srgbClr val="232935"/>
          </a:solidFill>
          <a:ln cap="flat" cmpd="sng" w="12700">
            <a:solidFill>
              <a:srgbClr val="3A435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16"/>
          <p:cNvSpPr/>
          <p:nvPr/>
        </p:nvSpPr>
        <p:spPr>
          <a:xfrm>
            <a:off x="5381244" y="4151376"/>
            <a:ext cx="1408176"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BD3DF"/>
              </a:buClr>
              <a:buSzPts val="850"/>
              <a:buFont typeface="Calibri"/>
              <a:buNone/>
            </a:pPr>
            <a:r>
              <a:rPr b="0" i="0" lang="en-US" sz="850" u="none" cap="none" strike="noStrike">
                <a:solidFill>
                  <a:srgbClr val="CBD3DF"/>
                </a:solidFill>
                <a:latin typeface="Calibri"/>
                <a:ea typeface="Calibri"/>
                <a:cs typeface="Calibri"/>
                <a:sym typeface="Calibri"/>
              </a:rPr>
              <a:t>Subagents</a:t>
            </a:r>
            <a:endParaRPr b="0" i="0" sz="850" u="none" cap="none" strike="noStrike">
              <a:solidFill>
                <a:schemeClr val="dk1"/>
              </a:solidFill>
              <a:latin typeface="Calibri"/>
              <a:ea typeface="Calibri"/>
              <a:cs typeface="Calibri"/>
              <a:sym typeface="Calibri"/>
            </a:endParaRPr>
          </a:p>
        </p:txBody>
      </p:sp>
      <p:sp>
        <p:nvSpPr>
          <p:cNvPr id="548" name="Google Shape;548;p16"/>
          <p:cNvSpPr/>
          <p:nvPr/>
        </p:nvSpPr>
        <p:spPr>
          <a:xfrm>
            <a:off x="6931152" y="4151376"/>
            <a:ext cx="1499616" cy="438912"/>
          </a:xfrm>
          <a:prstGeom prst="roundRect">
            <a:avLst>
              <a:gd fmla="val 20833" name="adj"/>
            </a:avLst>
          </a:prstGeom>
          <a:solidFill>
            <a:srgbClr val="232935"/>
          </a:solidFill>
          <a:ln cap="flat" cmpd="sng" w="12700">
            <a:solidFill>
              <a:srgbClr val="3A435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16"/>
          <p:cNvSpPr/>
          <p:nvPr/>
        </p:nvSpPr>
        <p:spPr>
          <a:xfrm>
            <a:off x="6976872" y="4151376"/>
            <a:ext cx="1408176"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BD3DF"/>
              </a:buClr>
              <a:buSzPts val="850"/>
              <a:buFont typeface="Calibri"/>
              <a:buNone/>
            </a:pPr>
            <a:r>
              <a:rPr b="0" i="0" lang="en-US" sz="850" u="none" cap="none" strike="noStrike">
                <a:solidFill>
                  <a:srgbClr val="CBD3DF"/>
                </a:solidFill>
                <a:latin typeface="Calibri"/>
                <a:ea typeface="Calibri"/>
                <a:cs typeface="Calibri"/>
                <a:sym typeface="Calibri"/>
              </a:rPr>
              <a:t>Code mode</a:t>
            </a:r>
            <a:endParaRPr b="0" i="0" sz="850" u="none" cap="none" strike="noStrike">
              <a:solidFill>
                <a:schemeClr val="dk1"/>
              </a:solidFill>
              <a:latin typeface="Calibri"/>
              <a:ea typeface="Calibri"/>
              <a:cs typeface="Calibri"/>
              <a:sym typeface="Calibri"/>
            </a:endParaRPr>
          </a:p>
        </p:txBody>
      </p:sp>
      <p:sp>
        <p:nvSpPr>
          <p:cNvPr id="550" name="Google Shape;550;p16"/>
          <p:cNvSpPr/>
          <p:nvPr/>
        </p:nvSpPr>
        <p:spPr>
          <a:xfrm>
            <a:off x="8526780" y="4151376"/>
            <a:ext cx="1499616" cy="438912"/>
          </a:xfrm>
          <a:prstGeom prst="roundRect">
            <a:avLst>
              <a:gd fmla="val 20833" name="adj"/>
            </a:avLst>
          </a:prstGeom>
          <a:solidFill>
            <a:srgbClr val="232935"/>
          </a:solidFill>
          <a:ln cap="flat" cmpd="sng" w="12700">
            <a:solidFill>
              <a:srgbClr val="3A435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16"/>
          <p:cNvSpPr/>
          <p:nvPr/>
        </p:nvSpPr>
        <p:spPr>
          <a:xfrm>
            <a:off x="8572500" y="4151376"/>
            <a:ext cx="1408176"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BD3DF"/>
              </a:buClr>
              <a:buSzPts val="850"/>
              <a:buFont typeface="Calibri"/>
              <a:buNone/>
            </a:pPr>
            <a:r>
              <a:rPr b="0" i="0" lang="en-US" sz="850" u="none" cap="none" strike="noStrike">
                <a:solidFill>
                  <a:srgbClr val="CBD3DF"/>
                </a:solidFill>
                <a:latin typeface="Calibri"/>
                <a:ea typeface="Calibri"/>
                <a:cs typeface="Calibri"/>
                <a:sym typeface="Calibri"/>
              </a:rPr>
              <a:t>Flexible agent loop</a:t>
            </a:r>
            <a:endParaRPr b="0" i="0" sz="850" u="none" cap="none" strike="noStrike">
              <a:solidFill>
                <a:schemeClr val="dk1"/>
              </a:solidFill>
              <a:latin typeface="Calibri"/>
              <a:ea typeface="Calibri"/>
              <a:cs typeface="Calibri"/>
              <a:sym typeface="Calibri"/>
            </a:endParaRPr>
          </a:p>
        </p:txBody>
      </p:sp>
      <p:sp>
        <p:nvSpPr>
          <p:cNvPr id="552" name="Google Shape;552;p16"/>
          <p:cNvSpPr/>
          <p:nvPr/>
        </p:nvSpPr>
        <p:spPr>
          <a:xfrm>
            <a:off x="10122408" y="4151376"/>
            <a:ext cx="1499616" cy="438912"/>
          </a:xfrm>
          <a:prstGeom prst="roundRect">
            <a:avLst>
              <a:gd fmla="val 20833" name="adj"/>
            </a:avLst>
          </a:prstGeom>
          <a:solidFill>
            <a:srgbClr val="232935"/>
          </a:solidFill>
          <a:ln cap="flat" cmpd="sng" w="12700">
            <a:solidFill>
              <a:srgbClr val="3A435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16"/>
          <p:cNvSpPr/>
          <p:nvPr/>
        </p:nvSpPr>
        <p:spPr>
          <a:xfrm>
            <a:off x="10168128" y="4151376"/>
            <a:ext cx="1408176"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BD3DF"/>
              </a:buClr>
              <a:buSzPts val="850"/>
              <a:buFont typeface="Calibri"/>
              <a:buNone/>
            </a:pPr>
            <a:r>
              <a:rPr b="0" i="0" lang="en-US" sz="850" u="none" cap="none" strike="noStrike">
                <a:solidFill>
                  <a:srgbClr val="CBD3DF"/>
                </a:solidFill>
                <a:latin typeface="Calibri"/>
                <a:ea typeface="Calibri"/>
                <a:cs typeface="Calibri"/>
                <a:sym typeface="Calibri"/>
              </a:rPr>
              <a:t>Slash command infra</a:t>
            </a:r>
            <a:endParaRPr b="0" i="0" sz="850" u="none" cap="none" strike="noStrike">
              <a:solidFill>
                <a:schemeClr val="dk1"/>
              </a:solidFill>
              <a:latin typeface="Calibri"/>
              <a:ea typeface="Calibri"/>
              <a:cs typeface="Calibri"/>
              <a:sym typeface="Calibri"/>
            </a:endParaRPr>
          </a:p>
        </p:txBody>
      </p:sp>
      <p:sp>
        <p:nvSpPr>
          <p:cNvPr id="554" name="Google Shape;554;p16"/>
          <p:cNvSpPr/>
          <p:nvPr/>
        </p:nvSpPr>
        <p:spPr>
          <a:xfrm>
            <a:off x="548640" y="4846320"/>
            <a:ext cx="1108252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Where to go next</a:t>
            </a:r>
            <a:endParaRPr b="0" i="0" sz="1500" u="none" cap="none" strike="noStrike">
              <a:solidFill>
                <a:schemeClr val="dk1"/>
              </a:solidFill>
              <a:latin typeface="Calibri"/>
              <a:ea typeface="Calibri"/>
              <a:cs typeface="Calibri"/>
              <a:sym typeface="Calibri"/>
            </a:endParaRPr>
          </a:p>
        </p:txBody>
      </p:sp>
      <p:sp>
        <p:nvSpPr>
          <p:cNvPr id="555" name="Google Shape;555;p16"/>
          <p:cNvSpPr/>
          <p:nvPr/>
        </p:nvSpPr>
        <p:spPr>
          <a:xfrm>
            <a:off x="548640" y="5175504"/>
            <a:ext cx="2157984" cy="56692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E09B34"/>
              </a:buClr>
              <a:buSzPts val="950"/>
              <a:buFont typeface="Calibri"/>
              <a:buNone/>
            </a:pPr>
            <a:r>
              <a:rPr b="1" i="0" lang="en-US" sz="950" u="none" cap="none" strike="noStrike">
                <a:solidFill>
                  <a:srgbClr val="E09B34"/>
                </a:solidFill>
                <a:latin typeface="Calibri"/>
                <a:ea typeface="Calibri"/>
                <a:cs typeface="Calibri"/>
                <a:sym typeface="Calibri"/>
              </a:rPr>
              <a:t>Docs</a:t>
            </a:r>
            <a:endParaRPr b="0" i="0" sz="950" u="none" cap="none" strike="noStrike">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rgbClr val="CBD3DF"/>
              </a:buClr>
              <a:buSzPts val="1100"/>
              <a:buFont typeface="Calibri"/>
              <a:buNone/>
            </a:pPr>
            <a:r>
              <a:rPr b="0" i="0" lang="en-US" sz="1100" u="none" cap="none" strike="noStrike">
                <a:solidFill>
                  <a:srgbClr val="CBD3DF"/>
                </a:solidFill>
                <a:latin typeface="Calibri"/>
                <a:ea typeface="Calibri"/>
                <a:cs typeface="Calibri"/>
                <a:sym typeface="Calibri"/>
              </a:rPr>
              <a:t>goose-docs.ai</a:t>
            </a:r>
            <a:endParaRPr b="0" i="0" sz="950" u="none" cap="none" strike="noStrike">
              <a:solidFill>
                <a:schemeClr val="dk1"/>
              </a:solidFill>
              <a:latin typeface="Calibri"/>
              <a:ea typeface="Calibri"/>
              <a:cs typeface="Calibri"/>
              <a:sym typeface="Calibri"/>
            </a:endParaRPr>
          </a:p>
        </p:txBody>
      </p:sp>
      <p:sp>
        <p:nvSpPr>
          <p:cNvPr id="556" name="Google Shape;556;p16"/>
          <p:cNvSpPr/>
          <p:nvPr/>
        </p:nvSpPr>
        <p:spPr>
          <a:xfrm>
            <a:off x="2798064" y="5175504"/>
            <a:ext cx="2157984" cy="56692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E09B34"/>
              </a:buClr>
              <a:buSzPts val="950"/>
              <a:buFont typeface="Calibri"/>
              <a:buNone/>
            </a:pPr>
            <a:r>
              <a:rPr b="1" i="0" lang="en-US" sz="950" u="none" cap="none" strike="noStrike">
                <a:solidFill>
                  <a:srgbClr val="E09B34"/>
                </a:solidFill>
                <a:latin typeface="Calibri"/>
                <a:ea typeface="Calibri"/>
                <a:cs typeface="Calibri"/>
                <a:sym typeface="Calibri"/>
              </a:rPr>
              <a:t>Source</a:t>
            </a:r>
            <a:endParaRPr b="0" i="0" sz="950" u="none" cap="none" strike="noStrike">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rgbClr val="CBD3DF"/>
              </a:buClr>
              <a:buSzPts val="1100"/>
              <a:buFont typeface="Calibri"/>
              <a:buNone/>
            </a:pPr>
            <a:r>
              <a:rPr b="0" i="0" lang="en-US" sz="1100" u="none" cap="none" strike="noStrike">
                <a:solidFill>
                  <a:srgbClr val="CBD3DF"/>
                </a:solidFill>
                <a:latin typeface="Calibri"/>
                <a:ea typeface="Calibri"/>
                <a:cs typeface="Calibri"/>
                <a:sym typeface="Calibri"/>
              </a:rPr>
              <a:t>github.com/aaif-goose/goose</a:t>
            </a:r>
            <a:endParaRPr b="0" i="0" sz="950" u="none" cap="none" strike="noStrike">
              <a:solidFill>
                <a:schemeClr val="dk1"/>
              </a:solidFill>
              <a:latin typeface="Calibri"/>
              <a:ea typeface="Calibri"/>
              <a:cs typeface="Calibri"/>
              <a:sym typeface="Calibri"/>
            </a:endParaRPr>
          </a:p>
        </p:txBody>
      </p:sp>
      <p:sp>
        <p:nvSpPr>
          <p:cNvPr id="557" name="Google Shape;557;p16"/>
          <p:cNvSpPr/>
          <p:nvPr/>
        </p:nvSpPr>
        <p:spPr>
          <a:xfrm>
            <a:off x="5047488" y="5175504"/>
            <a:ext cx="2157984" cy="56692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E09B34"/>
              </a:buClr>
              <a:buSzPts val="950"/>
              <a:buFont typeface="Calibri"/>
              <a:buNone/>
            </a:pPr>
            <a:r>
              <a:rPr b="1" i="0" lang="en-US" sz="950" u="none" cap="none" strike="noStrike">
                <a:solidFill>
                  <a:srgbClr val="E09B34"/>
                </a:solidFill>
                <a:latin typeface="Calibri"/>
                <a:ea typeface="Calibri"/>
                <a:cs typeface="Calibri"/>
                <a:sym typeface="Calibri"/>
              </a:rPr>
              <a:t>Community</a:t>
            </a:r>
            <a:endParaRPr b="0" i="0" sz="950" u="none" cap="none" strike="noStrike">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rgbClr val="CBD3DF"/>
              </a:buClr>
              <a:buSzPts val="1100"/>
              <a:buFont typeface="Calibri"/>
              <a:buNone/>
            </a:pPr>
            <a:r>
              <a:rPr b="0" i="0" lang="en-US" sz="1100" u="none" cap="none" strike="noStrike">
                <a:solidFill>
                  <a:srgbClr val="CBD3DF"/>
                </a:solidFill>
                <a:latin typeface="Calibri"/>
                <a:ea typeface="Calibri"/>
                <a:cs typeface="Calibri"/>
                <a:sym typeface="Calibri"/>
              </a:rPr>
              <a:t>discord.gg/goose-oss</a:t>
            </a:r>
            <a:endParaRPr b="0" i="0" sz="950" u="none" cap="none" strike="noStrike">
              <a:solidFill>
                <a:schemeClr val="dk1"/>
              </a:solidFill>
              <a:latin typeface="Calibri"/>
              <a:ea typeface="Calibri"/>
              <a:cs typeface="Calibri"/>
              <a:sym typeface="Calibri"/>
            </a:endParaRPr>
          </a:p>
        </p:txBody>
      </p:sp>
      <p:sp>
        <p:nvSpPr>
          <p:cNvPr id="558" name="Google Shape;558;p16"/>
          <p:cNvSpPr/>
          <p:nvPr/>
        </p:nvSpPr>
        <p:spPr>
          <a:xfrm>
            <a:off x="7296912" y="5175504"/>
            <a:ext cx="2157984" cy="56692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E09B34"/>
              </a:buClr>
              <a:buSzPts val="950"/>
              <a:buFont typeface="Calibri"/>
              <a:buNone/>
            </a:pPr>
            <a:r>
              <a:rPr b="1" i="0" lang="en-US" sz="950" u="none" cap="none" strike="noStrike">
                <a:solidFill>
                  <a:srgbClr val="E09B34"/>
                </a:solidFill>
                <a:latin typeface="Calibri"/>
                <a:ea typeface="Calibri"/>
                <a:cs typeface="Calibri"/>
                <a:sym typeface="Calibri"/>
              </a:rPr>
              <a:t>Recipes</a:t>
            </a:r>
            <a:endParaRPr b="0" i="0" sz="950" u="none" cap="none" strike="noStrike">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rgbClr val="CBD3DF"/>
              </a:buClr>
              <a:buSzPts val="1100"/>
              <a:buFont typeface="Calibri"/>
              <a:buNone/>
            </a:pPr>
            <a:r>
              <a:rPr b="0" i="0" lang="en-US" sz="1100" u="none" cap="none" strike="noStrike">
                <a:solidFill>
                  <a:srgbClr val="CBD3DF"/>
                </a:solidFill>
                <a:latin typeface="Calibri"/>
                <a:ea typeface="Calibri"/>
                <a:cs typeface="Calibri"/>
                <a:sym typeface="Calibri"/>
              </a:rPr>
              <a:t>goose-docs.ai/recipes</a:t>
            </a:r>
            <a:endParaRPr b="0" i="0" sz="950" u="none" cap="none" strike="noStrike">
              <a:solidFill>
                <a:schemeClr val="dk1"/>
              </a:solidFill>
              <a:latin typeface="Calibri"/>
              <a:ea typeface="Calibri"/>
              <a:cs typeface="Calibri"/>
              <a:sym typeface="Calibri"/>
            </a:endParaRPr>
          </a:p>
        </p:txBody>
      </p:sp>
      <p:sp>
        <p:nvSpPr>
          <p:cNvPr id="559" name="Google Shape;559;p16"/>
          <p:cNvSpPr/>
          <p:nvPr/>
        </p:nvSpPr>
        <p:spPr>
          <a:xfrm>
            <a:off x="9546336" y="5175504"/>
            <a:ext cx="2157984" cy="56692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E09B34"/>
              </a:buClr>
              <a:buSzPts val="950"/>
              <a:buFont typeface="Calibri"/>
              <a:buNone/>
            </a:pPr>
            <a:r>
              <a:rPr b="1" i="0" lang="en-US" sz="950" u="none" cap="none" strike="noStrike">
                <a:solidFill>
                  <a:srgbClr val="E09B34"/>
                </a:solidFill>
                <a:latin typeface="Calibri"/>
                <a:ea typeface="Calibri"/>
                <a:cs typeface="Calibri"/>
                <a:sym typeface="Calibri"/>
              </a:rPr>
              <a:t>Skills</a:t>
            </a:r>
            <a:endParaRPr b="0" i="0" sz="950" u="none" cap="none" strike="noStrike">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rgbClr val="CBD3DF"/>
              </a:buClr>
              <a:buSzPts val="1100"/>
              <a:buFont typeface="Calibri"/>
              <a:buNone/>
            </a:pPr>
            <a:r>
              <a:rPr b="0" i="0" lang="en-US" sz="1100" u="none" cap="none" strike="noStrike">
                <a:solidFill>
                  <a:srgbClr val="CBD3DF"/>
                </a:solidFill>
                <a:latin typeface="Calibri"/>
                <a:ea typeface="Calibri"/>
                <a:cs typeface="Calibri"/>
                <a:sym typeface="Calibri"/>
              </a:rPr>
              <a:t>goose-docs.ai/skills</a:t>
            </a:r>
            <a:endParaRPr b="0" i="0" sz="950" u="none" cap="none" strike="noStrike">
              <a:solidFill>
                <a:schemeClr val="dk1"/>
              </a:solidFill>
              <a:latin typeface="Calibri"/>
              <a:ea typeface="Calibri"/>
              <a:cs typeface="Calibri"/>
              <a:sym typeface="Calibri"/>
            </a:endParaRPr>
          </a:p>
        </p:txBody>
      </p:sp>
      <p:sp>
        <p:nvSpPr>
          <p:cNvPr id="560" name="Google Shape;560;p16"/>
          <p:cNvSpPr/>
          <p:nvPr/>
        </p:nvSpPr>
        <p:spPr>
          <a:xfrm>
            <a:off x="548640" y="5897880"/>
            <a:ext cx="77724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E8899"/>
              </a:buClr>
              <a:buSzPts val="1050"/>
              <a:buFont typeface="Calibri"/>
              <a:buNone/>
            </a:pPr>
            <a:r>
              <a:rPr b="0" i="1" lang="en-US" sz="1050" u="none" cap="none" strike="noStrike">
                <a:solidFill>
                  <a:srgbClr val="7E8899"/>
                </a:solidFill>
                <a:latin typeface="Calibri"/>
                <a:ea typeface="Calibri"/>
                <a:cs typeface="Calibri"/>
                <a:sym typeface="Calibri"/>
              </a:rPr>
              <a:t>Governed by the Agentic AI Foundation, under the Linux Foundation — open standards over closed platforms.</a:t>
            </a:r>
            <a:endParaRPr b="0" i="0" sz="1050" u="none" cap="none" strike="noStrike">
              <a:solidFill>
                <a:schemeClr val="dk1"/>
              </a:solidFill>
              <a:latin typeface="Calibri"/>
              <a:ea typeface="Calibri"/>
              <a:cs typeface="Calibri"/>
              <a:sym typeface="Calibri"/>
            </a:endParaRPr>
          </a:p>
        </p:txBody>
      </p:sp>
      <p:sp>
        <p:nvSpPr>
          <p:cNvPr id="561" name="Google Shape;561;p16"/>
          <p:cNvSpPr/>
          <p:nvPr/>
        </p:nvSpPr>
        <p:spPr>
          <a:xfrm>
            <a:off x="8412480" y="5897880"/>
            <a:ext cx="3218688" cy="29260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09B34"/>
              </a:buClr>
              <a:buSzPts val="1050"/>
              <a:buFont typeface="Calibri"/>
              <a:buNone/>
            </a:pPr>
            <a:r>
              <a:rPr b="1" i="0" lang="en-US" sz="1050" u="none" cap="none" strike="noStrike">
                <a:solidFill>
                  <a:srgbClr val="E09B34"/>
                </a:solidFill>
                <a:latin typeface="Calibri"/>
                <a:ea typeface="Calibri"/>
                <a:cs typeface="Calibri"/>
                <a:sym typeface="Calibri"/>
              </a:rPr>
              <a:t>Kubernetes over Koffee  ·  AIYatra</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2026-07-31T14:32:16Z</dcterms:created>
  <dc:creator>Khaja Moinuddin Mohammed</dc:creator>
</cp:coreProperties>
</file>